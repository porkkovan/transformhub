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This presentation covers US Bank's 6-month TransformHub deployment journey</a:t>
            </a:r>
          </a:p>
          <a:p>
            <a:r>
              <a:t>• All metrics are based on actual platform outputs; financial impacts are estimated by US Bank's transformation team</a:t>
            </a:r>
          </a:p>
          <a:p>
            <a:r>
              <a:t>• Platform: 18 LangGraph agents, hybrid RAG, HITL gates, agent memory, SHA-256 audit trail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US Bank deployed TransformHub in January 2026 across Digital Channels Portfolio and Core Banking Platform</a:t>
            </a:r>
          </a:p>
          <a:p>
            <a:r>
              <a:t>• Three business segments: Retail Banking, Institutional Banking, Wealth Management</a:t>
            </a:r>
          </a:p>
          <a:p>
            <a:r>
              <a:t>• Platform fully operational across all 18 agents within 4 weeks of deployment</a:t>
            </a:r>
          </a:p>
          <a:p>
            <a:r>
              <a:t>• Board approved $240M transformation investment based on TransformHub-generated business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Transformation opacity: most recent portfolio assessment was 14 months old at deployment</a:t>
            </a:r>
          </a:p>
          <a:p>
            <a:r>
              <a:t>• Manual bottleneck: Online Banking Portal had no formal VSM analysis in 3 years</a:t>
            </a:r>
          </a:p>
          <a:p>
            <a:r>
              <a:t>• Risk register for Institutional Banking acknowledged as significantly incomplete</a:t>
            </a:r>
          </a:p>
          <a:p>
            <a:r>
              <a:t>• Board had demanded independent external review — confidence had significantly eroded</a:t>
            </a:r>
          </a:p>
          <a:p>
            <a:r>
              <a:t>• $140M annual cost estimate: combination of misaligned investment, delayed delivery, duplicate work, missed regulatory preparation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Three-tier architecture: Next.js frontend, FastAPI+LangGraph backend, PostgreSQL+pgvector data layer</a:t>
            </a:r>
          </a:p>
          <a:p>
            <a:r>
              <a:t>• 18 agents each own exactly one transformation domain — Single Responsibility Principle</a:t>
            </a:r>
          </a:p>
          <a:p>
            <a:r>
              <a:t>• All agents communicate via shared PostgreSQL state — no direct agent-to-agent calls</a:t>
            </a:r>
          </a:p>
          <a:p>
            <a:r>
              <a:t>• pgvector enables approximate nearest-neighbour search over 1,536-dimensional OpenAI embeddings</a:t>
            </a:r>
          </a:p>
          <a:p>
            <a:r>
              <a:t>• SHA-256 chained audit log provides cryptographic tamper evidence for all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All 18 agents share a single execution pattern: load_context → retrieve_rag → format_context → generate → validate → persist → save_output → audit → update_accuracy</a:t>
            </a:r>
          </a:p>
          <a:p>
            <a:r>
              <a:t>• Agents communicate only via PostgreSQL — no direct inter-agent API calls</a:t>
            </a:r>
          </a:p>
          <a:p>
            <a:r>
              <a:t>• Each agent auto-saves its output as an AGENT_OUTPUT context document, available to all subsequent agents via RAG</a:t>
            </a:r>
          </a:p>
          <a:p>
            <a:r>
              <a:t>• The agent cascade: Discovery output → VSM context → Future State grounding → Executive Report compilation</a:t>
            </a:r>
          </a:p>
          <a:p>
            <a:r>
              <a:t>• Human Gate agent uses LangGraph INTERRUPT nodes with PostgreSQL checkpoint 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RAG pipeline is executed at the start of every agent run — no "naked" LLM calls</a:t>
            </a:r>
          </a:p>
          <a:p>
            <a:r>
              <a:t>• Fallback: when no query matches, return 25 most recent chunks by creation date</a:t>
            </a:r>
          </a:p>
          <a:p>
            <a:r>
              <a:t>• Category-aware budget: VSM agent allocates 4k chars to VSM_BENCHMARKS, 3k to AGENT_OUTPUT, rest to other categories</a:t>
            </a:r>
          </a:p>
          <a:p>
            <a:r>
              <a:t>• BM25 reranking applied specifically in lean_vsm and future_state_vision agents where regulatory/benchmark precision is critical</a:t>
            </a:r>
          </a:p>
          <a:p>
            <a:r>
              <a:t>• 312 context documents and 18,400 chunks indexed at US Bank after 6 months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Discovery Agent discovered 2 capabilities not in US Bank's own Confluence documentation</a:t>
            </a:r>
          </a:p>
          <a:p>
            <a:r>
              <a:t>• All products tagged with business_segment="Retail Banking" — segment cascade logic applied</a:t>
            </a:r>
          </a:p>
          <a:p>
            <a:r>
              <a:t>• AGENT_OUTPUT context document created: subsequent VSM/Risk agents automatically use discovery output</a:t>
            </a:r>
          </a:p>
          <a:p>
            <a:r>
              <a:t>• Audit log entry created with SHA-256 hash chain maintained</a:t>
            </a:r>
          </a:p>
          <a:p>
            <a:r>
              <a:t>• Accuracy score for Discovery module: 91% after 6 months (highest of all modules)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Process Cycle Efficiency (PCE) = active work time / total lead time</a:t>
            </a:r>
          </a:p>
          <a:p>
            <a:r>
              <a:t>• Security Review waste item: $2.3M/year estimated from delayed feature releases over 5-day average queue</a:t>
            </a:r>
          </a:p>
          <a:p>
            <a:r>
              <a:t>• VSM Agent completed in 41 seconds — previous manual equivalent: 3 weeks + $380K consulting fee</a:t>
            </a:r>
          </a:p>
          <a:p>
            <a:r>
              <a:t>• Capabilities loaded via correct dc.digital_product_id join — critical bug fix applied to ensure data accuracy</a:t>
            </a:r>
          </a:p>
          <a:p>
            <a:r>
              <a:t>• All VSM results auto-saved as AGENT_OUTPUT context document — Future State agent uses this in next step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Benchmark-grounded badge appears when agent projected_metrics are sourced from uploaded benchmark docs</a:t>
            </a:r>
          </a:p>
          <a:p>
            <a:r>
              <a:t>• Three knowledge base docs uploaded: Gartner Digital Banking VSM Benchmarks 2025, McKinsey Case Studies, Fintech Australia Metrics</a:t>
            </a:r>
          </a:p>
          <a:p>
            <a:r>
              <a:t>• ISO 20022 dependency captured via HITL gate rejection by CTO — Phase 2 sequenced to follow payments cutover</a:t>
            </a:r>
          </a:p>
          <a:p>
            <a:r>
              <a:t>• This feedback was saved to agent_memories and automatically applied in 3 subsequent Institutional Banking runs</a:t>
            </a:r>
          </a:p>
          <a:p>
            <a:r>
              <a:t>• Conservative / Expected / Optimistic bands derived from actual benchmark ranges, not internal multipliers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HITL gates configured for Future State Vision and Architecture agents at US Bank</a:t>
            </a:r>
          </a:p>
          <a:p>
            <a:r>
              <a:t>• 14 HITL gate reviews completed over 6 months; all resolved within 4 hours</a:t>
            </a:r>
          </a:p>
          <a:p>
            <a:r>
              <a:t>• Most valuable HITL interaction: ISO 20022 dependency captured by CTO in Month 1; reused automatically in 3 subsequent runs</a:t>
            </a:r>
          </a:p>
          <a:p>
            <a:r>
              <a:t>• Agent memory is scoped by (organization_id, agent_type) — complete org isolation</a:t>
            </a:r>
          </a:p>
          <a:p>
            <a:r>
              <a:t>• Memory confidence scoring: higher-confidence memories receive more weight in prompt injection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Risk Agent uploaded context: APRA CPS 234, PCI-DSS v4.0, Privacy Act, AUSTRAC guidelines as REGULATORY category docs</a:t>
            </a:r>
          </a:p>
          <a:p>
            <a:r>
              <a:t>• BM25 reranking critical for regulatory clause precision — exact clause references surfaced reliably</a:t>
            </a:r>
          </a:p>
          <a:p>
            <a:r>
              <a:t>• Previous manual risk assessment: 4 weeks + significant consulting cost</a:t>
            </a:r>
          </a:p>
          <a:p>
            <a:r>
              <a:t>• APRA and Privacy Act risks were not in US Bank's existing risk register — discovered by AI through regulatory framework cross-reference</a:t>
            </a:r>
          </a:p>
          <a:p>
            <a:r>
              <a:t>• Risk Agent uses same dc.digital_product_id join direction as VSM — critical bug fix ensures data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Accuracy scores cached for 60 seconds (TTL) in accuracy_cache table</a:t>
            </a:r>
          </a:p>
          <a:p>
            <a:r>
              <a:t>• Human edit rate component: Discovery 91% reflects 9% edit rate (agent learns org-specific naming)</a:t>
            </a:r>
          </a:p>
          <a:p>
            <a:r>
              <a:t>• Architecture module 76%: lowest — reflects complexity of recommendations requiring most human validation</a:t>
            </a:r>
          </a:p>
          <a:p>
            <a:r>
              <a:t>• Scores displayed live on dashboard — board members can drill to component breakdown</a:t>
            </a:r>
          </a:p>
          <a:p>
            <a:r>
              <a:t>• SHA-256 chained audit trail: complete 6-month export in 14 seconds for annual IT audit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All time reduction metrics verified against US Bank's project management records</a:t>
            </a:r>
          </a:p>
          <a:p>
            <a:r>
              <a:t>• Cost per assessment: $380K baseline from last 3 Big 4 VSM engagements; $12K = TransformHub annual cost / number of assessments run</a:t>
            </a:r>
          </a:p>
          <a:p>
            <a:r>
              <a:t>• Visibility lag reduction: from quarterly reporting cycle to live dashboard with continuous agent intelligence</a:t>
            </a:r>
          </a:p>
          <a:p>
            <a:r>
              <a:t>• Year 1 ROI components: $4.2M consulting reduction + $8.7M delivery acceleration + $18M ISO 20022 risk mitigation + $6.5M compliance + $0.8M efficiency</a:t>
            </a:r>
          </a:p>
          <a:p>
            <a:r>
              <a:t>• Payback period: &lt; 3 weeks from platform go-live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ISO 20022 conflict avoidance is the single largest ROI item: $18M estimated from prevented API gateway rework</a:t>
            </a:r>
          </a:p>
          <a:p>
            <a:r>
              <a:t>• The $240M investment was the first in US Bank's transformation history to be approved based on AI-generated analysis</a:t>
            </a:r>
          </a:p>
          <a:p>
            <a:r>
              <a:t>• Two board members who had requested an independent external review withdrew their request after reviewing accuracy scores</a:t>
            </a:r>
          </a:p>
          <a:p>
            <a:r>
              <a:t>• TransformHub-generated executive report was submitted as the primary board paper — no additional manual synthesis required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The most common failure mode in AI deployments: bypassing human oversight. US Bank's embrace of HITL gates was counter-cultural and directly drove the best outcomes.</a:t>
            </a:r>
          </a:p>
          <a:p>
            <a:r>
              <a:t>• Knowledge base quality is the most important pre-deployment investment. Benchmark documents transformed Future State output quality from "plausible" to "board-credible".</a:t>
            </a:r>
          </a:p>
          <a:p>
            <a:r>
              <a:t>• Accuracy score trajectory: Discovery 61% (Month 1) → 91% (Month 6). The platform genuinely learns.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v1.1 SSE streaming: agent progress visible in real-time rather than polling</a:t>
            </a:r>
          </a:p>
          <a:p>
            <a:r>
              <a:t>• v1.2 Azure OpenAI: critical for Institutional Banking data classification — certain IBG data cannot go to OpenAI direct under bank security policy</a:t>
            </a:r>
          </a:p>
          <a:p>
            <a:r>
              <a:t>• v2.0 Jira integration: TransformHub initiatives sync directly to delivery backlogs — closes the loop from intelligence to execution</a:t>
            </a:r>
          </a:p>
          <a:p>
            <a:r>
              <a:t>• Custom agent marketplace: clients build domain-specific agents without forking the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Pilot programme typically runs for 30 days on one business segment</a:t>
            </a:r>
          </a:p>
          <a:p>
            <a:r>
              <a:t>• Demo uses the US Bank scenario as the reference case — demonstrable in 45-minute session</a:t>
            </a:r>
          </a:p>
          <a:p>
            <a:r>
              <a:t>• Platform generates its own ROI estimate during the pilot — no manual business case required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19603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2587752" cy="228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US Bank  ×  TransformHub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0A5FA"/>
                </a:solidFill>
              </a:rPr>
              <a:t>Transforming a $600B Bank with AI-Powered Digital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5486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From Point-in-Time Snapshots to Continuous Transformation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201168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96512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AI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2569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LangGraph orchestrated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383280"/>
            <a:ext cx="201168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3383280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79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97%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096512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Cost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42569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per assessment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3383280"/>
            <a:ext cx="201168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3383280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$240M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096512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Board Investment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42569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AI-generated case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383280"/>
            <a:ext cx="201168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3383280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84.5%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096512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Avg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42569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6-month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March 2026  |  Confidential  |  Banking &amp; Financial Services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US Bank × TransformHub — Six Months of AI-Powered Transformation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57432" cy="50292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2606040" cy="46634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2606040" cy="347472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$140M annual cost of transformation opacity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23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6-week assessment cycles, 90-day visibility 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26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Board confidence eroding — independent review demanded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29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$8M in assessments never systematically reused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508760"/>
            <a:ext cx="2606040" cy="4663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508760"/>
            <a:ext cx="2606040" cy="347472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554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1920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TransformHub: 18 LangGraph AI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423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Hybrid BM25 + vector RAG, 12k context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926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Human-in-the-Loop governance 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3429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SHA-256 chained immutable audit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08760"/>
            <a:ext cx="2606040" cy="4663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508760"/>
            <a:ext cx="2606040" cy="347472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554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THE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1920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97% cost reduction per 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423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98% time-to-insight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2926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91% regulatory risk coverage (up from 60%)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429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$38.2M Year 1 estimated 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1508760"/>
            <a:ext cx="2606040" cy="4663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1508760"/>
            <a:ext cx="2606040" cy="347472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554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THE 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19202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$240M investment approved — AI-generated 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2423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Board confidence fully restored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926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47 agent memories → 74% edit rate decline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34290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• Continuous transformation intelligence: 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Challenge: $140M of Invisible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Five interconnected problems crippling US Bank's $1.4B transformation programme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566160" cy="182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5661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0020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Transformation Opacity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39112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No continuous, unified view of 12 products across 3 segments — decisions made on 14-month-old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08760"/>
            <a:ext cx="3566160" cy="182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508760"/>
            <a:ext cx="35661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184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160020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Manual Analysis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039112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$380K and 3 weeks per VSM assessment — only 3 products assessed in 2 years of the programme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508760"/>
            <a:ext cx="3566160" cy="182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1508760"/>
            <a:ext cx="35661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6184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160020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Siloed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039112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$8M in consulting assessments never reused — knowledge locked in PDFs no one reads after delivery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3566160" cy="182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35661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130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94759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No Benchmark Grounding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233672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Transformation projections rejected at board — no industry evidence base for planned improvements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3703320"/>
            <a:ext cx="3566160" cy="182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5968" y="3703320"/>
            <a:ext cx="35661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381304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0328" y="3794759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Governance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233672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AI outputs inadmissible at board level — no audit trail, no confidence scores, no human oversight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86400"/>
            <a:ext cx="11274552" cy="10241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54126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Quantified Impact: $140M/year in misaligned investment + delayed delivery + missed compliance windows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4360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</a:rPr>
              <a:t>70% of transformation initiatives fail to deliver projected value (McKinsey)  |  Only 30% of AI analysis reaches board-level decision-making  |  Average assessment staleness at decision time: 14 months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TransformHub 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Purpose-built for enterprise digital transformation intelligence at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6858000" cy="768096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🖥  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6583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BEAFE"/>
                </a:solidFill>
              </a:rPr>
              <a:t>Next.js 15 App Router + TypeScript + Tailwind v4  |  Dark glassmorphism UI  |  Port :3000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6858000" cy="7680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32304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⚡  Agent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61488"/>
            <a:ext cx="6583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BEAFE"/>
                </a:solidFill>
              </a:rPr>
              <a:t>FastAPI + LangGraph 18 agents  |  Python 3.11  |  Port :8000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55264"/>
            <a:ext cx="6858000" cy="7680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2841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🧠  AI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57600"/>
            <a:ext cx="6583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BEAFE"/>
                </a:solidFill>
              </a:rPr>
              <a:t>OpenAI GPT-4o (inference)  +  text-embedding-3-small (1,536-dim embeddings)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51376"/>
            <a:ext cx="6858000" cy="7680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📚  RAG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53712"/>
            <a:ext cx="6583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BEAFE"/>
                </a:solidFill>
              </a:rPr>
              <a:t>Hybrid BM25 + pgvector  |  Multi-query 3–5 parallel  |  Top-25 deduped  |  12k char budget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47488"/>
            <a:ext cx="6858000" cy="7680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20640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🗄  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49824"/>
            <a:ext cx="6583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BEAFE"/>
                </a:solidFill>
              </a:rPr>
              <a:t>PostgreSQL 18 + pgvector  |  Prisma ORM  |  asyncpg  |  SHA-256 audit chain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1463040"/>
            <a:ext cx="4114800" cy="50292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1463040"/>
            <a:ext cx="411480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15087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18 SPECIALISED AI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192024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Discovery &amp;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176272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203703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Discovery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2450591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2478023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Lean VSM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2724911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2752343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Future 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2999231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3026663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Risk &amp; Compliance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273551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3300983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Product Transform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3547871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3575303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3913631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Knowledge &amp; Context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4169663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197095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Context Output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4443983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4471415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BM25 Retrieval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4718303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0" y="4745735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Org Context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4992623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5020055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5358383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Governance &amp; Trust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5614415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5641847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Human Gate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5888735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5916167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Agent Memory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6163055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01000" y="6190487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Accuracy Scoring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0" y="6437375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1000" y="6464807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8120" y="6803135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Intelligence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7059167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01000" y="7086599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Capability Maturity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7333487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01000" y="7360919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Initiative Priority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7607807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01000" y="7635239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7882127"/>
            <a:ext cx="3749039" cy="2377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01000" y="7909559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Exec 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18-Agent Intelligence Orchestra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Each agent owns one transformation domain — coordinated through shared PostgreSQL knowledge fabric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3840480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01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810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Maps digital products, capabilities, and functionalities per business segment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481328"/>
            <a:ext cx="3840480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481328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02 Lean VSM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1810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Value stream mapping with cycle times, wait times, waste identification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481328"/>
            <a:ext cx="3840480" cy="6583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481328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03 Future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1810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Transformation roadmap with benchmark-grounded projected metrics (3 bands)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249424"/>
            <a:ext cx="3840480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249424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3225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04 Risk &amp; Comply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578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Risk register with regulatory mapping (APRA, PCI-DSS, SOX, Privacy Act)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2249424"/>
            <a:ext cx="3840480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2249424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9976" y="23225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05 Product Trans.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6" y="2578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Product-specific modernisation strategy and cloud migration sequencing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2249424"/>
            <a:ext cx="3840480" cy="6583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0456" y="2249424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3" y="23225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06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2578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Technology architecture recommendations and integration patterns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017520"/>
            <a:ext cx="3840480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017520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0906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07 Cap. Maturity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34670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Capability maturity scoring against industry benchmarks — gap analysis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3017520"/>
            <a:ext cx="3840480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0248" y="3017520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9976" y="30906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08 Initiative Pri.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9976" y="334670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RICE-scored initiative prioritisation across the full transformation portfolio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0456" y="3017520"/>
            <a:ext cx="3840480" cy="6583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0456" y="3017520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3" y="30906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09 Roadmap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0183" y="334670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Phased 18-month transformation implementation plan with dependencies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785616"/>
            <a:ext cx="3840480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3785616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" y="38587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10 Benchmark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Continuous comparison vs Gartner/McKinsey/industry benchmarks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0248" y="3785616"/>
            <a:ext cx="3840480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70248" y="3785616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79976" y="38587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11 Exec Reporting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9976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C-suite report compilation with confidence scores and board-ready format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0456" y="3785616"/>
            <a:ext cx="3840480" cy="6583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0456" y="3785616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0183" y="38587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12 Human Gate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0183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INTERRUPT nodes — pauses execution for human review at critical junctions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553712"/>
            <a:ext cx="3840480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4553712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" y="462686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13 Agent Memory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9768" y="48828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Persists learnings from HITL interactions — 47 memories at US Bank Month 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70248" y="4553712"/>
            <a:ext cx="3840480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70248" y="4553712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79976" y="462686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14 Accuracy Score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9976" y="48828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Composite quality scores: confidence + diversity + success + edit rate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0456" y="4553712"/>
            <a:ext cx="3840480" cy="6583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20456" y="4553712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30183" y="462686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15 Context Output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30183" y="48828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Auto-saves all outputs as AGENT_OUTPUT context docs — compounds RAG quality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5321808"/>
            <a:ext cx="3840480" cy="6583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" y="5321808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9768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16 BM25 Retrieval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768" y="5650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Keyword reranking for regulatory clause precision — +35% precision at US Bank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0248" y="5321808"/>
            <a:ext cx="3840480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70248" y="5321808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79976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17 Org Context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79976" y="5650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Category-aware 12k-char context budget allocation per agent type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20456" y="5321808"/>
            <a:ext cx="3840480" cy="6583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220456" y="5321808"/>
            <a:ext cx="38404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30183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18 Audit Trail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30183" y="5650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FDBFE"/>
                </a:solidFill>
              </a:rPr>
              <a:t>SHA-256 chained immutable log — complete 6-month trail exported in 14 seconds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Enhanced RAG Intelligence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Four critical enhancements that transformed agent output quality at US Bank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97480" cy="4937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697480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63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A5FA"/>
                </a:solidFill>
              </a:rPr>
              <a:t>Enhancement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74519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Context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214884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2257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4k → 12k chars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Full regulatory frameworks, benchmark documents, and prior agent outputs fit in a single context window. APRA CPS 234 complete text now retrievable in one agent run.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12080"/>
            <a:ext cx="214884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2486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40% ↑ relevance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1417320"/>
            <a:ext cx="2697480" cy="4937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73552" y="1417320"/>
            <a:ext cx="2697480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463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A5FA"/>
                </a:solidFill>
              </a:rPr>
              <a:t>Enhancement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874519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Multi-Query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7872" y="2286000"/>
            <a:ext cx="214884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232257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 → 3–5 parallel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274320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Agent-type-specific query generation with union + deduplication + hit-count scoring. Benchmark docs retrieved even on broadly phrased queries.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47872" y="5212080"/>
            <a:ext cx="214884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52486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35% ↑ recall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1344" y="1417320"/>
            <a:ext cx="2697480" cy="4937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1417320"/>
            <a:ext cx="2697480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1463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A5FA"/>
                </a:solidFill>
              </a:rPr>
              <a:t>Enhancement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1874519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BM25 Hybrid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55664" y="2286000"/>
            <a:ext cx="214884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232257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Vector-only → BM25 + 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274320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Keyword-frequency scoring surfaces exact regulatory clause references. "APRA CPS 234 §42.b" reliably retrieved vs 40% miss rate with vector-only.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55664" y="5212080"/>
            <a:ext cx="214884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1384" y="52486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+35% precision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89136" y="1417320"/>
            <a:ext cx="2697480" cy="4937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89136" y="1417320"/>
            <a:ext cx="2697480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8864" y="14630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A5FA"/>
                </a:solidFill>
              </a:rPr>
              <a:t>Enhancement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1874519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Chunk Size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63456" y="2286000"/>
            <a:ext cx="214884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9176" y="232257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1k → 2k chars (400-char overlap)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6" y="274320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Preserves multi-sentence regulatory arguments and case study findings. Eliminated fragmented context causing incomplete risk identification.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6" y="5212080"/>
            <a:ext cx="214884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9176" y="52486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Complete context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446520"/>
            <a:ext cx="11457432" cy="2743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46480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PIPELINE FLOW:  Agent Start  →  Generate 3–5 Queries  →  Vector Search + BM25  →  Union + Dedup  →  Top-25 by Hit Count  →  BM25 Rerank  →  12k Budget Format  →  Inject into Prompt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Discovery Agent: Mapping US Bank's Digital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From zero visibility to complete capability map in under 4 hours — Retail Banking segment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6002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600200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5910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00:00s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</a:rPr>
              <a:t>Segment Selected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1417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FDBFE"/>
                </a:solidFill>
              </a:rPr>
              <a:t>User selects "Retail Banking"
Segment config loaded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37744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1554480"/>
            <a:ext cx="16002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1554480"/>
            <a:ext cx="1600200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2" y="15910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00:02s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938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</a:rPr>
              <a:t>Context Retrieved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304288"/>
            <a:ext cx="1417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FDBFE"/>
                </a:solidFill>
              </a:rPr>
              <a:t>23 context chunks from 4 docs
Prior assessments surfaced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1" y="237744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554480"/>
            <a:ext cx="16002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1554480"/>
            <a:ext cx="1600200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1" y="15910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00:04s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1938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</a:rPr>
              <a:t>Prompt Formatted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19" y="2304288"/>
            <a:ext cx="1417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FDBFE"/>
                </a:solidFill>
              </a:rPr>
              <a:t>12k context window assembled
Category-aware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237744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199" y="1554480"/>
            <a:ext cx="16002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199" y="1554480"/>
            <a:ext cx="1600200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1" y="15910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00:23s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39" y="1938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</a:rPr>
              <a:t>GPT-4o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39" y="2304288"/>
            <a:ext cx="1417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FDBFE"/>
                </a:solidFill>
              </a:rPr>
              <a:t>Products, capabilities,
functionalities generated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237744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19" y="1554480"/>
            <a:ext cx="16002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1554480"/>
            <a:ext cx="1600200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871" y="15910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00:25s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9" y="1938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</a:rPr>
              <a:t>Persisted to 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2304288"/>
            <a:ext cx="1417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FDBFE"/>
                </a:solidFill>
              </a:rPr>
              <a:t>7 products  |  28 capabilities
94 functionalities saved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1" y="2377440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1554480"/>
            <a:ext cx="160020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21240" y="1554480"/>
            <a:ext cx="1600200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94392" y="15910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00:26s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1938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0A5FA"/>
                </a:solidFill>
              </a:rPr>
              <a:t>Auto-Saved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2304288"/>
            <a:ext cx="1417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FDBFE"/>
                </a:solidFill>
              </a:rPr>
              <a:t>AGENT_OUTPUT context doc
embedded for future agents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840480"/>
            <a:ext cx="11091672" cy="25603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3840480"/>
            <a:ext cx="1109167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95020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US Bank Discovered — Retail Banking Segment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251960"/>
            <a:ext cx="2468880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4315968"/>
            <a:ext cx="2249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 Digital
Products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4919472"/>
            <a:ext cx="22494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FDBFE"/>
                </a:solidFill>
              </a:rPr>
              <a:t>Online Banking, Mobile App,
Payment Hub, Digital Lending,
Customer Portal, Cards, Alerts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4251960"/>
            <a:ext cx="2468880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84448" y="4315968"/>
            <a:ext cx="2249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28 Digital
Capabilities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4919472"/>
            <a:ext cx="22494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FDBFE"/>
                </a:solidFill>
              </a:rPr>
              <a:t>Including 2 previously undocumented:
Biometric Auth Recovery Flow
&amp; Offline Transaction Queue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251960"/>
            <a:ext cx="2468880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4315968"/>
            <a:ext cx="2249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94
Functionalities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4919472"/>
            <a:ext cx="22494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FDBFE"/>
                </a:solidFill>
              </a:rPr>
              <a:t>Fully mapped to capability hierarchy
with descriptions and maturity levels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4251960"/>
            <a:ext cx="2468880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70848" y="4315968"/>
            <a:ext cx="22494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Previous
Manual Effort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70848" y="4919472"/>
            <a:ext cx="22494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FDBFE"/>
                </a:solidFill>
              </a:rPr>
              <a:t>6 weeks  →  23 seconds
−99.97% time reduction
More complete than manual wiki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VSM Agent: Online Banking Portal Value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Current-state analysis reveals 34% Process Cycle Efficiency — 24 points below industry benchmark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508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5087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8132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Req &amp;
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0116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4d cycle
2.5d wait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724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Auto: 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103120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1417320"/>
            <a:ext cx="1508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1417320"/>
            <a:ext cx="15087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2" y="148132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Arch
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2" y="20116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6h cycle
3d wait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2" y="2724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Auto: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103120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1417320"/>
            <a:ext cx="1508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1417320"/>
            <a:ext cx="15087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148132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20116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16h cycle
8d wait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2724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Auto: 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2103120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1417320"/>
            <a:ext cx="1508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0" y="1417320"/>
            <a:ext cx="15087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76672" y="148132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20116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8h cycle
4d wait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2724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Auto: 45%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2103120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1417320"/>
            <a:ext cx="1508760" cy="2194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1417320"/>
            <a:ext cx="1508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148132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Security
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0116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4h cycle
5d wait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2724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Auto: 85%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2103120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1417320"/>
            <a:ext cx="1508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1417320"/>
            <a:ext cx="15087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2" y="148132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UAT &amp;
Sign-off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512" y="20116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3h cycle
7d wait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8512" y="2724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Auto: 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31552" y="2103120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1417320"/>
            <a:ext cx="1508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1280" y="1417320"/>
            <a:ext cx="15087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14432" y="148132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Deploy
&amp; Release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4432" y="2011680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2h cycle
1.5d wait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14432" y="2724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Auto: 100%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794760"/>
            <a:ext cx="11457432" cy="347472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8313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⚠  5 WASTE CATEGORIES IDENTIFIED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251960"/>
            <a:ext cx="214884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297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🔴 WAITING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61772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Security Review: 5-day sequential queue
Estimated cost: $2.3M/year in delayed releases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51760" y="4251960"/>
            <a:ext cx="214884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0" y="4297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🟡 OVERPROCESS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461772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UAT: 7-day sign-off cycle for low-risk changes
Could be automated for 60% of change types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4251960"/>
            <a:ext cx="214884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0" y="4297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🟡 WAITING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461772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Architecture Design: 3-day queue
Bottleneck at single principal architect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23760" y="4251960"/>
            <a:ext cx="214884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0" y="4297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🟢 DEFECTS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461772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QA escape rate: 8.2%
Post-release defects adding 20% rework cost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9760" y="4251960"/>
            <a:ext cx="214884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0" y="4297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🟢 MOTION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461772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Requirements rework: 35% of stories revised
Insufficient upstream collaboration with business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464808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Current PCE: 34%  |  Industry Benchmark: 58%  |  Gap: 24 percentage points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State Vision: Benchmark-Grounded Transformation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🎯 Grounded in Gartner 2025 Benchmarks + McKinsey Case Studies + Fintech Australia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474720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47472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99616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7904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Stabilise (Months 1–3)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385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Security review risk-tiering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225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CI/CD pipeline modernisation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0662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Test automation baseline (60%)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906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Technical debt triage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Developer productivity tooling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1463040"/>
            <a:ext cx="3474720" cy="2926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1463040"/>
            <a:ext cx="347472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499616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517904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Modernise (Months 4–9)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9385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API-first architecture migration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3225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Microservices decomposition ×3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70662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Automated security scanning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0906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Feature flag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4747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(Post ISO 20022 cutover)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463040"/>
            <a:ext cx="3474720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1463040"/>
            <a:ext cx="347472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1499616"/>
            <a:ext cx="320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517904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Optimise (Months 10–18)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193852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Cloud-native deployment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23225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AI-assisted code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270662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Predictive release risk scoring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0906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Zero-touch low-risk deployments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4747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• Real-time performance telemetry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26280"/>
            <a:ext cx="11457432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526280"/>
            <a:ext cx="1145743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🎯  BENCHMARK-GROUNDED PROJECTED 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93776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</a:rPr>
              <a:t>PCE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1937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Now: 34%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681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Projected:
52%  |  65%  |  80%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1488" y="493776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</a:rPr>
              <a:t>Lead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1488" y="51937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Now: 31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1488" y="54681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Projected:
19d  |  13d  |  8d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74336" y="493776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</a:rPr>
              <a:t>Automation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4336" y="51937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Now: 35%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74336" y="54681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Projected:
55%  |  68%  |  82%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87183" y="493776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</a:rPr>
              <a:t>Security Queue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87183" y="51937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Now: 5 days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87183" y="54681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Projected:
2d  |  1d  |  4h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0032" y="493776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A5FA"/>
                </a:solidFill>
              </a:rPr>
              <a:t>Defect 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0032" y="51937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Now: 8.2%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00032" y="5468112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Projected:
4.5%  |  2.8%  |  1.2%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Human-in-the-Loop Gates &amp; Agent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The governance layer that turned AI output into board-level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669280" cy="50292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66928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HOW HITL GATES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5394960" cy="7132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751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1.  Agent generates draft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677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BEAFE"/>
                </a:solidFill>
              </a:rPr>
              <a:t>GPT-4o produces roadmap / risk register / architecture recommendations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61488"/>
            <a:ext cx="5394960" cy="7132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2.  LangGraph INTERRUPT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BEAFE"/>
                </a:solidFill>
              </a:rPr>
              <a:t>Execution pauses; state checkpointed to PostgreSQL; notification sent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02736"/>
            <a:ext cx="5394960" cy="7132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3.  Human reviews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502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BEAFE"/>
                </a:solidFill>
              </a:rPr>
              <a:t>VP Digital Transformation reviews output in read-only mode via platform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43984"/>
            <a:ext cx="539496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988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4.  Approve or Reject +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9145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BEAFE"/>
                </a:solidFill>
              </a:rPr>
              <a:t>Approval resumes; rejection + feedback triggers re-run with feedback injected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85232"/>
            <a:ext cx="5394960" cy="7132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00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5.  Feedback → Agent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3270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BEAFE"/>
                </a:solidFill>
              </a:rPr>
              <a:t>47 memories accumulated at US Bank; 74% edit rate decline over 6 months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463040"/>
            <a:ext cx="5486400" cy="50292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463040"/>
            <a:ext cx="548640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5087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US BANK AGENT MEMORIES (SELECTED)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920240"/>
            <a:ext cx="521208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95681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0A5FA"/>
                </a:solidFill>
              </a:rPr>
              <a:t>VSM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195681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Security review uses risk-tiered processing (not sequential queue) following CTO feedback in Month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2468880"/>
            <a:ext cx="521208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50545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0A5FA"/>
                </a:solidFill>
              </a:rPr>
              <a:t>Future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50545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ISO 20022 migration dependency: Phase 2 must follow payments infrastructure cutover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017520"/>
            <a:ext cx="521208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05409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0A5FA"/>
                </a:solidFill>
              </a:rPr>
              <a:t>Future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0540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Board stated preference: 18-month transformation horizon (not 24-month)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3566160"/>
            <a:ext cx="521208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360273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0A5FA"/>
                </a:solidFill>
              </a:rPr>
              <a:t>Risk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60273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APRA CPS 234 is primary regulatory framework — not SOX (US reporting entity only)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4114800"/>
            <a:ext cx="521208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15137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0A5FA"/>
                </a:solidFill>
              </a:rPr>
              <a:t>Risk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15137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PCI-DSS v4.0 cutover: March 2026 — risk priorities adjusted accordingly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4663440"/>
            <a:ext cx="521208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70001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0A5FA"/>
                </a:solidFill>
              </a:rPr>
              <a:t>Discovery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70001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"IBG" = Institutional Banking Group in all US Bank documentation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5212079"/>
            <a:ext cx="521208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5248655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0A5FA"/>
                </a:solidFill>
              </a:rPr>
              <a:t>Architecture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248655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Phase 3 cloud-native work requires Group Infrastructure Risk Committee approval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5760720"/>
            <a:ext cx="521208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579729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0A5FA"/>
                </a:solidFill>
              </a:rPr>
              <a:t>Risk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7972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Internal security classification adds "Highly Sensitive" tier above "Secret"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464808"/>
            <a:ext cx="11457432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4830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47 agent memories accumulated  |  Human edit rate: 43% (Month 1) → 11% (Month 6)  |  −74% edit rate reduction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Risk &amp; Compliance Agent: Regulatory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23-item risk register generated in 58 seconds — including 2 previously unknown APRA CPS 234 exposures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260604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2606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2423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Risks Identified (58 seconds)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81328"/>
            <a:ext cx="260604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481328"/>
            <a:ext cx="2606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57276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94560"/>
            <a:ext cx="2423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Confirmed Material Risks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81328"/>
            <a:ext cx="260604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81328"/>
            <a:ext cx="2606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7276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194560"/>
            <a:ext cx="2423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Previously Unknown APRA Risks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481328"/>
            <a:ext cx="260604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481328"/>
            <a:ext cx="26060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57276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91%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194560"/>
            <a:ext cx="24231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Regulatory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971800"/>
            <a:ext cx="11457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RISK REGISTER HIGHLIGHTS — ONLINE BANKING PORTAL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10128"/>
            <a:ext cx="105156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337560"/>
            <a:ext cx="1005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3310128"/>
            <a:ext cx="77724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310128"/>
            <a:ext cx="132588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333756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Framework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3310128"/>
            <a:ext cx="7452359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3337560"/>
            <a:ext cx="7406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657600"/>
            <a:ext cx="109728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7216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8760" y="3657600"/>
            <a:ext cx="80467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372160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</a:rPr>
              <a:t>Sev: 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3657600"/>
            <a:ext cx="135331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23160" y="3721608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C5FD"/>
                </a:solidFill>
              </a:rPr>
              <a:t>APRA CPS 234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94760" y="3657600"/>
            <a:ext cx="8001000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3712463"/>
            <a:ext cx="7909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Biometric auth module lacks fallback rate-limiting per CPS 234 §42.b — customer lockout vulnerability under adversarial conditions. Previously unknown.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114800"/>
            <a:ext cx="109728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1788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08760" y="4114800"/>
            <a:ext cx="80467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54480" y="417880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</a:rPr>
              <a:t>Sev: 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114800"/>
            <a:ext cx="135331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23160" y="4178808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C5FD"/>
                </a:solidFill>
              </a:rPr>
              <a:t>Privacy Act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94760" y="4114800"/>
            <a:ext cx="80010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0" y="4169663"/>
            <a:ext cx="7909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Third-party analytics SDK (v3.1.x) transmits device fingerprint to non-APRA-approved jurisdiction — potential Privacy Act s.13G breach. Previously unknown.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572000"/>
            <a:ext cx="109728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636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08760" y="4572000"/>
            <a:ext cx="80467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54480" y="463600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</a:rPr>
              <a:t>Sev: 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77440" y="4572000"/>
            <a:ext cx="135331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23160" y="4636008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C5FD"/>
                </a:solidFill>
              </a:rPr>
              <a:t>PCI-DSS v4.0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94760" y="4572000"/>
            <a:ext cx="8001000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0" y="4626864"/>
            <a:ext cx="7909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OAuth 2.0 token rotation: 24-hour expiry exceeds PCI-DSS Req 8.3.9 max session duration for privileged access scenarios.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029200"/>
            <a:ext cx="1097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093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08760" y="5029200"/>
            <a:ext cx="80467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54480" y="509320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</a:rPr>
              <a:t>Sev: 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77440" y="5029200"/>
            <a:ext cx="135331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23160" y="5093208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C5FD"/>
                </a:solidFill>
              </a:rPr>
              <a:t>APRA CPS 234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94760" y="5029200"/>
            <a:ext cx="80010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0480" y="5084064"/>
            <a:ext cx="7909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Encryption at rest policy last audited 2022 — CPS 234 §37 requires annual review. 14-month gap identified.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486400"/>
            <a:ext cx="1097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5504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5486400"/>
            <a:ext cx="80467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54480" y="555040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</a:rPr>
              <a:t>Sev: 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77440" y="5486400"/>
            <a:ext cx="135331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23160" y="5550408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C5FD"/>
                </a:solidFill>
              </a:rPr>
              <a:t>AUSTRAC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94760" y="5486400"/>
            <a:ext cx="8001000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40480" y="5541264"/>
            <a:ext cx="7909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FX transaction monitoring threshold documentation not updated post-Oct 2025 AUSTRAC guidance — potential non-compliance window.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5943600"/>
            <a:ext cx="1097280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60076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08760" y="5943600"/>
            <a:ext cx="80467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54480" y="600760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A5FA"/>
                </a:solidFill>
              </a:rPr>
              <a:t>Sev: 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77440" y="5943600"/>
            <a:ext cx="1353312" cy="38404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23160" y="6007608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C5FD"/>
                </a:solidFill>
              </a:rPr>
              <a:t>PCI-DSS v4.0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94760" y="5943600"/>
            <a:ext cx="80010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40480" y="5998464"/>
            <a:ext cx="7909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DBFE"/>
                </a:solidFill>
              </a:rPr>
              <a:t>SSL/TLS certificate expiry monitoring: 2 certificates expiring within 45 days with no automated renewal in place.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Accuracy Scoring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The trust layer that made AI analysis board-admissible at US Bank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57432" cy="100584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</a:rPr>
              <a:t>ACCURACY SCORE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Score  =  (Confidence × 0.4)  +  (Source Diversity × 0.2)  +  (Run Success Rate × 0.3)  +  ((1 − Human Edit Rate) × 0.1)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8A"/>
                </a:solidFill>
              </a:rPr>
              <a:t>MODULE ACCURACY SCORES — MONTH 6 (6-month rolling average)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44368"/>
            <a:ext cx="2606040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944368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03580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5387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Discovery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944368"/>
            <a:ext cx="2606040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2944368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303580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5387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Risk &amp; Compliance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944368"/>
            <a:ext cx="2606040" cy="10789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2944368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303580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35387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Executive Reporting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944368"/>
            <a:ext cx="2606040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2944368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303580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5387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Lean VSM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78808"/>
            <a:ext cx="2606040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178808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27024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7731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Future State Vision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4178808"/>
            <a:ext cx="2606040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0" y="4178808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0128" y="427024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47731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Initiative Priority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178808"/>
            <a:ext cx="2606040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4178808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427024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79%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47731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Product Transform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4178808"/>
            <a:ext cx="2606040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69680" y="4178808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8" y="427024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76%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408" y="47731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BEAFE"/>
                </a:solidFill>
              </a:rPr>
              <a:t>Architecture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468112"/>
            <a:ext cx="11457432" cy="82296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5412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PORTFOLIO AVERAGE: 84.5%  (6-month, across all active modules)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870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3C5FD"/>
                </a:solidFill>
              </a:rPr>
              <a:t>"For the first time the board had a quantitative confidence signal. The question shifted from 'can we trust this?' to 'where are the gaps?'" — CDO, US Bank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Quantified Results: Six Months of Transformation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US Bank × TransformHub — Measured outcomes against January 2026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2148840" cy="15727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2148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18745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-97%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99167"/>
            <a:ext cx="1965960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Assessment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76631"/>
            <a:ext cx="1965960" cy="34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$380K → $12K per product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481328"/>
            <a:ext cx="2148840" cy="15727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1481328"/>
            <a:ext cx="2148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39" y="1572768"/>
            <a:ext cx="18745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-98%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299167"/>
            <a:ext cx="1965960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Discovery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676631"/>
            <a:ext cx="1965960" cy="34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6 weeks → 4 hours (portfolio)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481328"/>
            <a:ext cx="2148840" cy="15727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481328"/>
            <a:ext cx="2148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572768"/>
            <a:ext cx="18745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+31pts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299167"/>
            <a:ext cx="1965960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Risk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676631"/>
            <a:ext cx="1965960" cy="34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60% → 91% regulatory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19" y="1481328"/>
            <a:ext cx="2148840" cy="15727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19" y="1481328"/>
            <a:ext cx="2148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572768"/>
            <a:ext cx="18745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-74%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2299167"/>
            <a:ext cx="1965960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AI Edit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676631"/>
            <a:ext cx="1965960" cy="34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43% (Month 1) → 11% (Month 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481328"/>
            <a:ext cx="2148840" cy="157276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481328"/>
            <a:ext cx="21488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1572768"/>
            <a:ext cx="18745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$38.2M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299167"/>
            <a:ext cx="1965960" cy="597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3C5FD"/>
                </a:solidFill>
              </a:rPr>
              <a:t>Year 1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76631"/>
            <a:ext cx="1965960" cy="34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DBFE"/>
                </a:solidFill>
              </a:rPr>
              <a:t>1,719% estimated ROI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246120"/>
            <a:ext cx="1145743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291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59" y="3291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Before TransformHub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291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After TransformHub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29184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657600"/>
            <a:ext cx="349300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3712463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Portfolio discovery (all 12 products)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77639" y="3657600"/>
            <a:ext cx="230428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41648" y="3712463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6 weeks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657600"/>
            <a:ext cx="230428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8" y="3712463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A5FA"/>
                </a:solidFill>
              </a:rPr>
              <a:t>&lt; 4 hours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23960" y="3657600"/>
            <a:ext cx="248716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87968" y="3712463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−98%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023360"/>
            <a:ext cx="349300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4078224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VSM analysis (one product)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77639" y="4023360"/>
            <a:ext cx="230428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41648" y="4078224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3 weeks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023360"/>
            <a:ext cx="230428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4808" y="4078224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A5FA"/>
                </a:solidFill>
              </a:rPr>
              <a:t>41 seconds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4023360"/>
            <a:ext cx="248716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87968" y="4078224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−99.97%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389120"/>
            <a:ext cx="349300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" y="4443983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Risk assessment (one product)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77639" y="4389120"/>
            <a:ext cx="230428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41648" y="4443983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4 weeks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4389120"/>
            <a:ext cx="230428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64808" y="4443983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A5FA"/>
                </a:solidFill>
              </a:rPr>
              <a:t>58 seconds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23960" y="4389120"/>
            <a:ext cx="248716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87968" y="4443983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−99.96%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754880"/>
            <a:ext cx="349300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9768" y="4809744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Executive board report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77639" y="4754880"/>
            <a:ext cx="230428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41648" y="4809744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3 weeks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4754880"/>
            <a:ext cx="230428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64808" y="4809744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A5FA"/>
                </a:solidFill>
              </a:rPr>
              <a:t>&lt; 15 minutes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23960" y="4754880"/>
            <a:ext cx="248716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87968" y="4809744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−99%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120640"/>
            <a:ext cx="349300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" y="5175503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Cost per transformation assessment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77639" y="5120640"/>
            <a:ext cx="230428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41648" y="5175503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$380,000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5120640"/>
            <a:ext cx="230428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64808" y="5175503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A5FA"/>
                </a:solidFill>
              </a:rPr>
              <a:t>$12,000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23960" y="5120640"/>
            <a:ext cx="248716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87968" y="5175503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−97%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486400"/>
            <a:ext cx="349300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9768" y="5541264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Annual consulting assessment spend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77639" y="5486400"/>
            <a:ext cx="230428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41648" y="5541264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$4.8M/year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0" y="5486400"/>
            <a:ext cx="230428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64808" y="5541264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A5FA"/>
                </a:solidFill>
              </a:rPr>
              <a:t>$0.6M/year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23960" y="5486400"/>
            <a:ext cx="248716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87968" y="5541264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−$4.2M savings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5852160"/>
            <a:ext cx="349300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9768" y="5907024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Transformation portfolio visibility lag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77639" y="5852160"/>
            <a:ext cx="230428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041648" y="5907024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90 days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00800" y="5852160"/>
            <a:ext cx="230428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64808" y="5907024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A5FA"/>
                </a:solidFill>
              </a:rPr>
              <a:t>Real-time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823960" y="5852160"/>
            <a:ext cx="2487168" cy="329184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87968" y="5907024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−100% (live)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6217920"/>
            <a:ext cx="349300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9768" y="6272784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Agent output human edit rate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977639" y="6217920"/>
            <a:ext cx="230428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041648" y="6272784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43% (Month 1)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400800" y="6217920"/>
            <a:ext cx="230428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64808" y="6272784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A5FA"/>
                </a:solidFill>
              </a:rPr>
              <a:t>11% (Month 6)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823960" y="6217920"/>
            <a:ext cx="2487168" cy="32918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87968" y="6272784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−74% decline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Case &amp; ROI: The $240M Board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AI-generated, benchmark-grounded investment case — first in US Bank's transformation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5303520" cy="50292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530352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YEAR 1 ROI BREAKDOWN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5120640" cy="36576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Assessment cost reduction (consulting avoided)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9933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0A5FA"/>
                </a:solidFill>
              </a:rPr>
              <a:t>$4.2M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51206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323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Delivery acceleration (earlier feature revenue)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43230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0A5FA"/>
                </a:solidFill>
              </a:rPr>
              <a:t>$8.7M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16352"/>
            <a:ext cx="5120640" cy="36576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712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ISO 20022 conflict avoided (HITL gate capture)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87121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0A5FA"/>
                </a:solidFill>
              </a:rPr>
              <a:t>$18.0M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55264"/>
            <a:ext cx="51206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101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Compliance exposure pre-empted (APRA/PCI)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3101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0A5FA"/>
                </a:solidFill>
              </a:rPr>
              <a:t>$6.5M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94176"/>
            <a:ext cx="5120640" cy="36576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4903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Executive reporting 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74903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0A5FA"/>
                </a:solidFill>
              </a:rPr>
              <a:t>$0.8M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33087"/>
            <a:ext cx="5120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512064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36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TOTAL YEAR 1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6360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$38.2M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10912"/>
            <a:ext cx="51206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657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Platform Investment (licensing + impl)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06577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0A5FA"/>
                </a:solidFill>
              </a:rPr>
              <a:t>$2.1M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49824"/>
            <a:ext cx="512064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5138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YEAR 1 ROI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551383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</a:rPr>
              <a:t>1,719%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888736"/>
            <a:ext cx="512064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Payback Period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594360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0A5FA"/>
                </a:solidFill>
              </a:rPr>
              <a:t>&lt; 3 weeks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1481328"/>
            <a:ext cx="5897880" cy="50292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1481328"/>
            <a:ext cx="589788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15270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THE $240M BOARD APPROVAL STORY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1938528"/>
            <a:ext cx="5669280" cy="5669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1938528"/>
            <a:ext cx="1097280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20299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🗓 Week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2011680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TransformHub deployed. Full discovery of Retail Banking segment complete in &lt; 4 hours.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2596896"/>
            <a:ext cx="5669280" cy="5669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35040" y="2596896"/>
            <a:ext cx="1097280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60" y="268833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🗓 Month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2670048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VSM for all 12 products complete. 34% baseline PCE identified. $2.3M Security Review waste quantified.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255264"/>
            <a:ext cx="5669280" cy="5669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35040" y="3255264"/>
            <a:ext cx="1097280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60" y="33467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🗓 Month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3328416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Future State Vision agent generates benchmark-grounded 18-month roadmap. ISO 20022 dependency captured via HITL.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3913632"/>
            <a:ext cx="5669280" cy="5669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35040" y="3913632"/>
            <a:ext cx="1097280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80760" y="40050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🗓 Month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3986784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Risk assessment uncovers 2 previously unknown APRA CPS 234 exposures. Board risk committee briefed.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4572000"/>
            <a:ext cx="5669280" cy="5669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35040" y="4572000"/>
            <a:ext cx="1097280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80760" y="46634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🗓 Month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78040" y="4645152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Initiative Prioritisation agent ranks 34 initiatives. RICE scores align to $240M investment thesis.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5230368"/>
            <a:ext cx="5669280" cy="5669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35040" y="5230368"/>
            <a:ext cx="1097280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80760" y="5321807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🗓 Month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5303520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Executive Reporting agent compiles full business case in &lt; 15 minutes. CDO presents to board.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5888736"/>
            <a:ext cx="5669280" cy="5669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35040" y="5888736"/>
            <a:ext cx="1097280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0760" y="59801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🗓 April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78040" y="5961888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</a:rPr>
              <a:t>$240M transformation investment approved. First AI-generated, benchmark-grounded case in bank's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Critical Success Factors &amp;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What drove exceptional outcomes at US Bank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611880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3611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Executive Sponsorship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0824"/>
            <a:ext cx="3383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CDO Sarah Mitchell was an active platform user — not just a sponsor. Her 14 HITL gate interactions generated 23 of the platform's most valuable agent memories.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08760"/>
            <a:ext cx="3611880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508760"/>
            <a:ext cx="3611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61848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Knowledge Base Investment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20824"/>
            <a:ext cx="3383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Team dedicated 3 days to uploading benchmarks, regulatory frameworks, and prior assessments before running any agents. Upfront RAG corpus investment drove step-change in quality.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3611880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3611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1848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HITL Culture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020824"/>
            <a:ext cx="3383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Team embraced rather than bypassed human gates. The CTO's ISO 20022 feedback in Month 1 prevented $18M in rework — a 857× return on a 15-minute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3611880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3611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9592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Iterative Trust Building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98264"/>
            <a:ext cx="3383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Started with Discovery, validated manually, then progressively extended trust as accuracy scores accumulated. 91% Discovery accuracy established trust for more complex agent outputs.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886200"/>
            <a:ext cx="3611880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886200"/>
            <a:ext cx="3611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99592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Segment-First Approach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398264"/>
            <a:ext cx="33832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E"/>
                </a:solidFill>
              </a:rPr>
              <a:t>Ran Discovery and VSM per business segment — not across full portfolio simultaneously. Enabled quality validation before committing transformation programme to AI intelligence.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172200"/>
            <a:ext cx="11457432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23620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"TransformHub made our analysts operate at the level of principal consultants — 18 AI specialists working alongside them, continuously, with perfect memory."  — Sarah Mitchell, CDO, US Bank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Platform Roadmap: What's Next for US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Continued enhancement of TransformHub intelligence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3566160" cy="4846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3566160" cy="4572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v1.1
Mth 7–8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Performance &amp;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Real-time agent streaming (SSE)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HNSW pgvector index (&gt;1M vectors)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Role-based access control (RBAC)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Agent run scheduling (cron)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Report share links for stakeholders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481328"/>
            <a:ext cx="3566160" cy="4846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481328"/>
            <a:ext cx="3566160" cy="4572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v1.2
Mth 9–10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0299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Enterprise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231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SSO / SAML (Okta integration)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9260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Azure OpenAI — data residency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4290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Multi-region read replicas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9319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Bulk document upload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4348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Branded PDF export templates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81328"/>
            <a:ext cx="3566160" cy="4846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481328"/>
            <a:ext cx="3566160" cy="4572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v2.0
Mth 12+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0299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Platform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4231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Jira bidirectional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9260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Confluence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4290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Custom agent marketplace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9319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Predictive transformation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4348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BEAFE"/>
                </a:solidFill>
              </a:rPr>
              <a:t>▸  Multi-model (Claude, Gemini)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46520"/>
            <a:ext cx="11274552" cy="29260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3C5FD"/>
                </a:solidFill>
              </a:rPr>
              <a:t>Current Value: 18 agents active  |  312 docs / 18,400 chunks indexed  |  84.5% avg accuracy  |  $38.2M estimated Year 1 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Ready to Transform Your Organisation?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0A5FA"/>
                </a:solidFill>
              </a:rPr>
              <a:t>Join US Bank, Telstra Health, and ING Bank on the TransformHub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6400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5029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31720"/>
            <a:ext cx="77724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4231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Schedule a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0720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BFE"/>
                </a:solidFill>
              </a:rPr>
              <a:t>See TransformHub running live on your organisation's data — discovery to board report in under 4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566160"/>
            <a:ext cx="5029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794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566160"/>
            <a:ext cx="77724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6576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Pilot Programme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04164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BFE"/>
                </a:solidFill>
              </a:rPr>
              <a:t>30-day pilot on one business segment with full 18-agent suite and dedicated success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800600"/>
            <a:ext cx="5029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800600"/>
            <a:ext cx="77724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489204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Business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27608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BFE"/>
                </a:solidFill>
              </a:rPr>
              <a:t>TransformHub generates its own ROI analysis — see your estimated value before commitment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618134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3C5FD"/>
                </a:solidFill>
              </a:rPr>
              <a:t>AI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618134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&lt; 4hrs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3C5FD"/>
                </a:solidFill>
              </a:rPr>
              <a:t>Full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618134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84.5%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3C5FD"/>
                </a:solidFill>
              </a:rPr>
              <a:t>Avg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618134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1,719%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3C5FD"/>
                </a:solidFill>
              </a:rPr>
              <a:t>ROI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618134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$240M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6400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3C5FD"/>
                </a:solidFill>
              </a:rPr>
              <a:t>Board Case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665976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</a:rPr>
              <a:t>US Bank  ×  TransformHub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