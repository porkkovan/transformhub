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TALKING POINTS</a:t>
            </a:r>
          </a:p>
          <a:p>
            <a:r>
              <a:rPr sz="1100"/>
              <a:t>•  TransformHub consolidates 6+ separate enterprise tools into one AI-native platform</a:t>
            </a:r>
          </a:p>
          <a:p>
            <a:r>
              <a:rPr sz="1100"/>
              <a:t>•  18 LangGraph agents cover the full transformation lifecycle — discovery through delivery</a:t>
            </a:r>
          </a:p>
          <a:p>
            <a:r>
              <a:rPr sz="1100"/>
              <a:t>•  Multi-tenant: US Bank, Telstra Health and ING Bank are all isolated and independently seeded</a:t>
            </a:r>
          </a:p>
          <a:p>
            <a:r>
              <a:rPr sz="1100"/>
              <a:t>•  78 capabilities mapped with 85% average confidence — evidence-based, not AI guesswork</a:t>
            </a:r>
          </a:p>
          <a:p>
            <a:r>
              <a:rPr sz="1100"/>
              <a:t>•  245 functionalities with full source triangulation (3–5 evidence sources each)</a:t>
            </a:r>
          </a:p>
          <a:p>
            <a:r>
              <a:rPr sz="1100"/>
              <a:t>•  Accuracy dashboard shows live composite score (~68%) — this rises as more agents are 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TALKING POINTS</a:t>
            </a:r>
          </a:p>
          <a:p>
            <a:r>
              <a:rPr sz="1100"/>
              <a:t>•  Keep each section tight to the time allocation — the 25-min format is designed for exec attention spans</a:t>
            </a:r>
          </a:p>
          <a:p>
            <a:r>
              <a:rPr sz="1100"/>
              <a:t>•  Start with pre-filled demo (Steps 1–6) to show polish — add live entry at the end if time allows</a:t>
            </a:r>
          </a:p>
          <a:p>
            <a:r>
              <a:rPr sz="1100"/>
              <a:t>•  Steps 2–6 each have accuracy badges on the page header — point to them as you navigate</a:t>
            </a:r>
          </a:p>
          <a:p>
            <a:r>
              <a:rPr sz="1100"/>
              <a:t>•  Q&amp;A (Step 8) is where you ask: 'Which of your products would you like us to map first?'</a:t>
            </a:r>
          </a:p>
          <a:p>
            <a:r>
              <a:rPr sz="1100"/>
              <a:t>•  If they're engaged, offer to run the Discovery agent live against their actual repo during 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TALKING POINTS</a:t>
            </a:r>
          </a:p>
          <a:p>
            <a:r>
              <a:rPr sz="1100"/>
              <a:t>•  For Board / C-suite: always use Pre-Filled — the visual richness of 78 capabilities + 234 roadmap items is the story</a:t>
            </a:r>
          </a:p>
          <a:p>
            <a:r>
              <a:rPr sz="1100"/>
              <a:t>•  For IT / Architecture teams: Live Entry is more impressive — they understand what real-time agent execution means</a:t>
            </a:r>
          </a:p>
          <a:p>
            <a:r>
              <a:rPr sz="1100"/>
              <a:t>•  Pre-Filled shows 3 different industry verticals (Banking, Healthcare, Payments) — switch orgs to show multi-tenancy</a:t>
            </a:r>
          </a:p>
          <a:p>
            <a:r>
              <a:rPr sz="1100"/>
              <a:t>•  Live Entry works best with a public GitHub repo — stripe/stripe-node is ideal (clear API structure, well-tested)</a:t>
            </a:r>
          </a:p>
          <a:p>
            <a:r>
              <a:rPr sz="1100"/>
              <a:t>•  Both modes use the same agent pipeline — the difference is only whether data is pre-seeded or generated live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TALKING POINTS</a:t>
            </a:r>
          </a:p>
          <a:p>
            <a:r>
              <a:rPr sz="1100"/>
              <a:t>•  Three-tier architecture means each layer can be scaled independently — agent service scales horizontally for heavy workloads</a:t>
            </a:r>
          </a:p>
          <a:p>
            <a:r>
              <a:rPr sz="1100"/>
              <a:t>•  LangGraph checkpointing means if an agent fails mid-run, it resumes from the last checkpoint — no lost work</a:t>
            </a:r>
          </a:p>
          <a:p>
            <a:r>
              <a:rPr sz="1100"/>
              <a:t>•  Redis is optional — the platform runs fully on in-memory fallback, which is what you see in the demo</a:t>
            </a:r>
          </a:p>
          <a:p>
            <a:r>
              <a:rPr sz="1100"/>
              <a:t>•  pgvector enables the hybrid RAG: BM25 for keyword recall + cosine similarity for semantic recall — best of both</a:t>
            </a:r>
          </a:p>
          <a:p>
            <a:r>
              <a:rPr sz="1100"/>
              <a:t>•  50+ API routes cover the full CRUD surface for all 8 modules plus agent execution, accuracy, and context management</a:t>
            </a:r>
          </a:p>
          <a:p>
            <a:r>
              <a:rPr sz="1100"/>
              <a:t>•  Prisma ORM gives type-safe DB access — no raw SQL, no injection risk, strong migration tooling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TALKING POINTS</a:t>
            </a:r>
          </a:p>
          <a:p>
            <a:r>
              <a:rPr sz="1100"/>
              <a:t>•  Each module feeds the next: Discovery → VSM → Future State → Risk → Roadmap is a complete AI-driven workflow</a:t>
            </a:r>
          </a:p>
          <a:p>
            <a:r>
              <a:rPr sz="1100"/>
              <a:t>•  Accuracy badges appear on EVERY module page header — click any badge to jump to the Accuracy Dashboard</a:t>
            </a:r>
          </a:p>
          <a:p>
            <a:r>
              <a:rPr sz="1100"/>
              <a:t>•  Context Hub is the brain behind all agents — docs uploaded there are injected into every agent's RAG context</a:t>
            </a:r>
          </a:p>
          <a:p>
            <a:r>
              <a:rPr sz="1100"/>
              <a:t>•  Discovery is the entry point — without running Discovery first, other agents have limited data to work with</a:t>
            </a:r>
          </a:p>
          <a:p>
            <a:r>
              <a:rPr sz="1100"/>
              <a:t>•  Product Workbench and Roadmap are the output modules — this is where leadership makes go/no-go decisions</a:t>
            </a:r>
          </a:p>
          <a:p>
            <a:r>
              <a:rPr sz="1100"/>
              <a:t>•  Risk &amp; Compliance has a hard gate at score ≥8.0 — no transformation proceeds until risk is mitigated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TALKING POINTS</a:t>
            </a:r>
          </a:p>
          <a:p>
            <a:r>
              <a:rPr sz="1100"/>
              <a:t>•  CLICK: Discovery → switch to Drilldown view → click 'LoanFlow Digital' → show 9 capabilities expanding in the tree</a:t>
            </a:r>
          </a:p>
          <a:p>
            <a:r>
              <a:rPr sz="1100"/>
              <a:t>•  Point to the confidence badge on 'AI Underwriting' capability — 87% confidence from 4 evidence sources (GitHub + OpenAPI + DB + docs)</a:t>
            </a:r>
          </a:p>
          <a:p>
            <a:r>
              <a:rPr sz="1100"/>
              <a:t>•  CLICK: switch to Product Catalog view — this is the exec-friendly summary: 3 products, 26 capabilities, 79 functionalities at a glance</a:t>
            </a:r>
          </a:p>
          <a:p>
            <a:r>
              <a:rPr sz="1100"/>
              <a:t>•  Inline editing: hover over any capability name → pencil icon appears → edit live → changes persist immediately</a:t>
            </a:r>
          </a:p>
          <a:p>
            <a:r>
              <a:rPr sz="1100"/>
              <a:t>•  Multi-pass design prevents hallucination cascade — AI cannot invent capabilities for products that haven't been approved</a:t>
            </a:r>
          </a:p>
          <a:p>
            <a:r>
              <a:rPr sz="1100"/>
              <a:t>•  Source triangulation: 100% of seeded capabilities have 3+ evidence sources — show the source distribution breakdown in Accuracy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TALKING POINTS</a:t>
            </a:r>
          </a:p>
          <a:p>
            <a:r>
              <a:rPr sz="1100"/>
              <a:t>•  CLICK: VSM → set Level = L1 → show flow efficiency bars across all 3 products — LoanFlow is the bottleneck at ~28%</a:t>
            </a:r>
          </a:p>
          <a:p>
            <a:r>
              <a:rPr sz="1100"/>
              <a:t>•  CLICK: L2 → select 'AI Underwriting' → point to the Mermaid diagram auto-rendered below the metrics table</a:t>
            </a:r>
          </a:p>
          <a:p>
            <a:r>
              <a:rPr sz="1100"/>
              <a:t>•  Average Flow Efficiency ~35% means 65% of lead time is WASTE — this is the transformation opportunity</a:t>
            </a:r>
          </a:p>
          <a:p>
            <a:r>
              <a:rPr sz="1100"/>
              <a:t>•  CLICK: Classification panel (right side of L2) → show Bottleneck steps highlighted in orange, Waste in red</a:t>
            </a:r>
          </a:p>
          <a:p>
            <a:r>
              <a:rPr sz="1100"/>
              <a:t>•  100% VSM coverage = all 78 capabilities have metrics — previous session had only 1 per product (3 total)</a:t>
            </a:r>
          </a:p>
          <a:p>
            <a:r>
              <a:rPr sz="1100"/>
              <a:t>•  CLICK: Capability Comparison Chart button → shows side-by-side FE bars for all capabilities in the segment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TALKING POINTS</a:t>
            </a:r>
          </a:p>
          <a:p>
            <a:r>
              <a:rPr sz="1100"/>
              <a:t>•  CLICK: Future State → note the 'Benchmark-grounded' badge in the header — hover it to see which docs are grounding the projections</a:t>
            </a:r>
          </a:p>
          <a:p>
            <a:r>
              <a:rPr sz="1100"/>
              <a:t>•  CLICK: Automation Mix chart → show LoanFlow Digital: 30% RPA, 40% AI/ML, 20% Agent-Based — ask 'does this match your current roadmap thinking?'</a:t>
            </a:r>
          </a:p>
          <a:p>
            <a:r>
              <a:rPr sz="1100"/>
              <a:t>•  CLICK: Expand any product → Projected Metrics table → point to Conservative/Expected/Optimistic bands with specific FE targets</a:t>
            </a:r>
          </a:p>
          <a:p>
            <a:r>
              <a:rPr sz="1100"/>
              <a:t>•  The Conservative band assumes 20% of benchmark improvement, Expected = 50%, Optimistic = 80% — conservative is the planning number</a:t>
            </a:r>
          </a:p>
          <a:p>
            <a:r>
              <a:rPr sz="1100"/>
              <a:t>•  CLICK: Capability Modernisation list → sort by RICE score → top item is the highest ROI transformation candidate</a:t>
            </a:r>
          </a:p>
          <a:p>
            <a:r>
              <a:rPr sz="1100"/>
              <a:t>•  Future State output auto-saves as an AGENT_OUTPUT context doc — the Roadmap agent reads it to generate roadmap items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TALKING POINTS</a:t>
            </a:r>
          </a:p>
          <a:p>
            <a:r>
              <a:rPr sz="1100"/>
              <a:t>•  CLICK: Risk &amp; Compliance → point to the CRITICAL risk item — show the 'Transition BLOCKED' badge on the capability card</a:t>
            </a:r>
          </a:p>
          <a:p>
            <a:r>
              <a:rPr sz="1100"/>
              <a:t>•  Explain the gate: until this risk score drops below 8.0, no transformation agent will move that capability forward</a:t>
            </a:r>
          </a:p>
          <a:p>
            <a:r>
              <a:rPr sz="1100"/>
              <a:t>•  CLICK: Compliance Mappings tab → show FDIC + SOX requirements mapped to specific capabilities with evidence links</a:t>
            </a:r>
          </a:p>
          <a:p>
            <a:r>
              <a:rPr sz="1100"/>
              <a:t>•  CLICK: Audit Log tab → scroll through SHA-256 chained entries — point to 'previousHash' field linking entries together</a:t>
            </a:r>
          </a:p>
          <a:p>
            <a:r>
              <a:rPr sz="1100"/>
              <a:t>•  Ask the audience: 'For your most regulated product, what frameworks would you need mapped?' — write it down for follow-up</a:t>
            </a:r>
          </a:p>
          <a:p>
            <a:r>
              <a:rPr sz="1100"/>
              <a:t>•  The Risk agent takes ~60 seconds to run — offer to run it live during Q&amp;A to show real-time risk identification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TALKING POINTS</a:t>
            </a:r>
          </a:p>
          <a:p>
            <a:r>
              <a:rPr sz="1100"/>
              <a:t>•  CLICK: Accuracy from sidebar → point to the composite score first: ~68% 'Good' — then explain why each module scored as it did</a:t>
            </a:r>
          </a:p>
          <a:p>
            <a:r>
              <a:rPr sz="1100"/>
              <a:t>•  Discovery 85% = high confidence avg (85%) + 100% source triangulation + 7 unique evidence types</a:t>
            </a:r>
          </a:p>
          <a:p>
            <a:r>
              <a:rPr sz="1100"/>
              <a:t>•  Risk 35% = only 4 assessments mapped vs 26 capabilities — 'run the Risk agent now and watch this jump to 80%+'</a:t>
            </a:r>
          </a:p>
          <a:p>
            <a:r>
              <a:rPr sz="1100"/>
              <a:t>•  CLICK: Expand the Discovery module card → show source distribution breakdown (GitHub, OpenAPI, DB, tests etc.)</a:t>
            </a:r>
          </a:p>
          <a:p>
            <a:r>
              <a:rPr sz="1100"/>
              <a:t>•  CLICK: Scroll to Action Plan → show the 5 prioritised improvement steps — each one links to the relevant module</a:t>
            </a:r>
          </a:p>
          <a:p>
            <a:r>
              <a:rPr sz="1100"/>
              <a:t>•  The badges on every page header make accuracy visible at all times — analysts never have to wonder about data quality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TALKING POINTS</a:t>
            </a:r>
          </a:p>
          <a:p>
            <a:r>
              <a:rPr sz="1100"/>
              <a:t>•  Login as live@transformhub.ai — point out the empty dashboard: 'No data — we're going to fill this with AI agents in real-time'</a:t>
            </a:r>
          </a:p>
          <a:p>
            <a:r>
              <a:rPr sz="1100"/>
              <a:t>•  Create the org first: use a company name the audience knows or respects — makes the output immediately relatable</a:t>
            </a:r>
          </a:p>
          <a:p>
            <a:r>
              <a:rPr sz="1100"/>
              <a:t>•  Paste stripe/stripe-node GitHub URL — it's public, well-structured, and Discovery returns clean results in ~30 seconds</a:t>
            </a:r>
          </a:p>
          <a:p>
            <a:r>
              <a:rPr sz="1100"/>
              <a:t>•  During Pass 1 streaming — narrate what's happening: 'The agent is reading the repo structure, identifying product boundaries...'</a:t>
            </a:r>
          </a:p>
          <a:p>
            <a:r>
              <a:rPr sz="1100"/>
              <a:t>•  After Pass 1 approval, note the green confidence badges: 'These are evidence-based, not guesses — each product is backed by 3–4 source types'</a:t>
            </a:r>
          </a:p>
          <a:p>
            <a:r>
              <a:rPr sz="1100"/>
              <a:t>•  Show the Accuracy page at the very end: composite jumps from 0% to ~45% after one Discovery + VSM cycle — real-time quality scoring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TALKING POINTS</a:t>
            </a:r>
          </a:p>
          <a:p>
            <a:r>
              <a:rPr sz="1100"/>
              <a:t>•  SPEED: A typical transformation programme spends 30–40% of its budget just on current-state baselining — TransformHub eliminates this</a:t>
            </a:r>
          </a:p>
          <a:p>
            <a:r>
              <a:rPr sz="1100"/>
              <a:t>•  ACCURACY: Every entity has a confidence score and source list — when an auditor asks 'how do you know this capability exists?', show them the 4 evidence sources</a:t>
            </a:r>
          </a:p>
          <a:p>
            <a:r>
              <a:rPr sz="1100"/>
              <a:t>•  COST: A conservative estimate: replacing 6 tools at £50k/year each = £300k/year saved, plus the analyst headcount previously doing manual baselining</a:t>
            </a:r>
          </a:p>
          <a:p>
            <a:r>
              <a:rPr sz="1100"/>
              <a:t>•  COMPLIANCE: SHA-256 chaining means the audit trail is legally defensible — every action is timestamped, hashed, and linked to the previous entry</a:t>
            </a:r>
          </a:p>
          <a:p>
            <a:r>
              <a:rPr sz="1100"/>
              <a:t>•  The Human-in-the-Loop design is deliberate: AI proposes, humans approve. This is critical for regulated industries where AI alone cannot make decisions</a:t>
            </a:r>
          </a:p>
          <a:p>
            <a:r>
              <a:rPr sz="1100"/>
              <a:t>•  All 4 pillars are visible in the platform — offer to show any one of them live in Q&amp;A (accuracy → Discovery page, compliance → Risk page, etc.)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TALKING POINTS</a:t>
            </a:r>
          </a:p>
          <a:p>
            <a:r>
              <a:rPr sz="1100"/>
              <a:t>•  The most common demo failure: wrong org auto-loads. Fix: localStorage.removeItem('currentOrgId') in browser console, then refresh</a:t>
            </a:r>
          </a:p>
          <a:p>
            <a:r>
              <a:rPr sz="1100"/>
              <a:t>•  Port 3000 is shared with Product Coach (another project) — if it's running, kill it first: kill $(lsof -ti:3000)</a:t>
            </a:r>
          </a:p>
          <a:p>
            <a:r>
              <a:rPr sz="1100"/>
              <a:t>•  Run the health check BEFORE the meeting: curl localhost:8000/api/v1/health — if database shows disconnected, restart Postgres.app</a:t>
            </a:r>
          </a:p>
          <a:p>
            <a:r>
              <a:rPr sz="1100"/>
              <a:t>•  Redis unavailable in the health response is NORMAL — the platform uses in-memory fallback, no impact on demo</a:t>
            </a:r>
          </a:p>
          <a:p>
            <a:r>
              <a:rPr sz="1100"/>
              <a:t>•  Have a backup slide ready: if the live demo fails mid-run, switch to the pre-filled US Bank org immediately</a:t>
            </a:r>
          </a:p>
          <a:p>
            <a:r>
              <a:rPr sz="1100"/>
              <a:t>•  Pre-position the browser on the Dashboard with US Bank loaded — start the meeting already in the app, not on the login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TALKING POINTS</a:t>
            </a:r>
          </a:p>
          <a:p>
            <a:r>
              <a:rPr sz="1100"/>
              <a:t>•  Close with: 'Which of your products would you want us to map first in Discovery?'</a:t>
            </a:r>
          </a:p>
          <a:p>
            <a:r>
              <a:rPr sz="1100"/>
              <a:t>•  If budget conversations come up: ROI is hours-to-discovery vs months of analyst workshops — the payback is in the first sprint</a:t>
            </a:r>
          </a:p>
          <a:p>
            <a:r>
              <a:rPr sz="1100"/>
              <a:t>•  Next steps: provide their GitHub repo URL or website URL and we can have a Discovery output ready in 24 hours</a:t>
            </a:r>
          </a:p>
          <a:p>
            <a:r>
              <a:rPr sz="1100"/>
              <a:t>•  The platform is live at localhost:3000 — leave the browser open so they can explore after the meeting</a:t>
            </a:r>
          </a:p>
          <a:p>
            <a:r>
              <a:rPr sz="1100"/>
              <a:t>•  Offer to re-seed with their company name and industry so the demo feels personalised next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4F46E5"/>
                </a:solidFill>
              </a:rPr>
              <a:t>TransformHub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Enterprise Digital Transformation Platform  ·  Senior Leadership Demo  · 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</a:rPr>
              <a:t>Powered by 18 AI Agents  ·  Next.js 15 + FastAPI + LangGraph  ·  PostgreSQL 18 + pgvector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1554480" cy="960120"/>
          </a:xfrm>
          <a:prstGeom prst="rect">
            <a:avLst/>
          </a:prstGeom>
          <a:solidFill>
            <a:srgbClr val="EEF2FF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41448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712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Enterprise
Demo Orgs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377440"/>
            <a:ext cx="1554480" cy="960120"/>
          </a:xfrm>
          <a:prstGeom prst="rect">
            <a:avLst/>
          </a:prstGeom>
          <a:solidFill>
            <a:srgbClr val="EEF2FF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441448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8712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Core
Modules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377440"/>
            <a:ext cx="1554480" cy="960120"/>
          </a:xfrm>
          <a:prstGeom prst="rect">
            <a:avLst/>
          </a:prstGeom>
          <a:solidFill>
            <a:srgbClr val="EEF2FF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2441448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8712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AI
Agents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377440"/>
            <a:ext cx="1554480" cy="960120"/>
          </a:xfrm>
          <a:prstGeom prst="rect">
            <a:avLst/>
          </a:prstGeom>
          <a:solidFill>
            <a:srgbClr val="EEF2FF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441448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8712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Capabilities
Mapped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2377440"/>
            <a:ext cx="1554480" cy="960120"/>
          </a:xfrm>
          <a:prstGeom prst="rect">
            <a:avLst/>
          </a:prstGeom>
          <a:solidFill>
            <a:srgbClr val="EEF2FF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441448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245+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8712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Functionalities
Discovered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20440"/>
            <a:ext cx="7498079" cy="822960"/>
          </a:xfrm>
          <a:prstGeom prst="rect">
            <a:avLst/>
          </a:prstGeom>
          <a:solidFill>
            <a:srgbClr val="EEF2FF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93592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F46E5"/>
                </a:solidFill>
              </a:rPr>
              <a:t>AI-powered transformation — from discovery to delivery — fully auditable, benchmark-grounded and transparent.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502920"/>
            <a:ext cx="3474720" cy="4114800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0" y="502920"/>
            <a:ext cx="347472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56692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DEMO ACCESS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987552"/>
            <a:ext cx="3200400" cy="841248"/>
          </a:xfrm>
          <a:prstGeom prst="rect">
            <a:avLst/>
          </a:prstGeom>
          <a:solidFill>
            <a:srgbClr val="EEF2FF"/>
          </a:solidFill>
          <a:ln w="50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1033272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Pre-Filled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1261872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✉  demo@transformhub.ai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481328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🔑  demo1234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1920240"/>
            <a:ext cx="3200400" cy="841248"/>
          </a:xfrm>
          <a:prstGeom prst="rect">
            <a:avLst/>
          </a:prstGeom>
          <a:solidFill>
            <a:srgbClr val="ECFEFF"/>
          </a:solidFill>
          <a:ln w="50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96596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Live Entry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194560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✉  live@transformhub.ai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2414016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🔑  live1234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1080" y="2852928"/>
            <a:ext cx="3200400" cy="841248"/>
          </a:xfrm>
          <a:prstGeom prst="rect">
            <a:avLst/>
          </a:prstGeom>
          <a:solidFill>
            <a:srgbClr val="F1F5F9"/>
          </a:solidFill>
          <a:ln w="50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0" y="2898648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127248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✉  admin@transformhub.ai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346704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🔑  demo1234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8587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🌐  http://localhost:3000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88952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601968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</a:rPr>
              <a:t>TransformHub  ·  Senior Leadership Demo  ·  March 2026  ·  http://localhost:3000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754880"/>
            <a:ext cx="12188952" cy="1783080"/>
          </a:xfrm>
          <a:prstGeom prst="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4754880"/>
            <a:ext cx="20116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828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💬  TALKING POINTS</a:t>
            </a:r>
          </a:p>
        </p:txBody>
      </p:sp>
      <p:sp>
        <p:nvSpPr>
          <p:cNvPr id="44" name="Oval 43"/>
          <p:cNvSpPr/>
          <p:nvPr/>
        </p:nvSpPr>
        <p:spPr>
          <a:xfrm>
            <a:off x="29260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TransformHub consolidates 6+ separate enterprise tools into one AI-native platform</a:t>
            </a:r>
          </a:p>
        </p:txBody>
      </p:sp>
      <p:sp>
        <p:nvSpPr>
          <p:cNvPr id="46" name="Oval 45"/>
          <p:cNvSpPr/>
          <p:nvPr/>
        </p:nvSpPr>
        <p:spPr>
          <a:xfrm>
            <a:off x="29260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18 LangGraph agents cover the full transformation lifecycle — discovery through delivery</a:t>
            </a:r>
          </a:p>
        </p:txBody>
      </p:sp>
      <p:sp>
        <p:nvSpPr>
          <p:cNvPr id="48" name="Oval 47"/>
          <p:cNvSpPr/>
          <p:nvPr/>
        </p:nvSpPr>
        <p:spPr>
          <a:xfrm>
            <a:off x="29260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Multi-tenant: US Bank, Telstra Health and ING Bank are all isolated and independently seeded</a:t>
            </a:r>
          </a:p>
        </p:txBody>
      </p:sp>
      <p:sp>
        <p:nvSpPr>
          <p:cNvPr id="50" name="Oval 49"/>
          <p:cNvSpPr/>
          <p:nvPr/>
        </p:nvSpPr>
        <p:spPr>
          <a:xfrm>
            <a:off x="619048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78 capabilities mapped with 85% average confidence — evidence-based, not AI guesswork</a:t>
            </a:r>
          </a:p>
        </p:txBody>
      </p:sp>
      <p:sp>
        <p:nvSpPr>
          <p:cNvPr id="52" name="Oval 51"/>
          <p:cNvSpPr/>
          <p:nvPr/>
        </p:nvSpPr>
        <p:spPr>
          <a:xfrm>
            <a:off x="619048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245 functionalities with full source triangulation (3–5 evidence sources each)</a:t>
            </a:r>
          </a:p>
        </p:txBody>
      </p:sp>
      <p:sp>
        <p:nvSpPr>
          <p:cNvPr id="54" name="Oval 53"/>
          <p:cNvSpPr/>
          <p:nvPr/>
        </p:nvSpPr>
        <p:spPr>
          <a:xfrm>
            <a:off x="619048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Accuracy dashboard shows live composite score (~68%) — this rises as more agents are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25-minute structured walkthrough across all platform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5760720" cy="758952"/>
          </a:xfrm>
          <a:prstGeom prst="rect">
            <a:avLst/>
          </a:prstGeom>
          <a:solidFill>
            <a:srgbClr val="F1F5F9"/>
          </a:solidFill>
          <a:ln w="889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1479" y="1252728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064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Platform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1064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F46E5"/>
                </a:solidFill>
              </a:rPr>
              <a:t>⏱ 3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5389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Architecture, 8 modules, 18 AI agents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051560"/>
            <a:ext cx="5760720" cy="758952"/>
          </a:xfrm>
          <a:prstGeom prst="rect">
            <a:avLst/>
          </a:prstGeom>
          <a:solidFill>
            <a:srgbClr val="F1F5F9"/>
          </a:solidFill>
          <a:ln w="889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799" y="1252728"/>
            <a:ext cx="329184" cy="32918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999" y="11064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Discovery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11064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6B6D4"/>
                </a:solidFill>
              </a:rPr>
              <a:t>⏱ 4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7999" y="145389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Multi-pass AI · confidence scoring · source triangulation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01952"/>
            <a:ext cx="5760720" cy="758952"/>
          </a:xfrm>
          <a:prstGeom prst="rect">
            <a:avLst/>
          </a:prstGeom>
          <a:solidFill>
            <a:srgbClr val="F1F5F9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1479" y="2103120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95681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Value Stream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19568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A34A"/>
                </a:solidFill>
              </a:rPr>
              <a:t>⏱ 4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3042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L1/L2/L3 hierarchy · flow efficiency · Mermaid diagrams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1901952"/>
            <a:ext cx="5760720" cy="758952"/>
          </a:xfrm>
          <a:prstGeom prst="rect">
            <a:avLst/>
          </a:prstGeom>
          <a:solidFill>
            <a:srgbClr val="F1F5F9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799" y="2103120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999" y="195681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Future State 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19568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7C3AED"/>
                </a:solidFill>
              </a:rPr>
              <a:t>⏱ 4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7999" y="23042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Benchmark-grounded projections · automation mix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752344"/>
            <a:ext cx="5760720" cy="758952"/>
          </a:xfrm>
          <a:prstGeom prst="rect">
            <a:avLst/>
          </a:prstGeom>
          <a:solidFill>
            <a:srgbClr val="F1F5F9"/>
          </a:solidFill>
          <a:ln w="889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1479" y="2953512"/>
            <a:ext cx="329184" cy="3291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280720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Risk &amp; 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2807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C2626"/>
                </a:solidFill>
              </a:rPr>
              <a:t>⏱ 3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1546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Risk gates · SHA-256 audit trail · regulatory frameworks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2752344"/>
            <a:ext cx="5760720" cy="758952"/>
          </a:xfrm>
          <a:prstGeom prst="rect">
            <a:avLst/>
          </a:prstGeom>
          <a:solidFill>
            <a:srgbClr val="F1F5F9"/>
          </a:solidFill>
          <a:ln w="889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799" y="2953512"/>
            <a:ext cx="329184" cy="3291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7999" y="280720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Accuracy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807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97706"/>
                </a:solidFill>
              </a:rPr>
              <a:t>⏱ 3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7999" y="31546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Per-module scores · composite · live action plan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602736"/>
            <a:ext cx="5760720" cy="758952"/>
          </a:xfrm>
          <a:prstGeom prst="rect">
            <a:avLst/>
          </a:prstGeom>
          <a:solidFill>
            <a:srgbClr val="F1F5F9"/>
          </a:solidFill>
          <a:ln w="889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11479" y="3803904"/>
            <a:ext cx="329184" cy="32918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36576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Live Entry Demo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3657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6B6D4"/>
                </a:solidFill>
              </a:rPr>
              <a:t>⏱ 4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4005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Create org · run agents · watch data populate live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59" y="3602736"/>
            <a:ext cx="5760720" cy="758952"/>
          </a:xfrm>
          <a:prstGeom prst="rect">
            <a:avLst/>
          </a:prstGeom>
          <a:solidFill>
            <a:srgbClr val="F1F5F9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799" y="3803904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7999" y="36576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Q &amp; 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3657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A34A"/>
                </a:solidFill>
              </a:rPr>
              <a:t>⏱ 5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7999" y="4005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Open questions · next steps · roadmap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65392"/>
            <a:ext cx="12188952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601968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</a:rPr>
              <a:t>TransformHub  ·  Senior Leadership Demo  ·  March 2026  ·  http://localhost:3000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4754880"/>
            <a:ext cx="12188952" cy="1783080"/>
          </a:xfrm>
          <a:prstGeom prst="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754880"/>
            <a:ext cx="20116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4828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💬  TALKING POINTS</a:t>
            </a:r>
          </a:p>
        </p:txBody>
      </p:sp>
      <p:sp>
        <p:nvSpPr>
          <p:cNvPr id="50" name="Oval 49"/>
          <p:cNvSpPr/>
          <p:nvPr/>
        </p:nvSpPr>
        <p:spPr>
          <a:xfrm>
            <a:off x="29260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Keep each section tight to the time allocation — the 25-min format is designed for exec attention spans</a:t>
            </a:r>
          </a:p>
        </p:txBody>
      </p:sp>
      <p:sp>
        <p:nvSpPr>
          <p:cNvPr id="52" name="Oval 51"/>
          <p:cNvSpPr/>
          <p:nvPr/>
        </p:nvSpPr>
        <p:spPr>
          <a:xfrm>
            <a:off x="29260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Start with pre-filled demo (Steps 1–6) to show polish — add live entry at the end if time allows</a:t>
            </a:r>
          </a:p>
        </p:txBody>
      </p:sp>
      <p:sp>
        <p:nvSpPr>
          <p:cNvPr id="54" name="Oval 53"/>
          <p:cNvSpPr/>
          <p:nvPr/>
        </p:nvSpPr>
        <p:spPr>
          <a:xfrm>
            <a:off x="29260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Steps 2–6 each have accuracy badges on the page header — point to them as you navigate</a:t>
            </a:r>
          </a:p>
        </p:txBody>
      </p:sp>
      <p:sp>
        <p:nvSpPr>
          <p:cNvPr id="56" name="Oval 55"/>
          <p:cNvSpPr/>
          <p:nvPr/>
        </p:nvSpPr>
        <p:spPr>
          <a:xfrm>
            <a:off x="619048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Q&amp;A (Step 8) is where you ask: 'Which of your products would you like us to map first?'</a:t>
            </a:r>
          </a:p>
        </p:txBody>
      </p:sp>
      <p:sp>
        <p:nvSpPr>
          <p:cNvPr id="58" name="Oval 57"/>
          <p:cNvSpPr/>
          <p:nvPr/>
        </p:nvSpPr>
        <p:spPr>
          <a:xfrm>
            <a:off x="619048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If they're engaged, offer to run the Discovery agent live against their actual repo during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Choose Your Demo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Select based on audience type and time available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5760720" cy="3474720"/>
          </a:xfrm>
          <a:prstGeom prst="rect">
            <a:avLst/>
          </a:prstGeom>
          <a:solidFill>
            <a:srgbClr val="EEF2FF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5760720" cy="40233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247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🎯  Pre-Filled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636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46E5"/>
                </a:solidFill>
              </a:rPr>
              <a:t>Recommended for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87451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✓  Login: demo@transformhub.ai  /  demo1234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2585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✓  3 enterprise orgs: US Bank · Telstra Health · ING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642615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✓  78 capabilities, 245 functionalities, full VSM seeded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026663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✓  Accuracy scores visible immediately (~65–72% composite)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41071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✓  21 context docs across all 5 RAG categories — all INDEXED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794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✓  234 roadmap items with RICE scores and approval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41788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✓  Estimated duration: 15–20 minutes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1051560"/>
            <a:ext cx="5760720" cy="3474720"/>
          </a:xfrm>
          <a:prstGeom prst="rect">
            <a:avLst/>
          </a:prstGeom>
          <a:solidFill>
            <a:srgbClr val="ECFEFF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1051560"/>
            <a:ext cx="5760720" cy="4023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1" y="11247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 Live Entry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1" y="15636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Best for Technical Audiences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1" y="187451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✓  Login: live@transformhub.ai  /  live1234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1" y="22585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✓  Create a new org — blank slate, no pre-seeded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1" y="2642615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✓  Paste any GitHub repo URL or public website URL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1" y="3026663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✓  Run Discovery → review → run VSM → check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1" y="341071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✓  Watch accuracy scores rise from 0% to live values in real-time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1" y="3794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✓  Requires OPENAI_API_KEY in agent-service/.env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1" y="41788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✓  Estimated duration: 20–30 minutes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88952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601968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</a:rPr>
              <a:t>TransformHub  ·  Senior Leadership Demo  ·  March 2026  ·  http://localhost:3000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754880"/>
            <a:ext cx="12188952" cy="1783080"/>
          </a:xfrm>
          <a:prstGeom prst="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754880"/>
            <a:ext cx="20116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828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💬  TALKING POINTS</a:t>
            </a:r>
          </a:p>
        </p:txBody>
      </p:sp>
      <p:sp>
        <p:nvSpPr>
          <p:cNvPr id="32" name="Oval 31"/>
          <p:cNvSpPr/>
          <p:nvPr/>
        </p:nvSpPr>
        <p:spPr>
          <a:xfrm>
            <a:off x="29260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For Board / C-suite: always use Pre-Filled — the visual richness of 78 capabilities + 234 roadmap items is the story</a:t>
            </a:r>
          </a:p>
        </p:txBody>
      </p:sp>
      <p:sp>
        <p:nvSpPr>
          <p:cNvPr id="34" name="Oval 33"/>
          <p:cNvSpPr/>
          <p:nvPr/>
        </p:nvSpPr>
        <p:spPr>
          <a:xfrm>
            <a:off x="29260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For IT / Architecture teams: Live Entry is more impressive — they understand what real-time agent execution means</a:t>
            </a:r>
          </a:p>
        </p:txBody>
      </p:sp>
      <p:sp>
        <p:nvSpPr>
          <p:cNvPr id="36" name="Oval 35"/>
          <p:cNvSpPr/>
          <p:nvPr/>
        </p:nvSpPr>
        <p:spPr>
          <a:xfrm>
            <a:off x="29260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Pre-Filled shows 3 different industry verticals (Banking, Healthcare, Payments) — switch orgs to show multi-tenancy</a:t>
            </a:r>
          </a:p>
        </p:txBody>
      </p:sp>
      <p:sp>
        <p:nvSpPr>
          <p:cNvPr id="38" name="Oval 37"/>
          <p:cNvSpPr/>
          <p:nvPr/>
        </p:nvSpPr>
        <p:spPr>
          <a:xfrm>
            <a:off x="619048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Live Entry works best with a public GitHub repo — stripe/stripe-node is ideal (clear API structure, well-tested)</a:t>
            </a:r>
          </a:p>
        </p:txBody>
      </p:sp>
      <p:sp>
        <p:nvSpPr>
          <p:cNvPr id="40" name="Oval 39"/>
          <p:cNvSpPr/>
          <p:nvPr/>
        </p:nvSpPr>
        <p:spPr>
          <a:xfrm>
            <a:off x="619048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Both modes use the same agent pipeline — the difference is only whether data is pre-seeded or generated live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Full-stack enterprise AI platform — three tiers, production-grade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987552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01168" cy="9875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612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⚛  Frontend  :3000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819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Next.js 15 App Router  ·  TypeScript  ·  Tailwind v4  ·  Dark glassmorphism UI  ·  Real-time streaming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0574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F46E5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67128"/>
            <a:ext cx="11521440" cy="987552"/>
          </a:xfrm>
          <a:prstGeom prst="rect">
            <a:avLst/>
          </a:prstGeom>
          <a:solidFill>
            <a:srgbClr val="F1F5F9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167128"/>
            <a:ext cx="201168" cy="9875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768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🐍  Agent Service  :8000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FastAPI  ·  LangGraph  ·  Python 3.13  ·  18 AI Agents  ·  BM25 + pgvector RAG  ·  Agent memory + feedback loops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172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282696"/>
            <a:ext cx="11521440" cy="987552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282696"/>
            <a:ext cx="201168" cy="9875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924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🗄  Data Layer  :5432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1304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PostgreSQL 18  ·  pgvector extension  ·  Prisma ORM  ·  SHA-256 chained audit trail  ·  Multi-tenant row isolation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480560"/>
            <a:ext cx="2103120" cy="822960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5445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9743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LangGraph Agents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4480560"/>
            <a:ext cx="2103120" cy="822960"/>
          </a:xfrm>
          <a:prstGeom prst="rect">
            <a:avLst/>
          </a:prstGeom>
          <a:solidFill>
            <a:srgbClr val="F1F5F9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45445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50+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9743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API Routes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79" y="4480560"/>
            <a:ext cx="2103120" cy="822960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79" y="45445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79" y="49743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Core Modules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199" y="4480560"/>
            <a:ext cx="2103120" cy="822960"/>
          </a:xfrm>
          <a:prstGeom prst="rect">
            <a:avLst/>
          </a:prstGeom>
          <a:solidFill>
            <a:srgbClr val="F1F5F9"/>
          </a:solidFill>
          <a:ln w="76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199" y="45445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199" y="49743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RAG Categories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19" y="4480560"/>
            <a:ext cx="2103120" cy="822960"/>
          </a:xfrm>
          <a:prstGeom prst="rect">
            <a:avLst/>
          </a:prstGeom>
          <a:solidFill>
            <a:srgbClr val="F1F5F9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19" y="45445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19" y="49743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Tenants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88952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601968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</a:rPr>
              <a:t>TransformHub  ·  Senior Leadership Demo  ·  March 2026  ·  http://localhost:3000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754880"/>
            <a:ext cx="12188952" cy="1783080"/>
          </a:xfrm>
          <a:prstGeom prst="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4754880"/>
            <a:ext cx="20116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4828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💬  TALKING POINTS</a:t>
            </a:r>
          </a:p>
        </p:txBody>
      </p:sp>
      <p:sp>
        <p:nvSpPr>
          <p:cNvPr id="39" name="Oval 38"/>
          <p:cNvSpPr/>
          <p:nvPr/>
        </p:nvSpPr>
        <p:spPr>
          <a:xfrm>
            <a:off x="29260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Three-tier architecture means each layer can be scaled independently — agent service scales horizontally for heavy workloads</a:t>
            </a:r>
          </a:p>
        </p:txBody>
      </p:sp>
      <p:sp>
        <p:nvSpPr>
          <p:cNvPr id="41" name="Oval 40"/>
          <p:cNvSpPr/>
          <p:nvPr/>
        </p:nvSpPr>
        <p:spPr>
          <a:xfrm>
            <a:off x="29260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LangGraph checkpointing means if an agent fails mid-run, it resumes from the last checkpoint — no lost work</a:t>
            </a:r>
          </a:p>
        </p:txBody>
      </p:sp>
      <p:sp>
        <p:nvSpPr>
          <p:cNvPr id="43" name="Oval 42"/>
          <p:cNvSpPr/>
          <p:nvPr/>
        </p:nvSpPr>
        <p:spPr>
          <a:xfrm>
            <a:off x="29260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Redis is optional — the platform runs fully on in-memory fallback, which is what you see in the demo</a:t>
            </a:r>
          </a:p>
        </p:txBody>
      </p:sp>
      <p:sp>
        <p:nvSpPr>
          <p:cNvPr id="45" name="Oval 44"/>
          <p:cNvSpPr/>
          <p:nvPr/>
        </p:nvSpPr>
        <p:spPr>
          <a:xfrm>
            <a:off x="619048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pgvector enables the hybrid RAG: BM25 for keyword recall + cosine similarity for semantic recall — best of both</a:t>
            </a:r>
          </a:p>
        </p:txBody>
      </p:sp>
      <p:sp>
        <p:nvSpPr>
          <p:cNvPr id="47" name="Oval 46"/>
          <p:cNvSpPr/>
          <p:nvPr/>
        </p:nvSpPr>
        <p:spPr>
          <a:xfrm>
            <a:off x="619048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50+ API routes cover the full CRUD surface for all 8 modules plus agent execution, accuracy, and context management</a:t>
            </a:r>
          </a:p>
        </p:txBody>
      </p:sp>
      <p:sp>
        <p:nvSpPr>
          <p:cNvPr id="49" name="Oval 48"/>
          <p:cNvSpPr/>
          <p:nvPr/>
        </p:nvSpPr>
        <p:spPr>
          <a:xfrm>
            <a:off x="619048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Prisma ORM gives type-safe DB access — no raw SQL, no injection risk, strong migration tooling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8 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End-to-end transformation lifecycle — Discovery through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2816352" cy="1627632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816352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1615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5272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91639"/>
            <a:ext cx="26060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Multi-pass AI analysis
3 human review gates
Confidence + source triangulation
~85% accuracy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2696" y="1051560"/>
            <a:ext cx="2816352" cy="1627632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82696" y="1051560"/>
            <a:ext cx="2816352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2424" y="121615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</a:rPr>
              <a:t>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125272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Value Stream
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691639"/>
            <a:ext cx="26060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L1 / L2 / L3 hierarchy
Mermaid diagrams auto-generated
100% VSM coverage
~72% accuracy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1051560"/>
            <a:ext cx="2816352" cy="1627632"/>
          </a:xfrm>
          <a:prstGeom prst="rect">
            <a:avLst/>
          </a:prstGeom>
          <a:solidFill>
            <a:srgbClr val="F1F5F9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051560"/>
            <a:ext cx="281635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21615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</a:rP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125272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Future State
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91639"/>
            <a:ext cx="26060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Benchmark-grounded projections
3-band metrics: cons/exp/opt
Automation mix breakdown
~70% accuracy 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08008" y="1051560"/>
            <a:ext cx="2816352" cy="1627632"/>
          </a:xfrm>
          <a:prstGeom prst="rect">
            <a:avLst/>
          </a:prstGeom>
          <a:solidFill>
            <a:srgbClr val="F1F5F9"/>
          </a:solidFill>
          <a:ln w="762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08008" y="1051560"/>
            <a:ext cx="2816352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17736" y="121615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</a:rPr>
              <a:t>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125272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Risk &amp;
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1691639"/>
            <a:ext cx="26060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Risk gate: score ≥8.0 blocks
SHA-256 chained audit trail
SOX · FDIC · HIPAA · Basel III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834639"/>
            <a:ext cx="2816352" cy="1627632"/>
          </a:xfrm>
          <a:prstGeom prst="rect">
            <a:avLst/>
          </a:prstGeom>
          <a:solidFill>
            <a:srgbClr val="F1F5F9"/>
          </a:solidFill>
          <a:ln w="76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2834639"/>
            <a:ext cx="2816352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299923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</a:rPr>
              <a:t>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03580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Product
Roadmap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3474720"/>
            <a:ext cx="26060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RICE scoring algorithm
Approval workflow (PENDING→APPROVED)
234 items, Q1–Q4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82696" y="2834639"/>
            <a:ext cx="2816352" cy="1627632"/>
          </a:xfrm>
          <a:prstGeom prst="rect">
            <a:avLst/>
          </a:prstGeom>
          <a:solidFill>
            <a:srgbClr val="F1F5F9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82696" y="2834639"/>
            <a:ext cx="28163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92424" y="299923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</a:rPr>
              <a:t>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77056" y="303580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Product
Workbench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92424" y="3474720"/>
            <a:ext cx="26060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Readiness scoring 0–10
Architecture views (functional/tech)
Inline editing of all entities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5352" y="2834639"/>
            <a:ext cx="2816352" cy="1627632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45352" y="2834639"/>
            <a:ext cx="2816352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99923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</a:rPr>
              <a:t>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03580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Context
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474720"/>
            <a:ext cx="26060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5 RAG doc categories
BM25 + vector hybrid search
URL fetch + file upload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08008" y="2834639"/>
            <a:ext cx="2816352" cy="1627632"/>
          </a:xfrm>
          <a:prstGeom prst="rect">
            <a:avLst/>
          </a:prstGeom>
          <a:solidFill>
            <a:srgbClr val="F1F5F9"/>
          </a:solidFill>
          <a:ln w="76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08008" y="2834639"/>
            <a:ext cx="2816352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17736" y="299923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</a:rPr>
              <a:t>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02368" y="303580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Accuracy
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17736" y="3474720"/>
            <a:ext cx="26060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Per-module composite score
Live action plan (4–8 steps)
Badges on every page header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65392"/>
            <a:ext cx="12188952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601968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</a:rPr>
              <a:t>TransformHub  ·  Senior Leadership Demo  ·  March 2026  ·  http://localhost:3000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4754880"/>
            <a:ext cx="12188952" cy="1783080"/>
          </a:xfrm>
          <a:prstGeom prst="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754880"/>
            <a:ext cx="20116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4828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💬  TALKING POINTS</a:t>
            </a:r>
          </a:p>
        </p:txBody>
      </p:sp>
      <p:sp>
        <p:nvSpPr>
          <p:cNvPr id="50" name="Oval 49"/>
          <p:cNvSpPr/>
          <p:nvPr/>
        </p:nvSpPr>
        <p:spPr>
          <a:xfrm>
            <a:off x="29260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Each module feeds the next: Discovery → VSM → Future State → Risk → Roadmap is a complete AI-driven workflow</a:t>
            </a:r>
          </a:p>
        </p:txBody>
      </p:sp>
      <p:sp>
        <p:nvSpPr>
          <p:cNvPr id="52" name="Oval 51"/>
          <p:cNvSpPr/>
          <p:nvPr/>
        </p:nvSpPr>
        <p:spPr>
          <a:xfrm>
            <a:off x="29260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Accuracy badges appear on EVERY module page header — click any badge to jump to the Accuracy Dashboard</a:t>
            </a:r>
          </a:p>
        </p:txBody>
      </p:sp>
      <p:sp>
        <p:nvSpPr>
          <p:cNvPr id="54" name="Oval 53"/>
          <p:cNvSpPr/>
          <p:nvPr/>
        </p:nvSpPr>
        <p:spPr>
          <a:xfrm>
            <a:off x="29260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Context Hub is the brain behind all agents — docs uploaded there are injected into every agent's RAG context</a:t>
            </a:r>
          </a:p>
        </p:txBody>
      </p:sp>
      <p:sp>
        <p:nvSpPr>
          <p:cNvPr id="56" name="Oval 55"/>
          <p:cNvSpPr/>
          <p:nvPr/>
        </p:nvSpPr>
        <p:spPr>
          <a:xfrm>
            <a:off x="619048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Discovery is the entry point — without running Discovery first, other agents have limited data to work with</a:t>
            </a:r>
          </a:p>
        </p:txBody>
      </p:sp>
      <p:sp>
        <p:nvSpPr>
          <p:cNvPr id="58" name="Oval 57"/>
          <p:cNvSpPr/>
          <p:nvPr/>
        </p:nvSpPr>
        <p:spPr>
          <a:xfrm>
            <a:off x="619048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Product Workbench and Roadmap are the output modules — this is where leadership makes go/no-go decisions</a:t>
            </a:r>
          </a:p>
        </p:txBody>
      </p:sp>
      <p:sp>
        <p:nvSpPr>
          <p:cNvPr id="60" name="Oval 59"/>
          <p:cNvSpPr/>
          <p:nvPr/>
        </p:nvSpPr>
        <p:spPr>
          <a:xfrm>
            <a:off x="619048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Risk &amp; Compliance has a hard gate at score ≥8.0 — no transformation proceeds until risk is mitigated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Step 1  ·  Discovery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Multi-pass AI analysis with human review gates — ~85%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7315200" cy="914400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01168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335024"/>
            <a:ext cx="310896" cy="31089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12471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Pass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45389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Digital Products identified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124712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Human reviews product list → Edit / Delete inline → Approve to continue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84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F46E5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30552"/>
            <a:ext cx="7315200" cy="914400"/>
          </a:xfrm>
          <a:prstGeom prst="rect">
            <a:avLst/>
          </a:prstGeom>
          <a:solidFill>
            <a:srgbClr val="F1F5F9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130552"/>
            <a:ext cx="201168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2414016"/>
            <a:ext cx="310896" cy="31089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20370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Pass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532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Capabilities mapped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203704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Constrained to approved products only → human reviews capability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063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B6D4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09544"/>
            <a:ext cx="7315200" cy="914400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209544"/>
            <a:ext cx="201168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4360" y="3493008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28269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Pass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36118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Functionalities extracted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282696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Confidence score + evidence sources per item → human final approval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1051560"/>
            <a:ext cx="4069080" cy="3218688"/>
          </a:xfrm>
          <a:prstGeom prst="rect">
            <a:avLst/>
          </a:prstGeom>
          <a:solidFill>
            <a:srgbClr val="EEF2FF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18120" y="1051560"/>
            <a:ext cx="4069080" cy="3291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3568" y="1106424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EVIDENCE SOURCES</a:t>
            </a:r>
          </a:p>
        </p:txBody>
      </p:sp>
      <p:sp>
        <p:nvSpPr>
          <p:cNvPr id="28" name="Oval 27"/>
          <p:cNvSpPr/>
          <p:nvPr/>
        </p:nvSpPr>
        <p:spPr>
          <a:xfrm>
            <a:off x="7955279" y="1554480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1463039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GitHub 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1463039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Code architecture + file tree</a:t>
            </a:r>
          </a:p>
        </p:txBody>
      </p:sp>
      <p:sp>
        <p:nvSpPr>
          <p:cNvPr id="31" name="Oval 30"/>
          <p:cNvSpPr/>
          <p:nvPr/>
        </p:nvSpPr>
        <p:spPr>
          <a:xfrm>
            <a:off x="7955279" y="1892807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19872" y="1801367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OpenAPI Spec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801367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Endpoint + schema definitions</a:t>
            </a:r>
          </a:p>
        </p:txBody>
      </p:sp>
      <p:sp>
        <p:nvSpPr>
          <p:cNvPr id="34" name="Oval 33"/>
          <p:cNvSpPr/>
          <p:nvPr/>
        </p:nvSpPr>
        <p:spPr>
          <a:xfrm>
            <a:off x="7955279" y="2231136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9872" y="213969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DB Schema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13969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Table + relationship inference</a:t>
            </a:r>
          </a:p>
        </p:txBody>
      </p:sp>
      <p:sp>
        <p:nvSpPr>
          <p:cNvPr id="37" name="Oval 36"/>
          <p:cNvSpPr/>
          <p:nvPr/>
        </p:nvSpPr>
        <p:spPr>
          <a:xfrm>
            <a:off x="7955279" y="2569464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9872" y="247802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GitHub Tests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247802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Behaviour documentation in tests</a:t>
            </a:r>
          </a:p>
        </p:txBody>
      </p:sp>
      <p:sp>
        <p:nvSpPr>
          <p:cNvPr id="40" name="Oval 39"/>
          <p:cNvSpPr/>
          <p:nvPr/>
        </p:nvSpPr>
        <p:spPr>
          <a:xfrm>
            <a:off x="7955279" y="2907792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19872" y="28163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URL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281635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Public-facing product pages</a:t>
            </a:r>
          </a:p>
        </p:txBody>
      </p:sp>
      <p:sp>
        <p:nvSpPr>
          <p:cNvPr id="43" name="Oval 42"/>
          <p:cNvSpPr/>
          <p:nvPr/>
        </p:nvSpPr>
        <p:spPr>
          <a:xfrm>
            <a:off x="7955279" y="3246120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19872" y="31546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Context Documents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12680" y="315468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Uploaded BRDs and process maps</a:t>
            </a:r>
          </a:p>
        </p:txBody>
      </p:sp>
      <p:sp>
        <p:nvSpPr>
          <p:cNvPr id="46" name="Oval 45"/>
          <p:cNvSpPr/>
          <p:nvPr/>
        </p:nvSpPr>
        <p:spPr>
          <a:xfrm>
            <a:off x="7955279" y="3584447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19872" y="3493007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Integration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3493007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Connected system metadata</a:t>
            </a:r>
          </a:p>
        </p:txBody>
      </p:sp>
      <p:sp>
        <p:nvSpPr>
          <p:cNvPr id="49" name="Oval 48"/>
          <p:cNvSpPr/>
          <p:nvPr/>
        </p:nvSpPr>
        <p:spPr>
          <a:xfrm>
            <a:off x="7955279" y="3922775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19872" y="3831335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Q&amp;A / Questionnaire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12680" y="3831335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Analyst-provided context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343400"/>
            <a:ext cx="1444752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4407408"/>
            <a:ext cx="1444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4837176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Products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0" y="4343400"/>
            <a:ext cx="1444752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0" y="4407408"/>
            <a:ext cx="1444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</a:rPr>
              <a:t>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0" y="4837176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Capabilities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37560" y="4343400"/>
            <a:ext cx="1444752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37560" y="4407408"/>
            <a:ext cx="1444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79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37560" y="4837176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Functionalities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6320" y="4343400"/>
            <a:ext cx="1444752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46320" y="4407408"/>
            <a:ext cx="1444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</a:rPr>
              <a:t>85%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46320" y="4837176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Avg Confidence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79" y="4343400"/>
            <a:ext cx="1444752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55079" y="4407408"/>
            <a:ext cx="1444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</a:rPr>
              <a:t>100%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55079" y="4837176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Triangulated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65392"/>
            <a:ext cx="12188952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6601968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</a:rPr>
              <a:t>TransformHub  ·  Senior Leadership Demo  ·  March 2026  ·  http://localhost:3000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754880"/>
            <a:ext cx="12188952" cy="1783080"/>
          </a:xfrm>
          <a:prstGeom prst="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0" y="4754880"/>
            <a:ext cx="20116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4828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💬  TALKING POINTS</a:t>
            </a:r>
          </a:p>
        </p:txBody>
      </p:sp>
      <p:sp>
        <p:nvSpPr>
          <p:cNvPr id="72" name="Oval 71"/>
          <p:cNvSpPr/>
          <p:nvPr/>
        </p:nvSpPr>
        <p:spPr>
          <a:xfrm>
            <a:off x="29260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CLICK: Discovery → switch to Drilldown view → click 'LoanFlow Digital' → show 9 capabilities expanding in the tree</a:t>
            </a:r>
          </a:p>
        </p:txBody>
      </p:sp>
      <p:sp>
        <p:nvSpPr>
          <p:cNvPr id="74" name="Oval 73"/>
          <p:cNvSpPr/>
          <p:nvPr/>
        </p:nvSpPr>
        <p:spPr>
          <a:xfrm>
            <a:off x="29260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Point to the confidence badge on 'AI Underwriting' capability — 87% confidence from 4 evidence sources (GitHub + OpenAPI + DB + docs)</a:t>
            </a:r>
          </a:p>
        </p:txBody>
      </p:sp>
      <p:sp>
        <p:nvSpPr>
          <p:cNvPr id="76" name="Oval 75"/>
          <p:cNvSpPr/>
          <p:nvPr/>
        </p:nvSpPr>
        <p:spPr>
          <a:xfrm>
            <a:off x="29260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CLICK: switch to Product Catalog view — this is the exec-friendly summary: 3 products, 26 capabilities, 79 functionalities at a glance</a:t>
            </a:r>
          </a:p>
        </p:txBody>
      </p:sp>
      <p:sp>
        <p:nvSpPr>
          <p:cNvPr id="78" name="Oval 77"/>
          <p:cNvSpPr/>
          <p:nvPr/>
        </p:nvSpPr>
        <p:spPr>
          <a:xfrm>
            <a:off x="619048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5508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Inline editing: hover over any capability name → pencil icon appears → edit live → changes persist immediately</a:t>
            </a:r>
          </a:p>
        </p:txBody>
      </p:sp>
      <p:sp>
        <p:nvSpPr>
          <p:cNvPr id="80" name="Oval 79"/>
          <p:cNvSpPr/>
          <p:nvPr/>
        </p:nvSpPr>
        <p:spPr>
          <a:xfrm>
            <a:off x="619048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8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Multi-pass design prevents hallucination cascade — AI cannot invent capabilities for products that haven't been approved</a:t>
            </a:r>
          </a:p>
        </p:txBody>
      </p:sp>
      <p:sp>
        <p:nvSpPr>
          <p:cNvPr id="82" name="Oval 81"/>
          <p:cNvSpPr/>
          <p:nvPr/>
        </p:nvSpPr>
        <p:spPr>
          <a:xfrm>
            <a:off x="619048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5508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Source triangulation: 100% of seeded capabilities have 3+ evidence sources — show the source distribution breakdown in Accuracy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Step 2  ·  Value Stream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Three-level hierarchy — 100% capability coverage — Mermaid visualisation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7132320" cy="960120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0116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A34A"/>
                </a:solidFill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43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Segment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143000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Cross-product flow efficiency view · Business segment selector · Comparative flow efficiency bars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03911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6A34A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48839"/>
            <a:ext cx="7132320" cy="960120"/>
          </a:xfrm>
          <a:prstGeom prst="rect">
            <a:avLst/>
          </a:prstGeom>
          <a:solidFill>
            <a:srgbClr val="F1F5F9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148839"/>
            <a:ext cx="20116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95727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B6D4"/>
                </a:solidFill>
              </a:rPr>
              <a:t>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240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Product
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240279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Process Time / Wait Time / Lead Time / Flow Efficiency per capability · Mermaid diagram rendered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36391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B6D4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46120"/>
            <a:ext cx="7132320" cy="960120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246120"/>
            <a:ext cx="201168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4930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F46E5"/>
                </a:solidFill>
              </a:rPr>
              <a:t>L3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Functionality
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337560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Step-by-step timing · Classification: Value-Adding / Bottleneck / Waste / Waiting · Drill from L2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1051560"/>
            <a:ext cx="4160520" cy="3218688"/>
          </a:xfrm>
          <a:prstGeom prst="rect">
            <a:avLst/>
          </a:prstGeom>
          <a:solidFill>
            <a:srgbClr val="F0FDF4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26679" y="1051560"/>
            <a:ext cx="4160520" cy="3291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2127" y="1106424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KEY VSM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7" y="1463039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</a:rPr>
              <a:t>PT  Process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7" y="1700784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Time actively working on the step (value-added time)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7" y="1911095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</a:rPr>
              <a:t>WT  Wait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7" y="2148839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Queue / idle time before the next step begins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7" y="235915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</a:rPr>
              <a:t>LT  Lead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2596896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Total elapsed time = PT + WT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280720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</a:rPr>
              <a:t>FE  Flow Efficiency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2127" y="3044952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PT ÷ LT × 100 — industry avg ~38%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3255263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</a:rPr>
              <a:t>Bottleneck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7" y="3493007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Step where WT &gt; PT and blocks downstream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7" y="370332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</a:rPr>
              <a:t>Waste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7" y="3941063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Steps with no value-add — candidates for elimination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343400"/>
            <a:ext cx="1444752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407408"/>
            <a:ext cx="1444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78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4837176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Capabilities with VSM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4343400"/>
            <a:ext cx="1444752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0" y="4407408"/>
            <a:ext cx="1444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4837176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Coverage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37560" y="4343400"/>
            <a:ext cx="1444752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7560" y="4407408"/>
            <a:ext cx="1444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78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837176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Mermaid Diagrams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4343400"/>
            <a:ext cx="1444752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0" y="4407408"/>
            <a:ext cx="1444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</a:rPr>
              <a:t>~35%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4837176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Avg Flow Efficiency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79" y="4343400"/>
            <a:ext cx="1444752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79" y="4407408"/>
            <a:ext cx="1444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C2626"/>
                </a:solidFill>
              </a:rPr>
              <a:t>60%+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79" y="4837176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Avg Waste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65392"/>
            <a:ext cx="12188952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601968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</a:rPr>
              <a:t>TransformHub  ·  Senior Leadership Demo  ·  March 2026  ·  http://localhost:3000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754880"/>
            <a:ext cx="12188952" cy="1783080"/>
          </a:xfrm>
          <a:prstGeom prst="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4754880"/>
            <a:ext cx="20116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4828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💬  TALKING POINTS</a:t>
            </a:r>
          </a:p>
        </p:txBody>
      </p:sp>
      <p:sp>
        <p:nvSpPr>
          <p:cNvPr id="57" name="Oval 56"/>
          <p:cNvSpPr/>
          <p:nvPr/>
        </p:nvSpPr>
        <p:spPr>
          <a:xfrm>
            <a:off x="29260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CLICK: VSM → set Level = L1 → show flow efficiency bars across all 3 products — LoanFlow is the bottleneck at ~28%</a:t>
            </a:r>
          </a:p>
        </p:txBody>
      </p:sp>
      <p:sp>
        <p:nvSpPr>
          <p:cNvPr id="59" name="Oval 58"/>
          <p:cNvSpPr/>
          <p:nvPr/>
        </p:nvSpPr>
        <p:spPr>
          <a:xfrm>
            <a:off x="29260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CLICK: L2 → select 'AI Underwriting' → point to the Mermaid diagram auto-rendered below the metrics table</a:t>
            </a:r>
          </a:p>
        </p:txBody>
      </p:sp>
      <p:sp>
        <p:nvSpPr>
          <p:cNvPr id="61" name="Oval 60"/>
          <p:cNvSpPr/>
          <p:nvPr/>
        </p:nvSpPr>
        <p:spPr>
          <a:xfrm>
            <a:off x="29260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Average Flow Efficiency ~35% means 65% of lead time is WASTE — this is the transformation opportunity</a:t>
            </a:r>
          </a:p>
        </p:txBody>
      </p:sp>
      <p:sp>
        <p:nvSpPr>
          <p:cNvPr id="63" name="Oval 62"/>
          <p:cNvSpPr/>
          <p:nvPr/>
        </p:nvSpPr>
        <p:spPr>
          <a:xfrm>
            <a:off x="619048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8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CLICK: Classification panel (right side of L2) → show Bottleneck steps highlighted in orange, Waste in red</a:t>
            </a:r>
          </a:p>
        </p:txBody>
      </p:sp>
      <p:sp>
        <p:nvSpPr>
          <p:cNvPr id="65" name="Oval 64"/>
          <p:cNvSpPr/>
          <p:nvPr/>
        </p:nvSpPr>
        <p:spPr>
          <a:xfrm>
            <a:off x="619048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8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100% VSM coverage = all 78 capabilities have metrics — previous session had only 1 per product (3 total)</a:t>
            </a:r>
          </a:p>
        </p:txBody>
      </p:sp>
      <p:sp>
        <p:nvSpPr>
          <p:cNvPr id="67" name="Oval 66"/>
          <p:cNvSpPr/>
          <p:nvPr/>
        </p:nvSpPr>
        <p:spPr>
          <a:xfrm>
            <a:off x="619048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5508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CLICK: Capability Comparison Chart button → shows side-by-side FE bars for all capabilities in the segment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Step 3  ·  Future State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Benchmark-grounded projections with automation mix and 3-band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960120"/>
          </a:xfrm>
          <a:prstGeom prst="rect">
            <a:avLst/>
          </a:prstGeom>
          <a:solidFill>
            <a:srgbClr val="F1F5F9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01168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Automation Mix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270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Per-product breakdown across: RPA · AI/ML · Agent-Based · Conversational Analytics
Shows technology investment split as stacked bar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03911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C3AED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48839"/>
            <a:ext cx="11521440" cy="960120"/>
          </a:xfrm>
          <a:prstGeom prst="rect">
            <a:avLst/>
          </a:prstGeom>
          <a:solidFill>
            <a:srgbClr val="F1F5F9"/>
          </a:solidFill>
          <a:ln w="76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148839"/>
            <a:ext cx="201168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240279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Projected Metrics — 3 Bands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624327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Conservative / Expected / Optimistic projections grounded in uploaded VSM benchmark docs
'Benchmark-grounded' badge confirms projections are data-backed, not AI estimates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136391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97706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246120"/>
            <a:ext cx="11521440" cy="960120"/>
          </a:xfrm>
          <a:prstGeom prst="rect">
            <a:avLst/>
          </a:prstGeom>
          <a:solidFill>
            <a:srgbClr val="F1F5F9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246120"/>
            <a:ext cx="20116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337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Capability Modernisation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7216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RICE scoring per capability: Reach × Impact × Confidence ÷ Effort
Business impact · Complexity rating · Recommended tech stack · Auto-feeds Product Roadmap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389120"/>
            <a:ext cx="11521440" cy="713232"/>
          </a:xfrm>
          <a:prstGeom prst="rect">
            <a:avLst/>
          </a:prstGeom>
          <a:solidFill>
            <a:srgbClr val="FFFBEB"/>
          </a:solidFill>
          <a:ln w="76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531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💡  What 'Benchmark-Grounded' means: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0916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When VSM_BENCHMARKS or TRANSFORMATION_CASE_STUDIES documents are uploaded to Context Hub, the Future State agent reads them and derives projections from real industry data rather than generic multipliers. A 'Benchmark-grounded' badge appears in the header confirming this.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166360"/>
            <a:ext cx="2103120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52303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56601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Products with Vision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32888" y="5166360"/>
            <a:ext cx="2103120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32888" y="52303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32888" y="56601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Metric Bands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45736" y="5166360"/>
            <a:ext cx="2103120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52303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5736" y="56601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Benchmark Docs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58583" y="5166360"/>
            <a:ext cx="2103120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58583" y="52303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</a:rPr>
              <a:t>234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8583" y="56601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Roadmap Items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71432" y="5166360"/>
            <a:ext cx="2103120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71432" y="52303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</a:rPr>
              <a:t>~70%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1432" y="56601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FS Accuracy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65392"/>
            <a:ext cx="12188952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601968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</a:rPr>
              <a:t>TransformHub  ·  Senior Leadership Demo  ·  March 2026  ·  http://localhost:3000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754880"/>
            <a:ext cx="12188952" cy="1783080"/>
          </a:xfrm>
          <a:prstGeom prst="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754880"/>
            <a:ext cx="20116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4828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💬  TALKING POINTS</a:t>
            </a:r>
          </a:p>
        </p:txBody>
      </p:sp>
      <p:sp>
        <p:nvSpPr>
          <p:cNvPr id="42" name="Oval 41"/>
          <p:cNvSpPr/>
          <p:nvPr/>
        </p:nvSpPr>
        <p:spPr>
          <a:xfrm>
            <a:off x="29260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CLICK: Future State → note the 'Benchmark-grounded' badge in the header — hover it to see which docs are grounding the projections</a:t>
            </a:r>
          </a:p>
        </p:txBody>
      </p:sp>
      <p:sp>
        <p:nvSpPr>
          <p:cNvPr id="44" name="Oval 43"/>
          <p:cNvSpPr/>
          <p:nvPr/>
        </p:nvSpPr>
        <p:spPr>
          <a:xfrm>
            <a:off x="29260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CLICK: Automation Mix chart → show LoanFlow Digital: 30% RPA, 40% AI/ML, 20% Agent-Based — ask 'does this match your current roadmap thinking?'</a:t>
            </a:r>
          </a:p>
        </p:txBody>
      </p:sp>
      <p:sp>
        <p:nvSpPr>
          <p:cNvPr id="46" name="Oval 45"/>
          <p:cNvSpPr/>
          <p:nvPr/>
        </p:nvSpPr>
        <p:spPr>
          <a:xfrm>
            <a:off x="29260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CLICK: Expand any product → Projected Metrics table → point to Conservative/Expected/Optimistic bands with specific FE targets</a:t>
            </a:r>
          </a:p>
        </p:txBody>
      </p:sp>
      <p:sp>
        <p:nvSpPr>
          <p:cNvPr id="48" name="Oval 47"/>
          <p:cNvSpPr/>
          <p:nvPr/>
        </p:nvSpPr>
        <p:spPr>
          <a:xfrm>
            <a:off x="619048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The Conservative band assumes 20% of benchmark improvement, Expected = 50%, Optimistic = 80% — conservative is the planning number</a:t>
            </a:r>
          </a:p>
        </p:txBody>
      </p:sp>
      <p:sp>
        <p:nvSpPr>
          <p:cNvPr id="50" name="Oval 49"/>
          <p:cNvSpPr/>
          <p:nvPr/>
        </p:nvSpPr>
        <p:spPr>
          <a:xfrm>
            <a:off x="619048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CLICK: Capability Modernisation list → sort by RICE score → top item is the highest ROI transformation candidate</a:t>
            </a:r>
          </a:p>
        </p:txBody>
      </p:sp>
      <p:sp>
        <p:nvSpPr>
          <p:cNvPr id="52" name="Oval 51"/>
          <p:cNvSpPr/>
          <p:nvPr/>
        </p:nvSpPr>
        <p:spPr>
          <a:xfrm>
            <a:off x="619048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Future State output auto-saves as an AGENT_OUTPUT context doc — the Roadmap agent reads it to generate roadmap items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Step 4  ·  Risk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Hard risk gates · SHA-256 tamper-proof audit trail · regulatory framework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7315200" cy="713232"/>
          </a:xfrm>
          <a:prstGeom prst="rect">
            <a:avLst/>
          </a:prstGeom>
          <a:solidFill>
            <a:srgbClr val="F1F5F9"/>
          </a:solidFill>
          <a:ln w="762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01168" cy="7132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43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CRITICAL  ≥ 8.0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53895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BLOCKS transformation gate. Mitigation must be completed and approved before any capability moves to production.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56231"/>
            <a:ext cx="7315200" cy="713232"/>
          </a:xfrm>
          <a:prstGeom prst="rect">
            <a:avLst/>
          </a:prstGeom>
          <a:solidFill>
            <a:srgbClr val="F1F5F9"/>
          </a:solidFill>
          <a:ln w="76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856231"/>
            <a:ext cx="201168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9476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HIGH  6.0 – 7.9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5856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Transformation allowed with an approved mitigation plan. Plan tracked as mandatory pre-condition in roadmap.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60904"/>
            <a:ext cx="7315200" cy="713232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660904"/>
            <a:ext cx="201168" cy="7132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7523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MEDIUM  4.0 – 5.9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0632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Advisory. Mitigation recommended but does not block the transformation gate.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465576"/>
            <a:ext cx="7315200" cy="713232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465576"/>
            <a:ext cx="201168" cy="7132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557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LOW  &lt; 4.0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86791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Informational. Logged in audit trail. No action required before transformation proceeds.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1051560"/>
            <a:ext cx="4069080" cy="3218688"/>
          </a:xfrm>
          <a:prstGeom prst="rect">
            <a:avLst/>
          </a:prstGeom>
          <a:solidFill>
            <a:srgbClr val="FEF2F2"/>
          </a:solidFill>
          <a:ln w="762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8120" y="1051560"/>
            <a:ext cx="4069080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1106424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REGULATORY FRAMEWORKS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1453895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</a:rPr>
              <a:t>US Bank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1691639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FINRA · SEC · SOX · FDIC · BSA/AML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190195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</a:rPr>
              <a:t>Telstra 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2139696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HL7 FHIR · HIPAA · GDPR · TGA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235000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</a:rPr>
              <a:t>ING Bank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2587752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Basel III · MiFID II · SOLVENCY II · DORA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2798063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</a:rPr>
              <a:t>SHA-256 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3035807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Each entry hashes prev — tamper-proof 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324612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</a:rPr>
              <a:t>Risk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8" y="3483863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Auto-generates mitigation plan per risk item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369417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</a:rPr>
              <a:t>Gate Logic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3931920"/>
            <a:ext cx="3886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Score ≥ 8.0 → transitionBlocked = TRUE in DB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297679"/>
            <a:ext cx="7315200" cy="804672"/>
          </a:xfrm>
          <a:prstGeom prst="rect">
            <a:avLst/>
          </a:prstGeom>
          <a:solidFill>
            <a:srgbClr val="FEF2F2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3616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🔒  SHA-256 Chained Audit Trail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636008"/>
            <a:ext cx="7040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Each log entry stores: Action · Actor · Payload · PayloadHash(previous+current). If any entry is altered, the hash chain breaks — immediately detectable. Required for SOX/FDIC/GDPR compliance.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166360"/>
            <a:ext cx="2103120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52303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C2626"/>
                </a:solidFill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56601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Risk Assessments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32888" y="5166360"/>
            <a:ext cx="2103120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32888" y="52303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32888" y="56601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Compliance Maps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45736" y="5166360"/>
            <a:ext cx="2103120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45736" y="52303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45736" y="56601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Frameworks / Org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58583" y="5166360"/>
            <a:ext cx="2103120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58583" y="52303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58583" y="56601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Audit Entries / Org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71432" y="5166360"/>
            <a:ext cx="2103120" cy="777240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71432" y="5230368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SHA-256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71432" y="56601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Chain Type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65392"/>
            <a:ext cx="12188952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601968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</a:rPr>
              <a:t>TransformHub  ·  Senior Leadership Demo  ·  March 2026  ·  http://localhost:3000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754880"/>
            <a:ext cx="12188952" cy="1783080"/>
          </a:xfrm>
          <a:prstGeom prst="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4754880"/>
            <a:ext cx="20116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4828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💬  TALKING POINTS</a:t>
            </a:r>
          </a:p>
        </p:txBody>
      </p:sp>
      <p:sp>
        <p:nvSpPr>
          <p:cNvPr id="59" name="Oval 58"/>
          <p:cNvSpPr/>
          <p:nvPr/>
        </p:nvSpPr>
        <p:spPr>
          <a:xfrm>
            <a:off x="29260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CLICK: Risk &amp; Compliance → point to the CRITICAL risk item — show the 'Transition BLOCKED' badge on the capability card</a:t>
            </a:r>
          </a:p>
        </p:txBody>
      </p:sp>
      <p:sp>
        <p:nvSpPr>
          <p:cNvPr id="61" name="Oval 60"/>
          <p:cNvSpPr/>
          <p:nvPr/>
        </p:nvSpPr>
        <p:spPr>
          <a:xfrm>
            <a:off x="29260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Explain the gate: until this risk score drops below 8.0, no transformation agent will move that capability forward</a:t>
            </a:r>
          </a:p>
        </p:txBody>
      </p:sp>
      <p:sp>
        <p:nvSpPr>
          <p:cNvPr id="63" name="Oval 62"/>
          <p:cNvSpPr/>
          <p:nvPr/>
        </p:nvSpPr>
        <p:spPr>
          <a:xfrm>
            <a:off x="29260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CLICK: Compliance Mappings tab → show FDIC + SOX requirements mapped to specific capabilities with evidence links</a:t>
            </a:r>
          </a:p>
        </p:txBody>
      </p:sp>
      <p:sp>
        <p:nvSpPr>
          <p:cNvPr id="65" name="Oval 64"/>
          <p:cNvSpPr/>
          <p:nvPr/>
        </p:nvSpPr>
        <p:spPr>
          <a:xfrm>
            <a:off x="619048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8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CLICK: Audit Log tab → scroll through SHA-256 chained entries — point to 'previousHash' field linking entries together</a:t>
            </a:r>
          </a:p>
        </p:txBody>
      </p:sp>
      <p:sp>
        <p:nvSpPr>
          <p:cNvPr id="67" name="Oval 66"/>
          <p:cNvSpPr/>
          <p:nvPr/>
        </p:nvSpPr>
        <p:spPr>
          <a:xfrm>
            <a:off x="619048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5508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Ask the audience: 'For your most regulated product, what frameworks would you need mapped?' — write it down for follow-up</a:t>
            </a:r>
          </a:p>
        </p:txBody>
      </p:sp>
      <p:sp>
        <p:nvSpPr>
          <p:cNvPr id="69" name="Oval 68"/>
          <p:cNvSpPr/>
          <p:nvPr/>
        </p:nvSpPr>
        <p:spPr>
          <a:xfrm>
            <a:off x="619048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5508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The Risk agent takes ~60 seconds to run — offer to run it live during Q&amp;A to show real-time risk identification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Step 5  ·  Accuracy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Per-module AI output quality with composite scoring and live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</a:rPr>
              <a:t>MODULE SCORES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17319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417319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6A34A"/>
                </a:solidFill>
              </a:rPr>
              <a:t>85%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45919"/>
            <a:ext cx="4572000" cy="12801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45919"/>
            <a:ext cx="3886200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92807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Lean VSM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892807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6A34A"/>
                </a:solidFill>
              </a:rPr>
              <a:t>72%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21408"/>
            <a:ext cx="4572000" cy="12801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121408"/>
            <a:ext cx="3291840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36829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Future State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36829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6A34A"/>
                </a:solidFill>
              </a:rPr>
              <a:t>70%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96896"/>
            <a:ext cx="4572000" cy="12801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596896"/>
            <a:ext cx="3200400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84378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Knowledge Base /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84378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6A34A"/>
                </a:solidFill>
              </a:rPr>
              <a:t>70%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72384"/>
            <a:ext cx="4572000" cy="12801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072384"/>
            <a:ext cx="3200400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31927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Product Transformation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31927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D97706"/>
                </a:solidFill>
              </a:rPr>
              <a:t>55%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47872"/>
            <a:ext cx="4572000" cy="12801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547872"/>
            <a:ext cx="2514600" cy="1280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7947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Risk &amp; 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79476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D97706"/>
                </a:solidFill>
              </a:rPr>
              <a:t>35%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023360"/>
            <a:ext cx="4572000" cy="12801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023360"/>
            <a:ext cx="1600200" cy="1280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27024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42702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D97706"/>
                </a:solidFill>
              </a:rPr>
              <a:t>40%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498848"/>
            <a:ext cx="4572000" cy="12801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498848"/>
            <a:ext cx="1828800" cy="1280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4800600"/>
            <a:ext cx="4846320" cy="548640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87375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COMPOSITE SCORE  (weighted average)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51663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Discovery×20% + VSM×18% + FutureState×15% + KB×15% + Risk×12% + PT×12% + Arch×8%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516636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4F46E5"/>
                </a:solidFill>
              </a:rPr>
              <a:t>68%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394960"/>
            <a:ext cx="4846320" cy="12801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5394960"/>
            <a:ext cx="3295497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94960" y="1051560"/>
            <a:ext cx="2743200" cy="1828800"/>
          </a:xfrm>
          <a:prstGeom prst="rect">
            <a:avLst/>
          </a:prstGeom>
          <a:solidFill>
            <a:srgbClr val="F1F5F9"/>
          </a:solidFill>
          <a:ln w="63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94960" y="1051560"/>
            <a:ext cx="2743200" cy="3291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59552" y="1115568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SCORE LEGEND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59552" y="1472184"/>
            <a:ext cx="18288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15584" y="147218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80–100%  —  Excellent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59552" y="1819655"/>
            <a:ext cx="18288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15584" y="1819655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65–79%  —  Good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59552" y="2167128"/>
            <a:ext cx="182880" cy="2011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15584" y="21671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45–64%  —  Fair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59552" y="2514600"/>
            <a:ext cx="18288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15584" y="25146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0–44%  —  Needs Work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94960" y="3017520"/>
            <a:ext cx="2743200" cy="1261872"/>
          </a:xfrm>
          <a:prstGeom prst="rect">
            <a:avLst/>
          </a:prstGeom>
          <a:solidFill>
            <a:srgbClr val="FFFBEB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394960" y="3017520"/>
            <a:ext cx="274320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59552" y="307238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ACCURACY BADGES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59552" y="3410712"/>
            <a:ext cx="25420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Every module page header shows a live accuracy badge (green/amber/red). Click any badge to jump directly to this Accuracy Dashboard.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66760" y="1051560"/>
            <a:ext cx="3749039" cy="4279392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366760" y="1051560"/>
            <a:ext cx="3749039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31352" y="111556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⚡  TOP IMPROVEMENT ACTIONS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58200" y="1508760"/>
            <a:ext cx="384048" cy="21945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58200" y="1508760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06256" y="150876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Run Risk Agent → push Risk 35% → 80%+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06256" y="1764792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Risk agent covers all 26 capabilities vs current 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58200" y="2194560"/>
            <a:ext cx="384048" cy="21945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58200" y="2194560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06256" y="219456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Upload VSM Benchmarks to Context Hub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06256" y="2450591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Unlocks benchmark-grounded Future State projections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58200" y="2880360"/>
            <a:ext cx="384048" cy="21945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58200" y="2880360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06256" y="288036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Add OpenAPI + DB schema as enrichment sources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06256" y="3136391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Each source adds 15–20% confidence per entity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58200" y="3566160"/>
            <a:ext cx="384048" cy="21945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58200" y="3566160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06256" y="356616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Run Architecture agent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06256" y="3822191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Architecture module currently at 0% — one run → ~60%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58200" y="4251960"/>
            <a:ext cx="384048" cy="21945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58200" y="4251960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06256" y="425196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Upload ARCHITECTURE_STANDARDS docs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06256" y="4507992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KB category missing → adds 8pts to KB composite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565392"/>
            <a:ext cx="12188952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20" y="6601968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</a:rPr>
              <a:t>TransformHub  ·  Senior Leadership Demo  ·  March 2026  ·  http://localhost:3000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4754880"/>
            <a:ext cx="12188952" cy="1783080"/>
          </a:xfrm>
          <a:prstGeom prst="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0" y="4754880"/>
            <a:ext cx="20116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4320" y="4828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💬  TALKING POINTS</a:t>
            </a:r>
          </a:p>
        </p:txBody>
      </p:sp>
      <p:sp>
        <p:nvSpPr>
          <p:cNvPr id="83" name="Oval 82"/>
          <p:cNvSpPr/>
          <p:nvPr/>
        </p:nvSpPr>
        <p:spPr>
          <a:xfrm>
            <a:off x="29260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720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CLICK: Accuracy from sidebar → point to the composite score first: ~68% 'Good' — then explain why each module scored as it did</a:t>
            </a:r>
          </a:p>
        </p:txBody>
      </p:sp>
      <p:sp>
        <p:nvSpPr>
          <p:cNvPr id="85" name="Oval 84"/>
          <p:cNvSpPr/>
          <p:nvPr/>
        </p:nvSpPr>
        <p:spPr>
          <a:xfrm>
            <a:off x="29260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Discovery 85% = high confidence avg (85%) + 100% source triangulation + 7 unique evidence types</a:t>
            </a:r>
          </a:p>
        </p:txBody>
      </p:sp>
      <p:sp>
        <p:nvSpPr>
          <p:cNvPr id="87" name="Oval 86"/>
          <p:cNvSpPr/>
          <p:nvPr/>
        </p:nvSpPr>
        <p:spPr>
          <a:xfrm>
            <a:off x="29260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Risk 35% = only 4 assessments mapped vs 26 capabilities — 'run the Risk agent now and watch this jump to 80%+'</a:t>
            </a:r>
          </a:p>
        </p:txBody>
      </p:sp>
      <p:sp>
        <p:nvSpPr>
          <p:cNvPr id="89" name="Oval 88"/>
          <p:cNvSpPr/>
          <p:nvPr/>
        </p:nvSpPr>
        <p:spPr>
          <a:xfrm>
            <a:off x="619048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5508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CLICK: Expand the Discovery module card → show source distribution breakdown (GitHub, OpenAPI, DB, tests etc.)</a:t>
            </a:r>
          </a:p>
        </p:txBody>
      </p:sp>
      <p:sp>
        <p:nvSpPr>
          <p:cNvPr id="91" name="Oval 90"/>
          <p:cNvSpPr/>
          <p:nvPr/>
        </p:nvSpPr>
        <p:spPr>
          <a:xfrm>
            <a:off x="619048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5508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CLICK: Scroll to Action Plan → show the 5 prioritised improvement steps — each one links to the relevant module</a:t>
            </a:r>
          </a:p>
        </p:txBody>
      </p:sp>
      <p:sp>
        <p:nvSpPr>
          <p:cNvPr id="93" name="Oval 92"/>
          <p:cNvSpPr/>
          <p:nvPr/>
        </p:nvSpPr>
        <p:spPr>
          <a:xfrm>
            <a:off x="619048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5508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The badges on every page header make accuracy visible at all times — analysts never have to wonder about data quality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Step 6  ·  Live Entry Demo (Optional)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Create a new org and watch AI agents populate data from scratch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5760720" cy="713232"/>
          </a:xfrm>
          <a:prstGeom prst="rect">
            <a:avLst/>
          </a:prstGeom>
          <a:solidFill>
            <a:srgbClr val="F1F5F9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1479" y="1243584"/>
            <a:ext cx="310896" cy="31089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064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Login as Live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9903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live@transformhub.ai  /  live1234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106424"/>
            <a:ext cx="26974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</a:rPr>
              <a:t>💡 Dashboard empty — no pre-seeded data, blank slate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051560"/>
            <a:ext cx="5760720" cy="713232"/>
          </a:xfrm>
          <a:prstGeom prst="rect">
            <a:avLst/>
          </a:prstGeom>
          <a:solidFill>
            <a:srgbClr val="F1F5F9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799" y="1243584"/>
            <a:ext cx="310896" cy="31089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999" y="11064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Create Organisation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7999" y="139903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Organizations → + New 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19" y="1106424"/>
            <a:ext cx="26974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</a:rPr>
              <a:t>💡 Enter company name, industry type, business segments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874519"/>
            <a:ext cx="5760720" cy="713232"/>
          </a:xfrm>
          <a:prstGeom prst="rect">
            <a:avLst/>
          </a:prstGeom>
          <a:solidFill>
            <a:srgbClr val="F1F5F9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1479" y="2066543"/>
            <a:ext cx="310896" cy="31089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9293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Run Discovery — Pass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22199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Discovery → Paste GitHub URL → 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929384"/>
            <a:ext cx="26974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</a:rPr>
              <a:t>💡 Recommended: github.com/stripe/stripe-node (public, well-structured)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1874519"/>
            <a:ext cx="5760720" cy="713232"/>
          </a:xfrm>
          <a:prstGeom prst="rect">
            <a:avLst/>
          </a:prstGeom>
          <a:solidFill>
            <a:srgbClr val="F1F5F9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799" y="2066543"/>
            <a:ext cx="310896" cy="31089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999" y="19293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Review Pass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999" y="222199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Products stream in → Edit inline → Approve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1929384"/>
            <a:ext cx="26974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</a:rPr>
              <a:t>💡 Human review gate — edit product names to match your terminology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697480"/>
            <a:ext cx="5760720" cy="713232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1479" y="2889504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27523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Run Pass 2 + 3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0449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Capabilities then functionalities auto-run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2752344"/>
            <a:ext cx="26974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</a:rPr>
              <a:t>💡 Each entity gets confidence score + evidence sources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2697480"/>
            <a:ext cx="5760720" cy="713232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799" y="2889504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7999" y="27523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Run Lean VSM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7999" y="30449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VSM page → Run Lean VSM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19" y="2752344"/>
            <a:ext cx="26974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</a:rPr>
              <a:t>💡 ~30s — flow metrics + Mermaid diagrams generated for all caps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520440"/>
            <a:ext cx="11704320" cy="713232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11479" y="3712464"/>
            <a:ext cx="310896" cy="31089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35753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Check Accuracy Page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38679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Accuracy from sidebar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575304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</a:rPr>
              <a:t>💡 Watch composite rise from 0% → ~45% after first agent cycle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361688"/>
            <a:ext cx="11704320" cy="713232"/>
          </a:xfrm>
          <a:prstGeom prst="rect">
            <a:avLst/>
          </a:prstGeom>
          <a:solidFill>
            <a:srgbClr val="ECFEFF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43484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RECOMMENDED DEMO REPOS  (all public):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7274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→  github.com/stripe/stripe-node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94690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Payments — clear API, well-documented, multi-capability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7274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→  github.com/plaid/plaid-python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494690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Fintech — financial data, strong compliance signals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47274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→  github.com/twilio/twilio-python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494690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Communications — multi-product, good for discovery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65392"/>
            <a:ext cx="12188952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601968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</a:rPr>
              <a:t>TransformHub  ·  Senior Leadership Demo  ·  March 2026  ·  http://localhost:3000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754880"/>
            <a:ext cx="12188952" cy="1783080"/>
          </a:xfrm>
          <a:prstGeom prst="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4754880"/>
            <a:ext cx="20116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4828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💬  TALKING POINTS</a:t>
            </a:r>
          </a:p>
        </p:txBody>
      </p:sp>
      <p:sp>
        <p:nvSpPr>
          <p:cNvPr id="53" name="Oval 52"/>
          <p:cNvSpPr/>
          <p:nvPr/>
        </p:nvSpPr>
        <p:spPr>
          <a:xfrm>
            <a:off x="29260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Login as live@transformhub.ai — point out the empty dashboard: 'No data — we're going to fill this with AI agents in real-time'</a:t>
            </a:r>
          </a:p>
        </p:txBody>
      </p:sp>
      <p:sp>
        <p:nvSpPr>
          <p:cNvPr id="55" name="Oval 54"/>
          <p:cNvSpPr/>
          <p:nvPr/>
        </p:nvSpPr>
        <p:spPr>
          <a:xfrm>
            <a:off x="29260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Create the org first: use a company name the audience knows or respects — makes the output immediately relatable</a:t>
            </a:r>
          </a:p>
        </p:txBody>
      </p:sp>
      <p:sp>
        <p:nvSpPr>
          <p:cNvPr id="57" name="Oval 56"/>
          <p:cNvSpPr/>
          <p:nvPr/>
        </p:nvSpPr>
        <p:spPr>
          <a:xfrm>
            <a:off x="29260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Paste stripe/stripe-node GitHub URL — it's public, well-structured, and Discovery returns clean results in ~30 seconds</a:t>
            </a:r>
          </a:p>
        </p:txBody>
      </p:sp>
      <p:sp>
        <p:nvSpPr>
          <p:cNvPr id="59" name="Oval 58"/>
          <p:cNvSpPr/>
          <p:nvPr/>
        </p:nvSpPr>
        <p:spPr>
          <a:xfrm>
            <a:off x="619048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During Pass 1 streaming — narrate what's happening: 'The agent is reading the repo structure, identifying product boundaries...'</a:t>
            </a:r>
          </a:p>
        </p:txBody>
      </p:sp>
      <p:sp>
        <p:nvSpPr>
          <p:cNvPr id="61" name="Oval 60"/>
          <p:cNvSpPr/>
          <p:nvPr/>
        </p:nvSpPr>
        <p:spPr>
          <a:xfrm>
            <a:off x="619048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5508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After Pass 1 approval, note the green confidence badges: 'These are evidence-based, not guesses — each product is backed by 3–4 source types'</a:t>
            </a:r>
          </a:p>
        </p:txBody>
      </p:sp>
      <p:sp>
        <p:nvSpPr>
          <p:cNvPr id="63" name="Oval 62"/>
          <p:cNvSpPr/>
          <p:nvPr/>
        </p:nvSpPr>
        <p:spPr>
          <a:xfrm>
            <a:off x="619048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8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Show the Accuracy page at the very end: composite jumps from 0% to ~45% after one Discovery + VSM cycle — real-time quality scoring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Why TransformHub matters for enterprise transformation programmes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5760720" cy="1664208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576072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21615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</a:rPr>
              <a:t>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15819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Hours, Not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9384"/>
            <a:ext cx="54406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Multi-pass AI discovery maps an enterprise product portfolio in under 10 minutes.
Traditional baselining takes 6–12 months of manual workshops and analyst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051560"/>
            <a:ext cx="5760720" cy="1664208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051560"/>
            <a:ext cx="576072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16151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121615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15819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Evidence-Based 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9384"/>
            <a:ext cx="54406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8 evidence source triangulation. 78–97% confidence per entity.
Human-in-the-loop review gates at every step — no black-box AI.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80360"/>
            <a:ext cx="5760720" cy="1664208"/>
          </a:xfrm>
          <a:prstGeom prst="rect">
            <a:avLst/>
          </a:prstGeom>
          <a:solidFill>
            <a:srgbClr val="F1F5F9"/>
          </a:solidFill>
          <a:ln w="76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880360"/>
            <a:ext cx="576072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449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30449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Cost Reduction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4107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One Platform, Not Six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58183"/>
            <a:ext cx="54406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Replaces: process mining, risk management, roadmap planning,
compliance tracking, architecture review, and knowledge management tools.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2880360"/>
            <a:ext cx="5760720" cy="1664208"/>
          </a:xfrm>
          <a:prstGeom prst="rect">
            <a:avLst/>
          </a:prstGeom>
          <a:solidFill>
            <a:srgbClr val="F1F5F9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2880360"/>
            <a:ext cx="576072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0449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</a:rP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30449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34107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Audit-Ready by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758183"/>
            <a:ext cx="54406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SHA-256 chained immutable audit trail.
SOX, FDIC, GDPR, HIPAA, Basel III, MiFID II framework coverage built in.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88952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601968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</a:rPr>
              <a:t>TransformHub  ·  Senior Leadership Demo  ·  March 2026  ·  http://localhost:3000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754880"/>
            <a:ext cx="12188952" cy="1783080"/>
          </a:xfrm>
          <a:prstGeom prst="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54880"/>
            <a:ext cx="20116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828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💬  TALKING POINTS</a:t>
            </a:r>
          </a:p>
        </p:txBody>
      </p:sp>
      <p:sp>
        <p:nvSpPr>
          <p:cNvPr id="34" name="Oval 33"/>
          <p:cNvSpPr/>
          <p:nvPr/>
        </p:nvSpPr>
        <p:spPr>
          <a:xfrm>
            <a:off x="29260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SPEED: A typical transformation programme spends 30–40% of its budget just on current-state baselining — TransformHub eliminates this</a:t>
            </a:r>
          </a:p>
        </p:txBody>
      </p:sp>
      <p:sp>
        <p:nvSpPr>
          <p:cNvPr id="36" name="Oval 35"/>
          <p:cNvSpPr/>
          <p:nvPr/>
        </p:nvSpPr>
        <p:spPr>
          <a:xfrm>
            <a:off x="29260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ACCURACY: Every entity has a confidence score and source list — when an auditor asks 'how do you know this capability exists?', show them the 4 evidence sources</a:t>
            </a:r>
          </a:p>
        </p:txBody>
      </p:sp>
      <p:sp>
        <p:nvSpPr>
          <p:cNvPr id="38" name="Oval 37"/>
          <p:cNvSpPr/>
          <p:nvPr/>
        </p:nvSpPr>
        <p:spPr>
          <a:xfrm>
            <a:off x="29260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COST: A conservative estimate: replacing 6 tools at £50k/year each = £300k/year saved, plus the analyst headcount previously doing manual baselining</a:t>
            </a:r>
          </a:p>
        </p:txBody>
      </p:sp>
      <p:sp>
        <p:nvSpPr>
          <p:cNvPr id="40" name="Oval 39"/>
          <p:cNvSpPr/>
          <p:nvPr/>
        </p:nvSpPr>
        <p:spPr>
          <a:xfrm>
            <a:off x="619048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COMPLIANCE: SHA-256 chaining means the audit trail is legally defensible — every action is timestamped, hashed, and linked to the previous entry</a:t>
            </a:r>
          </a:p>
        </p:txBody>
      </p:sp>
      <p:sp>
        <p:nvSpPr>
          <p:cNvPr id="42" name="Oval 41"/>
          <p:cNvSpPr/>
          <p:nvPr/>
        </p:nvSpPr>
        <p:spPr>
          <a:xfrm>
            <a:off x="619048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The Human-in-the-Loop design is deliberate: AI proposes, humans approve. This is critical for regulated industries where AI alone cannot make decisions</a:t>
            </a:r>
          </a:p>
        </p:txBody>
      </p:sp>
      <p:sp>
        <p:nvSpPr>
          <p:cNvPr id="44" name="Oval 43"/>
          <p:cNvSpPr/>
          <p:nvPr/>
        </p:nvSpPr>
        <p:spPr>
          <a:xfrm>
            <a:off x="619048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All 4 pillars are visible in the platform — offer to show any one of them live in Q&amp;A (accuracy → Discovery page, compliance → Risk page, etc.)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Pre-Demo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Run this 15 minutes before the meeting — not 1 minute before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5349240" cy="3429000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5349240" cy="3291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✓  SERVICES RUNNING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9047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Next.js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64792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http://localhost:3000  →  redirects to /login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0574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FastAPI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331720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curl localhost:8000/api/v1/health  →  {status: healthy}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70048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6243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898648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Postgres.app in menu bar shows green dot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36975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1912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Demo data seeded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465575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3 orgs in switcher: US Bank · Telstra Health · ING Bank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03903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758183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Accuracy page loads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032503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Composite score visible (~68%) for US Bank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1051560"/>
            <a:ext cx="5943600" cy="3429000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97880" y="1051560"/>
            <a:ext cx="5943600" cy="3291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115568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✓  BROWSER SETUP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536192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14904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Open incognito window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176479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Prevents cached session from a different account causing issues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103120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20574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Zoom to 90%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233172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Ensures all table columns are fully visible without horizontal scroll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670048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26243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Pre-logged in as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289864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demo@transformhub.ai / demo1234  —  US Bank loaded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236975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31912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KPI cards populated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465575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Dashboard shows: 9 products, 26 capabilities, 79 functionalities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3803903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7648" y="3758183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This guide open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4032503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Open demo-guide.html in a separate browser tab for reference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599431"/>
            <a:ext cx="5806440" cy="8046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672583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# Terminal 1 — Backend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87375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cd TransformHub/agent-service &amp;&amp; source venv/bin/activate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0749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</a:rPr>
              <a:t>uvicorn app.main:app --reload --port 8000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27608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# Terminal 2 — Frontend   cd TransformHub/nextjs-app &amp;&amp; npm run dev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4599431"/>
            <a:ext cx="5440680" cy="804672"/>
          </a:xfrm>
          <a:prstGeom prst="rect">
            <a:avLst/>
          </a:prstGeom>
          <a:solidFill>
            <a:srgbClr val="FFFBEB"/>
          </a:solidFill>
          <a:ln w="76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464515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⚠  QUICK FIXES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4910327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Wrong org: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4910327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localStorage.removeItem('currentOrgId') in console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5129783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Port 3000 busy: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5129783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kill $(lsof -ti:3000)  then restart Next.js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53492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No data: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5349240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cd nextjs-app &amp;&amp; npx tsx prisma/seed.ts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65392"/>
            <a:ext cx="12188952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601968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</a:rPr>
              <a:t>TransformHub  ·  Senior Leadership Demo  ·  March 2026  ·  http://localhost:3000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754880"/>
            <a:ext cx="12188952" cy="1783080"/>
          </a:xfrm>
          <a:prstGeom prst="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4754880"/>
            <a:ext cx="20116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4828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💬  TALKING POINTS</a:t>
            </a:r>
          </a:p>
        </p:txBody>
      </p:sp>
      <p:sp>
        <p:nvSpPr>
          <p:cNvPr id="59" name="Oval 58"/>
          <p:cNvSpPr/>
          <p:nvPr/>
        </p:nvSpPr>
        <p:spPr>
          <a:xfrm>
            <a:off x="29260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The most common demo failure: wrong org auto-loads. Fix: localStorage.removeItem('currentOrgId') in browser console, then refresh</a:t>
            </a:r>
          </a:p>
        </p:txBody>
      </p:sp>
      <p:sp>
        <p:nvSpPr>
          <p:cNvPr id="61" name="Oval 60"/>
          <p:cNvSpPr/>
          <p:nvPr/>
        </p:nvSpPr>
        <p:spPr>
          <a:xfrm>
            <a:off x="29260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Port 3000 is shared with Product Coach (another project) — if it's running, kill it first: kill $(lsof -ti:3000)</a:t>
            </a:r>
          </a:p>
        </p:txBody>
      </p:sp>
      <p:sp>
        <p:nvSpPr>
          <p:cNvPr id="63" name="Oval 62"/>
          <p:cNvSpPr/>
          <p:nvPr/>
        </p:nvSpPr>
        <p:spPr>
          <a:xfrm>
            <a:off x="29260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Run the health check BEFORE the meeting: curl localhost:8000/api/v1/health — if database shows disconnected, restart Postgres.app</a:t>
            </a:r>
          </a:p>
        </p:txBody>
      </p:sp>
      <p:sp>
        <p:nvSpPr>
          <p:cNvPr id="65" name="Oval 64"/>
          <p:cNvSpPr/>
          <p:nvPr/>
        </p:nvSpPr>
        <p:spPr>
          <a:xfrm>
            <a:off x="619048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8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Redis unavailable in the health response is NORMAL — the platform uses in-memory fallback, no impact on demo</a:t>
            </a:r>
          </a:p>
        </p:txBody>
      </p:sp>
      <p:sp>
        <p:nvSpPr>
          <p:cNvPr id="67" name="Oval 66"/>
          <p:cNvSpPr/>
          <p:nvPr/>
        </p:nvSpPr>
        <p:spPr>
          <a:xfrm>
            <a:off x="619048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5508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Have a backup slide ready: if the live demo fails mid-run, switch to the pre-filled US Bank org immediately</a:t>
            </a:r>
          </a:p>
        </p:txBody>
      </p:sp>
      <p:sp>
        <p:nvSpPr>
          <p:cNvPr id="69" name="Oval 68"/>
          <p:cNvSpPr/>
          <p:nvPr/>
        </p:nvSpPr>
        <p:spPr>
          <a:xfrm>
            <a:off x="619048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5508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Pre-position the browser on the Dashboard with US Bank loaded — start the meeting already in the app, not on the login page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9601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F46E5"/>
                </a:solidFill>
              </a:rPr>
              <a:t>Ready to Transform.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75569"/>
                </a:solidFill>
              </a:rPr>
              <a:t>AI-powered enterprise transformation — from discovery to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1719072" cy="914400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12848"/>
            <a:ext cx="1719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42616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Enterprise
Demo Orgs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5728" y="2148840"/>
            <a:ext cx="1719072" cy="914400"/>
          </a:xfrm>
          <a:prstGeom prst="rect">
            <a:avLst/>
          </a:prstGeom>
          <a:solidFill>
            <a:srgbClr val="F1F5F9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95728" y="2212848"/>
            <a:ext cx="1719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2642616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Core
Modules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2148840"/>
            <a:ext cx="1719072" cy="914400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2212848"/>
            <a:ext cx="1719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6" y="2642616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AI
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2148840"/>
            <a:ext cx="1719072" cy="914400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2212848"/>
            <a:ext cx="1719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642616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Capabilities
Mapped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11312" y="2148840"/>
            <a:ext cx="1719072" cy="914400"/>
          </a:xfrm>
          <a:prstGeom prst="rect">
            <a:avLst/>
          </a:prstGeom>
          <a:solidFill>
            <a:srgbClr val="F1F5F9"/>
          </a:solidFill>
          <a:ln w="762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2212848"/>
            <a:ext cx="1719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46E5"/>
                </a:solidFill>
              </a:rPr>
              <a:t>245+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642616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Functionalities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9840" y="2148840"/>
            <a:ext cx="1719072" cy="914400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2212848"/>
            <a:ext cx="1719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</a:rPr>
              <a:t>~68%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2642616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Composite
Accuracy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91840"/>
            <a:ext cx="11247120" cy="1417320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83280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🌐  http://localhost:3000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71246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75569"/>
                </a:solidFill>
              </a:rPr>
              <a:t>Pre-Filled Demo: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712463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demo@transformhub.ai  /  demo1234   — Use for leadership demos — 3 enterprise orgs, full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01421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75569"/>
                </a:solidFill>
              </a:rPr>
              <a:t>Live Entry Demo: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014215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live@transformhub.ai  /  live1234   — Use for technical walkthroughs — blank org, run agents 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15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75569"/>
                </a:solidFill>
              </a:rPr>
              <a:t>Admin: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31596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admin@transformhub.ai  /  demo1234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956048"/>
            <a:ext cx="2190902" cy="347472"/>
          </a:xfrm>
          <a:prstGeom prst="rect">
            <a:avLst/>
          </a:prstGeom>
          <a:solidFill>
            <a:srgbClr val="EEF2FF"/>
          </a:solidFill>
          <a:ln w="50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001768"/>
            <a:ext cx="205374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</a:rPr>
              <a:t>Next.js 15 + TypeScript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39542" y="4956048"/>
            <a:ext cx="1854403" cy="347472"/>
          </a:xfrm>
          <a:prstGeom prst="rect">
            <a:avLst/>
          </a:prstGeom>
          <a:solidFill>
            <a:srgbClr val="EEF2FF"/>
          </a:solidFill>
          <a:ln w="50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0982" y="5001768"/>
            <a:ext cx="17172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</a:rPr>
              <a:t>FastAPI + LangGraph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85385" y="4956048"/>
            <a:ext cx="2275027" cy="347472"/>
          </a:xfrm>
          <a:prstGeom prst="rect">
            <a:avLst/>
          </a:prstGeom>
          <a:solidFill>
            <a:srgbClr val="EEF2FF"/>
          </a:solidFill>
          <a:ln w="50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76825" y="5001768"/>
            <a:ext cx="213786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</a:rPr>
              <a:t>PostgreSQL 18 + pgvector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51852" y="4956048"/>
            <a:ext cx="1265529" cy="347472"/>
          </a:xfrm>
          <a:prstGeom prst="rect">
            <a:avLst/>
          </a:prstGeom>
          <a:solidFill>
            <a:srgbClr val="EEF2FF"/>
          </a:solidFill>
          <a:ln w="50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43292" y="5001768"/>
            <a:ext cx="112836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</a:rPr>
              <a:t>18 AI Agents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08822" y="4956048"/>
            <a:ext cx="1686153" cy="347472"/>
          </a:xfrm>
          <a:prstGeom prst="rect">
            <a:avLst/>
          </a:prstGeom>
          <a:solidFill>
            <a:srgbClr val="EEF2FF"/>
          </a:solidFill>
          <a:ln w="50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0262" y="5001768"/>
            <a:ext cx="154899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</a:rPr>
              <a:t>BM25 + Vector RAG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86416" y="4956048"/>
            <a:ext cx="1854403" cy="347472"/>
          </a:xfrm>
          <a:prstGeom prst="rect">
            <a:avLst/>
          </a:prstGeom>
          <a:solidFill>
            <a:srgbClr val="EEF2FF"/>
          </a:solidFill>
          <a:ln w="50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77856" y="5001768"/>
            <a:ext cx="17172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</a:rPr>
              <a:t>SHA-256 Audit Trail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132259" y="4956048"/>
            <a:ext cx="1265529" cy="347472"/>
          </a:xfrm>
          <a:prstGeom prst="rect">
            <a:avLst/>
          </a:prstGeom>
          <a:solidFill>
            <a:srgbClr val="EEF2FF"/>
          </a:solidFill>
          <a:ln w="50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223699" y="5001768"/>
            <a:ext cx="112836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F46E5"/>
                </a:solidFill>
              </a:rPr>
              <a:t>Multi-Tenant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65392"/>
            <a:ext cx="12188952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601968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</a:rPr>
              <a:t>TransformHub  ·  Senior Leadership Demo  ·  March 2026  ·  http://localhost:3000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4754880"/>
            <a:ext cx="12188952" cy="1783080"/>
          </a:xfrm>
          <a:prstGeom prst="rect">
            <a:avLst/>
          </a:prstGeom>
          <a:solidFill>
            <a:srgbClr val="FFF7E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754880"/>
            <a:ext cx="20116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4828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💬  TALKING POINTS</a:t>
            </a:r>
          </a:p>
        </p:txBody>
      </p:sp>
      <p:sp>
        <p:nvSpPr>
          <p:cNvPr id="50" name="Oval 49"/>
          <p:cNvSpPr/>
          <p:nvPr/>
        </p:nvSpPr>
        <p:spPr>
          <a:xfrm>
            <a:off x="29260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Close with: 'Which of your products would you want us to map first in Discovery?'</a:t>
            </a:r>
          </a:p>
        </p:txBody>
      </p:sp>
      <p:sp>
        <p:nvSpPr>
          <p:cNvPr id="52" name="Oval 51"/>
          <p:cNvSpPr/>
          <p:nvPr/>
        </p:nvSpPr>
        <p:spPr>
          <a:xfrm>
            <a:off x="29260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If budget conversations come up: ROI is hours-to-discovery vs months of analyst workshops — the payback is in the first sprint</a:t>
            </a:r>
          </a:p>
        </p:txBody>
      </p:sp>
      <p:sp>
        <p:nvSpPr>
          <p:cNvPr id="54" name="Oval 53"/>
          <p:cNvSpPr/>
          <p:nvPr/>
        </p:nvSpPr>
        <p:spPr>
          <a:xfrm>
            <a:off x="292608" y="60533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98017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Next steps: provide their GitHub repo URL or website URL and we can have a Discovery output ready in 24 hours</a:t>
            </a:r>
          </a:p>
        </p:txBody>
      </p:sp>
      <p:sp>
        <p:nvSpPr>
          <p:cNvPr id="56" name="Oval 55"/>
          <p:cNvSpPr/>
          <p:nvPr/>
        </p:nvSpPr>
        <p:spPr>
          <a:xfrm>
            <a:off x="6190488" y="5212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1389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The platform is live at localhost:3000 — leave the browser open so they can explore after the meeting</a:t>
            </a:r>
          </a:p>
        </p:txBody>
      </p:sp>
      <p:sp>
        <p:nvSpPr>
          <p:cNvPr id="58" name="Oval 57"/>
          <p:cNvSpPr/>
          <p:nvPr/>
        </p:nvSpPr>
        <p:spPr>
          <a:xfrm>
            <a:off x="6190488" y="563270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55595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Offer to re-seed with their company name and industry so the demo feels personalised next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