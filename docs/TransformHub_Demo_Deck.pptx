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6366F1"/>
                </a:solidFill>
              </a:rPr>
              <a:t>TransformHub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</a:rPr>
              <a:t>Senior Leadership Demo  · 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</a:rPr>
              <a:t>Enterprise Digital Transformation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88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</a:rPr>
              <a:t>Powered by 18 AI Agents  ·  Next.js 15 + FastAPI + LangGraph  ·  PostgreSQL + pgvector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657600"/>
            <a:ext cx="1280160" cy="82296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712463"/>
            <a:ext cx="1097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Enterprise Orgs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3657600"/>
            <a:ext cx="1280160" cy="82296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3712463"/>
            <a:ext cx="1097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11480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Core Modules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657600"/>
            <a:ext cx="1280160" cy="82296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79" y="3712463"/>
            <a:ext cx="1097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59" y="411480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AI Agents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199" y="3657600"/>
            <a:ext cx="1280160" cy="82296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39" y="3712463"/>
            <a:ext cx="1097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19" y="411480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3657600"/>
            <a:ext cx="1280160" cy="82296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399" y="3712463"/>
            <a:ext cx="1097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245+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411480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Functionalities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54880"/>
            <a:ext cx="7132320" cy="73152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864608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366F1"/>
                </a:solidFill>
              </a:rPr>
              <a:t>AI-powered transformation from discovery to delivery — auditable, benchmark-grounded, transparent.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914400"/>
            <a:ext cx="3383280" cy="5029200"/>
          </a:xfrm>
          <a:prstGeom prst="rect">
            <a:avLst/>
          </a:prstGeom>
          <a:solidFill>
            <a:srgbClr val="F9FA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914400"/>
            <a:ext cx="3383280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97840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DEMO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141732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Pre-Filled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1618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✉  demo@transformhub.ai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81965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🔑  demo1234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22402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Live Entry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244144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✉  live@transformhub.ai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26426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🔑  live1234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0632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Admin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2644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✉  admin@transformhub.ai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346557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🔑  demo1234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3977639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</a:rPr>
              <a:t>🌐  http://localhost:3000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25-minute walkthrough across all platform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5488" y="1508760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Platform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727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⏱  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Architecture, 8 modules, 18 AI agents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36208" y="1508760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28016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Discovery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5727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⏱  4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78308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Multi-pass AI discovery · confidence scoring · source triangulation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2316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5488" y="2743200"/>
            <a:ext cx="320040" cy="3200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1460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Value Stream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80720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</a:rPr>
              <a:t>⏱  4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1752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L1/L2/L3 hierarchy · flow efficiency · Mermaid diagrams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42316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36208" y="2743200"/>
            <a:ext cx="320040" cy="3200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51460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Future State 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80720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5F7"/>
                </a:solidFill>
              </a:rPr>
              <a:t>⏱  4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01752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Benchmark-grounded projections · automation mix breakdown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5488" y="3977639"/>
            <a:ext cx="320040" cy="3200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49039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Risk &amp; 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04164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</a:rPr>
              <a:t>⏱  3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25196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Risk gates · SHA-256 audit trail · regulatory frameworks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65760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36208" y="3977639"/>
            <a:ext cx="320040" cy="3200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749039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Accuracy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04164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⏱  3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25196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Per-module scores · composite · live action plan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89204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5488" y="5212080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498348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Live Entry Demo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2760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⏱  4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48640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Create org · run agents · watch data populate in real-time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4892040"/>
            <a:ext cx="539496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6208" y="5212080"/>
            <a:ext cx="320040" cy="3200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98348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</a:rPr>
              <a:t>Q&amp;A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2760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6A34A"/>
                </a:solidFill>
              </a:rPr>
              <a:t>⏱  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548640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Open questions · next steps · roadmap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Choose Your Demo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Two options depending on audience and time available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502920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39496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🎯  PRE-FILLED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Recommended for Senior Leadership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38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Login: demo@transformhub.ai  /  demo1234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22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3 enterprise orgs pre-loaded — US Bank, Telstra Health, ING 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066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78 AI-mapped capabilities, 245 functionalities, full VSM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Accuracy scores immediately visible (~65–72% composite)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21 context documents across all 5 RAG categories indexed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587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Rich roadmap: 234 items with RICE scores + approval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4281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Estimated duration: 15–20 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START →  http://localhost:3000/login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143000"/>
            <a:ext cx="5394960" cy="5029200"/>
          </a:xfrm>
          <a:prstGeom prst="rect">
            <a:avLst/>
          </a:prstGeom>
          <a:solidFill>
            <a:srgbClr val="ECFEFF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143000"/>
            <a:ext cx="5394960" cy="41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2070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⚡  LIVE ENTRY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6002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Best for Technical Audiences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38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Login: live@transformhub.ai  /  live1234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322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Create new org — enter real company details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7066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Paste a GitHub repo URL or website 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0906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Run Discovery agent — watch data stream in real-time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474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Run VSM, Risk, Future State agents sequentially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587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Watch accuracy scores rise from 0% to live values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4281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✓  Requires OPENAI_API_KEY in .env  ·  20–30 minutes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760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START →  Organizations → + New Organization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Platform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Full-stack enterprise-grade AI transformation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Next.js 15 App Router with TypeScript provides a type-safe, SSR-ready frontend — no runtime surprises in demos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FastAPI + LangGraph gives each of the 18 agents a dedicated execution graph with checkpointing — agents can be resumed on failure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pgvector enables hybrid RAG: BM25 keyword ranking + semantic vector search combined for best retrieval accuracy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Redis (in-memory fallback) handles agent state caching — demo works without Redis running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Multi-tenant from day one: every org is fully isolated at the database row level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SHA-256 chained audit trail means every agent action is tamper-proof and traceable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188720"/>
            <a:ext cx="717804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188720"/>
            <a:ext cx="164592" cy="13716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12984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</a:rPr>
              <a:t>⚛  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12984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6366F1"/>
                </a:solidFill>
              </a:rPr>
              <a:t>:3000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691640"/>
            <a:ext cx="6675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Next.js 15 · TypeScript · Tailwind v4
Dark glassmorphism UI · Dark theme
Real-time streaming output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61488"/>
            <a:ext cx="717804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761488"/>
            <a:ext cx="164592" cy="137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87121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🐍  Agent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87121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6B6D4"/>
                </a:solidFill>
              </a:rPr>
              <a:t>:8000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264408"/>
            <a:ext cx="6675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FastAPI · LangGraph · Python 3.13
18 AI Agents · BM25 + pgvector RAG
Agent memory + feedback loops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34256"/>
            <a:ext cx="717804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34256"/>
            <a:ext cx="164592" cy="1371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4439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</a:rPr>
              <a:t>🗄  Data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44398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6A34A"/>
                </a:solidFill>
              </a:rPr>
              <a:t>:5432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37176"/>
            <a:ext cx="6675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PostgreSQL 18 + pgvector extension
Prisma ORM · SHA-256 audit trail
Multi-tenant org isolation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8 Core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End-to-end digital transformation lifecycle — discovery to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Each module feeds data into the next — Discovery → VSM → Future State → Risk → Roadmap is a complete workflow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All 8 modules have agent execution tracking and per-module accuracy scores visible on every page header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Context Hub underpins every module: documents uploaded here are injected into every agent's RAG context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Accuracy dashboard is the single source of truth for AI output quality — show this last to land the data story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Product Workbench shows readiness scores per product — drives the prioritisation discussion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18872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188720"/>
            <a:ext cx="178308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3533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75564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208483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Multi-pass AI · 3 review gates
Confidence + source triangulation
~85% 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67712" y="118872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67712" y="1188720"/>
            <a:ext cx="178308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13533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175564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Value Stream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08483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L1 / L2 / L3 hierarchy
Mermaid diagrams auto-generated
100% VSM coverage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9664" y="118872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69664" y="1188720"/>
            <a:ext cx="178308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9392" y="13533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9392" y="175564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</a:rPr>
              <a:t>Future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208483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Benchmark-grounded projections
3-band metrics (cons/exp/opt)
Automation mix breakdown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71616" y="118872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71616" y="1188720"/>
            <a:ext cx="178308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81344" y="13533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175564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</a:rPr>
              <a:t>Risk &amp; Compliance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1344" y="208483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Risk gates ≥ 8.0 blocks
SHA-256 audit trail
Framework mapping (SOX, PCI-DSS)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56616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566160"/>
            <a:ext cx="17830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3730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" y="413308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</a:rPr>
              <a:t>Product Roadmap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" y="446227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RICE scoring
Approval workflows
Quarterly delivery tracks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67712" y="356616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67712" y="3566160"/>
            <a:ext cx="178308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77440" y="3730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7440" y="413308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Product Workbench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77440" y="446227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Readiness scoring (0–10)
Architecture views
Inline editing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9664" y="356616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69664" y="3566160"/>
            <a:ext cx="178308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79392" y="3730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9392" y="413308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Context Hub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9392" y="446227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5 RAG doc categories
BM25 + vector hybrid search
URL + file upload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71616" y="3566160"/>
            <a:ext cx="17830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71616" y="3566160"/>
            <a:ext cx="17830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81344" y="3730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81344" y="4133088"/>
            <a:ext cx="1572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</a:rPr>
              <a:t>Accuracy Dashboard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81344" y="4462272"/>
            <a:ext cx="15727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Per-module composite score
Live action plan
Agent memory quality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1  ·  Discovery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Multi-pass AI analysis with human review gates at each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3-pass design ensures humans approve products before capabilities are mapped — prevents hallucination cascade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Confidence scores (78–97%) come from triangulating 8 evidence sources: GitHub structure, OpenAPI, DB schema, tests, docs, URL, integrations, Q&amp;A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Source triangulation rate: 100% of seeded capabilities have 3+ sources — show the source distribution chart in the Discovery module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Inline edit/delete means the analyst team can correct AI output before it flows downstream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4 view modes: Products list, Drilldown tree, Hierarchy tree, Product Catalog — switch to Catalog for exec summary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US Bank: 3 products — LoanFlow Digital, PayStream Core, FraudGuard AI — each with 8–9 capabilities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234440"/>
            <a:ext cx="7178040" cy="12344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1664208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13441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</a:rPr>
              <a:t>Pass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16733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Digital Products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0116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B5563"/>
                </a:solidFill>
              </a:rPr>
              <a:t>Human review gate → Approve/Edit/Delete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49631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366F1"/>
                </a:solidFill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97480"/>
            <a:ext cx="7178040" cy="1234440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" y="3127248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2807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Pass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136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Capabilities mapped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34747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B5563"/>
                </a:solidFill>
              </a:rPr>
              <a:t>Constrained to approved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95935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6B6D4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60520"/>
            <a:ext cx="7178040" cy="123444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02920" y="4590288"/>
            <a:ext cx="320040" cy="3200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2702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</a:rPr>
              <a:t>Pass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5994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Functionalities extracted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3776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B5563"/>
                </a:solidFill>
              </a:rPr>
              <a:t>With confidence + source attribution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623560"/>
            <a:ext cx="132588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678424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080760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Products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23560"/>
            <a:ext cx="132588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4520" y="5678424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080760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Capabilities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5623560"/>
            <a:ext cx="132588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91840" y="5678424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6080760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Functionalities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17720" y="5623560"/>
            <a:ext cx="132588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09159" y="5678424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85%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40" y="6080760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Avg 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5623560"/>
            <a:ext cx="132588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79" y="5678424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59" y="6080760"/>
            <a:ext cx="1234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Triangulated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2  ·  Value Stream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Three-level hierarchy from segment overview to functionality step timing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L1 (Segment) shows cross-product flow efficiency — use this for exec overview; 'Which products have the biggest waste?'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L2 (Capability) shows process time vs wait time — bottlenecks appear clearly; typical FE is 30–40% which means 60–70% is waste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L3 (Functionality) shows individual step timing — step classification panel labels each step as Value-Adding, Bottleneck, Waste, or Waiting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100% of 78 capabilities have VSM metrics — this is the key improvement from the seed rebuild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Mermaid diagrams auto-generated for every capability — visual for stakeholders who don't read tables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Capability Comparison Chart provides side-by-side flow efficiency bars across all products in a segment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188720"/>
            <a:ext cx="7178040" cy="1261872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188720"/>
            <a:ext cx="164592" cy="12618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1600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6A34A"/>
                </a:solidFill>
              </a:rPr>
              <a:t>L1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80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Segment Level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169164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Cross-product flow overview
Business segment selector
Comparative FE bar chart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487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A34A"/>
                </a:solidFill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51760"/>
            <a:ext cx="7178040" cy="1261872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651760"/>
            <a:ext cx="164592" cy="12618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0632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B6D4"/>
                </a:solidFill>
              </a:rPr>
              <a:t>L2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2743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Product Capabilities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15468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PT / WT / LT / FE per capability
Mermaid diagram auto-rendered
Bottleneck identification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9502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6B6D4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14800"/>
            <a:ext cx="7178040" cy="1261872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114800"/>
            <a:ext cx="164592" cy="12618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526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366F1"/>
                </a:solidFill>
              </a:rPr>
              <a:t>L3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206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Functionality Steps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6177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Step-by-step process timing
Classification: VA / Bottleneck / Waste / Wait
Drill from L2 with one click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Capabilities with VSM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024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4519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Coverage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9184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8328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Mermaid Diagrams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4632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~35%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060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Avg Flow Efficiency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60%+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6364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Avg Waste Identified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3  ·  Future State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Benchmark-grounded transformation projections with automation mix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'Benchmark-grounded' badge appears when VSM_BENCHMARKS or TRANSFORMATION_CASE_STUDIES documents are uploaded to Context Hub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Three-band projections (Conservative/Expected/Optimistic) are grounded in the uploaded benchmark documents — not arbitrary multipliers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Automation mix (RPA / AI-ML / Agent-Based / Conversational / Analytics) gives leadership a technology investment breakdown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RICE scoring on capability modernisation items enables prioritisation — teams can sort by highest expected ROI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Future State feeds directly into Product Roadmap — the agent auto-generates roadmap items from vision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US Bank seeded future state: all 3 products have vision text + benchmark-grounded metrics pre-populated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234440"/>
            <a:ext cx="7178040" cy="1298448"/>
          </a:xfrm>
          <a:prstGeom prst="rect">
            <a:avLst/>
          </a:prstGeom>
          <a:solidFill>
            <a:srgbClr val="F3F4F6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234440"/>
            <a:ext cx="164592" cy="12984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134416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855F7"/>
                </a:solidFill>
              </a:rPr>
              <a:t>Automation Mix Breakdown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764792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RPA · AI/ML · Agent-Based · Conversational · Analytics
Per-product percentage breakdown with visual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743200"/>
            <a:ext cx="7178040" cy="1298448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743200"/>
            <a:ext cx="164592" cy="12984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85292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</a:rPr>
              <a:t>Projected Metrics — 3 Bands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273552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Conservative / Expected / Optimistic projections
Grounded in uploaded VSM benchmarks + case studies
'Benchmark-grounded' badge indicates doc-based grounding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51960"/>
            <a:ext cx="7178040" cy="1298448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251960"/>
            <a:ext cx="164592" cy="12984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36168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Capability Modernisation List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782312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RICE scoring (Reach × Impact × Confidence ÷ Effort)
Business impact · Complexity · Recommended tech stack
Auto-feeds into Product Roadmap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855F7"/>
                </a:solidFill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Products with Vision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2024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855F7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19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Metric Bands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855F7"/>
                </a:solidFill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756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Benchmark Docs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234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Roadmap Items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~70%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FS Accuracy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4  ·  Risk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Risk gates, regulatory compliance mapping, and SHA-256 tamper-proof audit trail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Risk score ≥ 8.0 AUTOMATICALLY blocks product transformation — this is a hard gate, not advisory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SHA-256 chained audit trail: each entry references the previous hash — if any entry is altered, the whole chain breaks. Critical for SOX/FDIC/GDPR audits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US Bank frameworks: FINRA, SEC, SOX, FDIC, BSA/AML — all mapped to specific capabilities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Telstra Health frameworks: HL7 FHIR, HIPAA, GDPR — healthcare-specific compliance language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ING Bank frameworks: Basel III, MiFID II, SOLVENCY II — EU banking regulatory coverage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Risk agent identifies compliance gaps and generates mitigation plans with evidence links</a:t>
            </a:r>
          </a:p>
        </p:txBody>
      </p:sp>
      <p:sp>
        <p:nvSpPr>
          <p:cNvPr id="20" name="Oval 19"/>
          <p:cNvSpPr/>
          <p:nvPr/>
        </p:nvSpPr>
        <p:spPr>
          <a:xfrm>
            <a:off x="8257031" y="4864607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80059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Run the Risk agent live — it takes ~60 seconds and populates the entire risk dashboard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234440"/>
            <a:ext cx="717804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1234440"/>
            <a:ext cx="164592" cy="10058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13441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</a:rPr>
              <a:t>CRITICAL  ≥ 8.0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17373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BLOCKS transformation. Mitigation must be completed and approved before any capability is moved to production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50008"/>
            <a:ext cx="717804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350008"/>
            <a:ext cx="164592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24597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</a:rPr>
              <a:t>HIGH  6.0 – 7.9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85292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Transformation allowed with approved mitigation plan. Tracked in roadmap as mandatory pre-condition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65576"/>
            <a:ext cx="717804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465576"/>
            <a:ext cx="164592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57530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</a:rPr>
              <a:t>MEDIUM  4.0 – 5.9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9684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Advisory. Mitigation recommended but does not block transformation gate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81144"/>
            <a:ext cx="7178040" cy="100584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4581144"/>
            <a:ext cx="164592" cy="1005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469087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</a:rPr>
              <a:t>LOW  &lt; 4.0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084064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Informational only. Logged in audit trail. No action required before transformation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Risk Assessments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2024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74519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Compliance Maps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9184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Audit Entries/Org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4632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Regulatory Frameworks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SHA-256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Audit Chain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5  ·  Product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AI-generated RICE-scored roadmap with approval workflows and quarterly planning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RICE = Reach × Impact × Confidence ÷ Effort — the AI assigns each value automatically and explains the reasoning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Approval workflow: PENDING → APPROVED / REJECTED — leadership can approve or reject individual roadmap items with notes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234 roadmap items seeded across 3 orgs — mix of capability-level and functionality-level items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Items are product-centric: each roadmap item links to a specific product → capability → functionality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Quarters: Q1 2026 through Q4 2026 — items are spread across quarters and can be reordered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Filter by product, quarter, initiative, or approval status — useful for exec review of a specific product line</a:t>
            </a:r>
          </a:p>
        </p:txBody>
      </p:sp>
      <p:sp>
        <p:nvSpPr>
          <p:cNvPr id="20" name="Oval 19"/>
          <p:cNvSpPr/>
          <p:nvPr/>
        </p:nvSpPr>
        <p:spPr>
          <a:xfrm>
            <a:off x="8257031" y="4864607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80059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roadmap agent is triggered from Future State — it reads the vision output and generates prioritised items automatically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188720"/>
            <a:ext cx="7178040" cy="1234440"/>
          </a:xfrm>
          <a:prstGeom prst="rect">
            <a:avLst/>
          </a:prstGeom>
          <a:solidFill>
            <a:srgbClr val="FFFBE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126187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</a:rPr>
              <a:t>📐  RICE Scoring Formula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1627632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</a:rPr>
              <a:t>RICE Score  =  (Reach × Impact × Confidence)  ÷  Effort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993392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B5563"/>
                </a:solidFill>
              </a:rPr>
              <a:t>Reach = users impacted/month   ·   Impact = 1–3x scale   ·   Confidence = 50–100%   ·   Effort = person-weeks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68880"/>
            <a:ext cx="22402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5786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</a:rPr>
              <a:t>APPROVED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29443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6A34A"/>
                </a:solidFill>
              </a:rPr>
              <a:t>~40%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Ready for sprint planning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61488" y="2468880"/>
            <a:ext cx="22402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25786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</a:rPr>
              <a:t>PENDING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29443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</a:rPr>
              <a:t>~45%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34747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Awaiting leadership sign-off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216" y="2468880"/>
            <a:ext cx="22402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94376" y="25786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</a:rPr>
              <a:t>REJECTED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4376" y="294436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C2626"/>
                </a:solidFill>
              </a:rPr>
              <a:t>~15%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4376" y="34747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Needs further analysis before proceeding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Strategic Initiatives: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2240280" cy="3200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0292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Digital Transformation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61488" y="4983480"/>
            <a:ext cx="2240280" cy="3200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98648" y="50292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Operational Excellence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57216" y="4983480"/>
            <a:ext cx="2240280" cy="3200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94376" y="50292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Customer Experience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367528"/>
            <a:ext cx="2240280" cy="3200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4132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Risk Modernization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61488" y="5367528"/>
            <a:ext cx="2240280" cy="32004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898648" y="54132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Platform Migration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97706"/>
                </a:solidFill>
              </a:rPr>
              <a:t>234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Roadmap Items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024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97706"/>
                </a:solidFill>
              </a:rPr>
              <a:t>~40%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74519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Approval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9184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8328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97706"/>
                </a:solidFill>
              </a:rPr>
              <a:t>Q1-Q4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3756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2026 Quarters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4632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97706"/>
                </a:solidFill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Initiatives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97706"/>
                </a:solidFill>
              </a:rPr>
              <a:t>RICE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Scoring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6  ·  Context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Knowledge base powering RAG for all 18 agents — 5 categories, hybrid BM25 + vector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Context Hub is the brain behind every agent — documents uploaded here are injected into every agent's RAG context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5 categories create a structured knowledge taxonomy: CURRENT_STATE, VSM_BENCHMARKS, TRANSFORMATION_CASE_STUDIES, ARCHITECTURE_STANDARDS, AGENT_OUTPUT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Hybrid search: BM25 (keyword) + semantic vector similarity — tested to outperform pure vector search by 15–20% recall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Fetch URL: paste any public URL (GitHub repo, Confluence page, API docs) and the system chunks + embeds automatically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21 context documents seeded across all 5 categories, all INDEXED — KB accuracy score ~70%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AGENT_OUTPUT category is auto-populated: every time Discovery/VSM/Future State agents complete, their output is saved as a context doc</a:t>
            </a:r>
          </a:p>
        </p:txBody>
      </p:sp>
      <p:sp>
        <p:nvSpPr>
          <p:cNvPr id="20" name="Oval 19"/>
          <p:cNvSpPr/>
          <p:nvPr/>
        </p:nvSpPr>
        <p:spPr>
          <a:xfrm>
            <a:off x="8257031" y="4864607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80059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Each category has a description in the UI — guide stakeholders on what to upload for each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188720"/>
            <a:ext cx="7178040" cy="841248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1188720"/>
            <a:ext cx="109728" cy="8412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12618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</a:rPr>
              <a:t>📄  CURRENT_STATE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609344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BRDs, process maps, existing architecture docs
Gives agents baseline context about current 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121408"/>
            <a:ext cx="7178040" cy="841248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121408"/>
            <a:ext cx="109728" cy="8412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2194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📊  VSM_BENCHMARKS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54203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Industry KPI benchmarks, timing data, FE benchmarks
Grounds Future State projections in real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054096"/>
            <a:ext cx="7178040" cy="841248"/>
          </a:xfrm>
          <a:prstGeom prst="rect">
            <a:avLst/>
          </a:prstGeom>
          <a:solidFill>
            <a:srgbClr val="F3F4F6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054096"/>
            <a:ext cx="109728" cy="8412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12724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</a:rPr>
              <a:t>📚  TRANSFORMATION_CASE_STUDIES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47472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Published transformation case studies, whitepapers
Provides precedent patterns for recommendations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7178040" cy="841248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986784"/>
            <a:ext cx="109728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0599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</a:rPr>
              <a:t>🏗  ARCHITECTURE_STANDARDS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407408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Enterprise architecture standards, tech constraints
Guides architecture agent recommendations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19472"/>
            <a:ext cx="7178040" cy="841248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919472"/>
            <a:ext cx="109728" cy="8412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9926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🤖  AGENT_OUTPUT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340096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Auto-populated after each agent run (Discovery, VSM, Future State)
Enables agents to learn from their own prior outputs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Context Docs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2024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74519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Categories Covered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8328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Indexed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5488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4632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~70%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KB Accuracy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5623560"/>
            <a:ext cx="1417320" cy="77724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5678424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BM25+V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608076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Hybrid Search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7  ·  Accuracy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Per-module AI output accuracy with composite scoring and live action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Accuracy badges appear on EVERY module page header — click any badge to jump to this dashboard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Discovery ~85%: high because avg confidence is 85% + 100% source triangulation + 7 unique evidence source types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VSM ~72%: strong because 100% coverage (all 78 capabilities have metrics) + rich Mermaid diagrams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Risk ~35%: lower because only 4 risk assessments vs 26 capabilities — run the Risk agent to push this to 80%+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Action Plan auto-generates 4–8 prioritised steps — each item links directly to the module that needs work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Composite formula: Discovery 20% + VSM 18% + Future State 15% + KB 15% + Risk 12% + Product Transformation 12% + Architecture 8%</a:t>
            </a:r>
          </a:p>
        </p:txBody>
      </p:sp>
      <p:sp>
        <p:nvSpPr>
          <p:cNvPr id="20" name="Oval 19"/>
          <p:cNvSpPr/>
          <p:nvPr/>
        </p:nvSpPr>
        <p:spPr>
          <a:xfrm>
            <a:off x="8257031" y="4864607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80059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Show the Knowledge Base module card expanded — it shows which of the 5 categories are missing 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12344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12344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6A34A"/>
                </a:solidFill>
              </a:rPr>
              <a:t>85%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490472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1490472"/>
            <a:ext cx="3264408" cy="1188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17099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Lean VSM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17099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6A34A"/>
                </a:solidFill>
              </a:rPr>
              <a:t>72%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1965960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1965960"/>
            <a:ext cx="2765145" cy="1188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8541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Future State Vision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21854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6A34A"/>
                </a:solidFill>
              </a:rPr>
              <a:t>70%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41448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2441448"/>
            <a:ext cx="2688336" cy="1188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66090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Knowledge Base / RAG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26609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6A34A"/>
                </a:solidFill>
              </a:rPr>
              <a:t>70%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16936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916936"/>
            <a:ext cx="2688336" cy="1188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13639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Product Transformation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1363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D97706"/>
                </a:solidFill>
              </a:rPr>
              <a:t>55%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392424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392424"/>
            <a:ext cx="2112264" cy="1188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36118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Risk &amp; Compliance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23160" y="36118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D97706"/>
                </a:solidFill>
              </a:rPr>
              <a:t>35%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867912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3867912"/>
            <a:ext cx="1344168" cy="1188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0873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3160" y="40873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D97706"/>
                </a:solidFill>
              </a:rPr>
              <a:t>40%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43400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343400"/>
            <a:ext cx="1536192" cy="1188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4727448"/>
            <a:ext cx="7406640" cy="1828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8188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Composite (weighted)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23160" y="481888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6366F1"/>
                </a:solidFill>
              </a:rPr>
              <a:t>68%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74920"/>
            <a:ext cx="3840480" cy="1188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5074920"/>
            <a:ext cx="2611526" cy="1188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507492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B5563"/>
                </a:solidFill>
              </a:rPr>
              <a:t>Weighted composite across 7 core modules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80560" y="1234440"/>
            <a:ext cx="3063240" cy="228600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17720" y="132588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Score Legend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17720" y="1691640"/>
            <a:ext cx="164592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46320" y="16916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80–100%  —  Excellent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17720" y="2130552"/>
            <a:ext cx="164592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46320" y="213055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65–79%  —  Good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17720" y="2569464"/>
            <a:ext cx="164592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46320" y="256946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45–64%  —  Fair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17720" y="3008376"/>
            <a:ext cx="164592" cy="2011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46320" y="30083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0–44%  —  Needs Work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80560" y="3657600"/>
            <a:ext cx="3063240" cy="2377440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480560" y="3657600"/>
            <a:ext cx="3063240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617720" y="3712463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⚡  TOP ACTIONS TO IMPROVE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17720" y="407822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→  Run Risk Agent → push Risk score 35%→80%+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17720" y="453542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→  Upload docs for missing KB categories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17720" y="499262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→  Add enrichment sources (OpenAPI + DB schema)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17720" y="544982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→  Run Architecture agent to improve arch score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Step 8  ·  Live Entry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Create a new org and watch AI agents populate data from scratch in real-time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Login as live@transformhub.ai — this user has no pre-seeded data, so the dashboard starts empty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Create a new org with a real company name and industry type — the more specific, the better the AI output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Use stripe/stripe-node or plaid/plaid-python as demo repos — they're public, well-structured, and have clear API boundaries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Pass 1 typically takes 25–40 seconds to stream — show the streaming output panel while it runs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After Pass 1 review, run Pass 2 immediately — capabilities will appear on the left panel as each batch completes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After all 3 passes are approved, navigate to VSM and run the Lean VSM agent — takes ~30 seconds</a:t>
            </a:r>
          </a:p>
        </p:txBody>
      </p:sp>
      <p:sp>
        <p:nvSpPr>
          <p:cNvPr id="20" name="Oval 19"/>
          <p:cNvSpPr/>
          <p:nvPr/>
        </p:nvSpPr>
        <p:spPr>
          <a:xfrm>
            <a:off x="8257031" y="4864607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80059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Show the Accuracy page at the end — composite goes from 0% to ~45% in a single agent cycle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234440"/>
            <a:ext cx="3520440" cy="1078992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7200" y="1581912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3075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Login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16733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live@transformhub.ai  /  live1234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1984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B5563"/>
                </a:solidFill>
              </a:rPr>
              <a:t>Navigate to http://localhost:3000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234440"/>
            <a:ext cx="3520440" cy="1078992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06240" y="1581912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13075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Create Org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16733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Organizations → + New Organization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1984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B5563"/>
                </a:solidFill>
              </a:rPr>
              <a:t>Name: [Company], Industry: [Type], Add business segments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514600"/>
            <a:ext cx="3520440" cy="1078992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2862072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25877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Run Discovery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9535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Discovery → Paste GitHub URL → Analyze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32644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B5563"/>
                </a:solidFill>
              </a:rPr>
              <a:t>Recommended: github.com/stripe/stripe-node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2514600"/>
            <a:ext cx="3520440" cy="1078992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206240" y="2862072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25877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Review Pass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29535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Products appear → Edit/Delete inline → Approve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32644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B5563"/>
                </a:solidFill>
              </a:rPr>
              <a:t>Human review gate — this is where you add commentary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94760"/>
            <a:ext cx="3520440" cy="1078992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57200" y="4142232"/>
            <a:ext cx="320040" cy="32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386791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Pass 2 + 3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23367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Run automatically after approval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5445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B5563"/>
                </a:solidFill>
              </a:rPr>
              <a:t>Capabilities and functionalities populate with confidence scores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3794760"/>
            <a:ext cx="3520440" cy="1078992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206240" y="4142232"/>
            <a:ext cx="320040" cy="3200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386791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Run VSM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23367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VSM page → Run Lean VSM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5445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B5563"/>
                </a:solidFill>
              </a:rPr>
              <a:t>Flow metrics and Mermaid diagrams generated (~30s)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74919"/>
            <a:ext cx="7498079" cy="1078992"/>
          </a:xfrm>
          <a:prstGeom prst="rect">
            <a:avLst/>
          </a:prstGeom>
          <a:solidFill>
            <a:srgbClr val="F0FDF4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7200" y="5422391"/>
            <a:ext cx="320040" cy="3200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148071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</a:rPr>
              <a:t>Check Accuracy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551383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Accuracy page → see composite score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5824727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B5563"/>
                </a:solidFill>
              </a:rPr>
              <a:t>Watch scores rise from 0% to live values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Key messages for senior leadership — why TransformHub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Traditional transformation programs take 6–12 months to baseline current state. TransformHub does it in minutes with multi-pass discovery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8-source evidence triangulation means confidence scores are evidence-based, not AI guesswork — auditors love this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platform replaces 6+ separate tools: process mining, risk management, roadmap planning, architecture review, compliance tracking, knowledge management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Human-in-the-loop at every stage: agents propose, humans approve. No black-box AI — every output is reviewable and editable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Benchmark-grounded future state means ROI projections are tied to real industry data, not vendor-supplied estimates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Multi-tenancy means different teams or clients can use the same platform with zero data cross-contamination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188720"/>
            <a:ext cx="352044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188720"/>
            <a:ext cx="3520440" cy="914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138988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</a:rPr>
              <a:t>Speed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175564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Hours, not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121408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Multi-pass AI discovery maps an enterprise product portfolio in under 10 minutes vs 6–12 months of manual baselining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188720"/>
            <a:ext cx="352044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0" y="1188720"/>
            <a:ext cx="35204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60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138988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</a:rPr>
              <a:t>Accuracy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175564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Evidence-based confidence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8 evidence source triangulation. 78–97% confidence per entity. Human-in-the-loop review gates at every step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0439"/>
            <a:ext cx="352044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520439"/>
            <a:ext cx="352044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7033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21607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</a:rPr>
              <a:t>Cost Reduction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08736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Replaces 6+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453127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Consolidates process mining, risk mgmt, roadmap planning, compliance tracking, architecture review into one platform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3520439"/>
            <a:ext cx="352044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3520439"/>
            <a:ext cx="352044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51960" y="37033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</a:rPr>
              <a:t>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3721607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Compliance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408736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Audit-ready by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453127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</a:rPr>
              <a:t>SHA-256 chained immutable audit trail. SOX, FDIC, GDPR, HIPAA, Basel III framework coverage out of the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</a:rPr>
              <a:t>Pre-Demo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Verify all services are running before the meeting starts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051560"/>
            <a:ext cx="3840480" cy="5303520"/>
          </a:xfrm>
          <a:prstGeom prst="rect">
            <a:avLst/>
          </a:prstGeom>
          <a:solidFill>
            <a:srgbClr val="F9FA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051560"/>
            <a:ext cx="38404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0972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💬  TALKING POINTS</a:t>
            </a:r>
          </a:p>
        </p:txBody>
      </p:sp>
      <p:sp>
        <p:nvSpPr>
          <p:cNvPr id="8" name="Oval 7"/>
          <p:cNvSpPr/>
          <p:nvPr/>
        </p:nvSpPr>
        <p:spPr>
          <a:xfrm>
            <a:off x="8257031" y="15727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Run this checklist 15 minutes before the demo — not 1 minute before</a:t>
            </a:r>
          </a:p>
        </p:txBody>
      </p:sp>
      <p:sp>
        <p:nvSpPr>
          <p:cNvPr id="10" name="Oval 9"/>
          <p:cNvSpPr/>
          <p:nvPr/>
        </p:nvSpPr>
        <p:spPr>
          <a:xfrm>
            <a:off x="8257031" y="212140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Port 3000 may be occupied by Product Coach (another project). Kill it with: kill $(lsof -ti:3000)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1" y="267004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The health endpoint at localhost:8000/api/v1/health should return {status: healthy} — if it shows database disconnected, restart Postgres.app</a:t>
            </a:r>
          </a:p>
        </p:txBody>
      </p:sp>
      <p:sp>
        <p:nvSpPr>
          <p:cNvPr id="14" name="Oval 13"/>
          <p:cNvSpPr/>
          <p:nvPr/>
        </p:nvSpPr>
        <p:spPr>
          <a:xfrm>
            <a:off x="8257031" y="321868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Redis unavailable is normal and expected — the system falls back to in-memory, no impact on demo</a:t>
            </a:r>
          </a:p>
        </p:txBody>
      </p:sp>
      <p:sp>
        <p:nvSpPr>
          <p:cNvPr id="16" name="Oval 15"/>
          <p:cNvSpPr/>
          <p:nvPr/>
        </p:nvSpPr>
        <p:spPr>
          <a:xfrm>
            <a:off x="8257031" y="376732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If US Bank doesn't auto-select, clear the org cookie: localStorage.removeItem('currentOrgId') in browser console</a:t>
            </a:r>
          </a:p>
        </p:txBody>
      </p:sp>
      <p:sp>
        <p:nvSpPr>
          <p:cNvPr id="18" name="Oval 17"/>
          <p:cNvSpPr/>
          <p:nvPr/>
        </p:nvSpPr>
        <p:spPr>
          <a:xfrm>
            <a:off x="8257031" y="4315968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519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Have a backup plan: if live demo fails, switch to the pre-filled path immediately — demo@transformhub.ai always works</a:t>
            </a:r>
          </a:p>
        </p:txBody>
      </p:sp>
      <p:sp>
        <p:nvSpPr>
          <p:cNvPr id="20" name="Oval 19"/>
          <p:cNvSpPr/>
          <p:nvPr/>
        </p:nvSpPr>
        <p:spPr>
          <a:xfrm>
            <a:off x="8257031" y="4864607"/>
            <a:ext cx="82296" cy="82296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80059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</a:rPr>
              <a:t>Have the demo guide open in a separate browser tab (TransformHub/docs/demo-guide.html)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188720"/>
            <a:ext cx="3520440" cy="493776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1188720"/>
            <a:ext cx="352044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1243584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SERVICES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627632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1627632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Next.js frontend running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18653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http://localhost:3000  →  should redirect to /login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286000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2286000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FastAPI backend running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2523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curl localhost:8000/api/v1/health  →  {status: healthy}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944368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2944368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PostgreSQL running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182111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Postgres.app icon in menu bar shows green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602735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360273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Demo data seeded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384047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3 orgs visible in org switcher: US Bank, Telstra Health, ING Bank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1188720"/>
            <a:ext cx="3520440" cy="4937760"/>
          </a:xfrm>
          <a:prstGeom prst="rect">
            <a:avLst/>
          </a:prstGeom>
          <a:solidFill>
            <a:srgbClr val="F3F4F6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0" y="1188720"/>
            <a:ext cx="352044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1243584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BROWSER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1627632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1627632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Open incognito window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18653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Prevents cached session from wrong account interfering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51960" y="2286000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53712" y="2286000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Zoom to 90%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523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Ensures all columns visible without horizontal scroll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2944368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53712" y="2944368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Pre-logged in as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53712" y="3182111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demo@transformhub.ai / demo1234 — US Bank should auto-load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0" y="3602735"/>
            <a:ext cx="20116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53712" y="360273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KPIs visible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53712" y="384047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</a:rPr>
              <a:t>Dashboard shows 9 products, 26 capabilities, 79 functionalities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55279" y="1188720"/>
            <a:ext cx="3840480" cy="3200400"/>
          </a:xfrm>
          <a:prstGeom prst="rect">
            <a:avLst/>
          </a:prstGeom>
          <a:solidFill>
            <a:srgbClr val="0F172A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55279" y="1188720"/>
            <a:ext cx="3840480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38160" y="124358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⚡  START COMMANDS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16093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</a:rPr>
              <a:t># Terminal 1 — Agent Backend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186537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cd TransformHub/agent-service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212140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source venv/bin/activate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237744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uvicorn app.main:app --reload --port 8000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263347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0" y="288950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</a:rPr>
              <a:t># Terminal 2 — Next.js Frontend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8160" y="314553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cd TransformHub/nextjs-app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340156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npm run dev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365760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391363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</a:rPr>
              <a:t># Re-seed demo data if needed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16966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cd nextjs-app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38160" y="442569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npx tsx prisma/seed.ts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55279" y="4572000"/>
            <a:ext cx="3840480" cy="1554480"/>
          </a:xfrm>
          <a:prstGeom prst="rect">
            <a:avLst/>
          </a:prstGeom>
          <a:solidFill>
            <a:srgbClr val="FFFBE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55279" y="4572000"/>
            <a:ext cx="3840480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38160" y="461772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⚠  QUICK FIXES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38160" y="4983480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Wrong org loads: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464040" y="4983480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localStorage.removeItem('currentOrgId')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5330952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Port 3000 busy: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64040" y="5330952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kill $(lsof -ti:3000)  then restart Next.js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8160" y="5678424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No data showing: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64040" y="5678424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npx tsx prisma/seed.ts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6366F1"/>
                </a:solidFill>
              </a:rPr>
              <a:t>Ready to Transform.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</a:rPr>
              <a:t>AI-powered enterprise transformation from discovery to delivery.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834640"/>
            <a:ext cx="1737360" cy="86868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8895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6459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Enterprise Orgs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834640"/>
            <a:ext cx="1737360" cy="86868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8895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291840"/>
            <a:ext cx="16459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Core Modules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2834640"/>
            <a:ext cx="1737360" cy="86868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28895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291840"/>
            <a:ext cx="16459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AI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2834640"/>
            <a:ext cx="1737360" cy="86868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8895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291840"/>
            <a:ext cx="16459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Capabilities Mapped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2834640"/>
            <a:ext cx="1737360" cy="86868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28895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</a:rPr>
              <a:t>245+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291840"/>
            <a:ext cx="16459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Functionalities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19" y="2834640"/>
            <a:ext cx="1737360" cy="868680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288950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~68%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3291840"/>
            <a:ext cx="16459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B5563"/>
                </a:solidFill>
              </a:rPr>
              <a:t>Composite 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023360"/>
            <a:ext cx="7589520" cy="1508760"/>
          </a:xfrm>
          <a:prstGeom prst="rect">
            <a:avLst/>
          </a:prstGeom>
          <a:solidFill>
            <a:srgbClr val="EEF2FF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</a:rPr>
              <a:t>🌐  http://localhost:3000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80560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demo@transformhub.ai  /  demo1234     (pre-filled — use this for leadership demos)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773168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live@transformhub.ai  /  live1234     (blank — use this for live entry walk-throughs)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65776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admin@transformhub.ai  /  demo1234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715000"/>
            <a:ext cx="2016252" cy="347472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760720"/>
            <a:ext cx="18790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Next.js 15 + TypeScript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10612" y="5715000"/>
            <a:ext cx="1705356" cy="347472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02052" y="5760720"/>
            <a:ext cx="15681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FastAPI + LangGraph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07408" y="5715000"/>
            <a:ext cx="2093976" cy="347472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8848" y="576072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PostgreSQL 18 + pgvector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92824" y="5715000"/>
            <a:ext cx="1161288" cy="347472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84264" y="5760720"/>
            <a:ext cx="1024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18 AI Agents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45552" y="5715000"/>
            <a:ext cx="1549908" cy="347472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36992" y="5760720"/>
            <a:ext cx="14127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BM25 + Vector RAG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86900" y="5715000"/>
            <a:ext cx="1705356" cy="347472"/>
          </a:xfrm>
          <a:prstGeom prst="rect">
            <a:avLst/>
          </a:prstGeom>
          <a:solidFill>
            <a:srgbClr val="EEF2FF"/>
          </a:solidFill>
          <a:ln w="63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78340" y="5760720"/>
            <a:ext cx="15681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366F1"/>
                </a:solidFill>
              </a:rPr>
              <a:t>SHA-256 Audit Trail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B5563"/>
                </a:solidFill>
              </a:rPr>
              <a:t>TransformHub  ·  Enterprise Digital Transformation Platform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