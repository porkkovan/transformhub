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b="1" sz="1300"/>
              <a:t>TALKING POINTS</a:t>
            </a:r>
          </a:p>
          <a:p>
            <a:r>
              <a:rPr sz="1100"/>
              <a:t>•  Open with: 'Every year $900B is wasted on digital transformations that fail — this offering changes that equation'</a:t>
            </a:r>
          </a:p>
          <a:p>
            <a:r>
              <a:rPr sz="1100"/>
              <a:t>•  TransformHub is the only AI-native platform with measurable, scored output accuracy per module</a:t>
            </a:r>
          </a:p>
          <a:p>
            <a:r>
              <a:rPr sz="1100"/>
              <a:t>•  This is not another consulting framework — it is an AI-powered intelligence layer that runs in days, not months</a:t>
            </a:r>
          </a:p>
          <a:p>
            <a:r>
              <a:rPr sz="1100"/>
              <a:t>•  The 15× ROI figure is based on: $7.6M value created vs ~$500K total engagement cost for a mid-size enterprise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b="1" sz="1300"/>
              <a:t>TALKING POINTS</a:t>
            </a:r>
          </a:p>
          <a:p>
            <a:r>
              <a:rPr sz="1100"/>
              <a:t>•  Lead with empathy: 'Your leadership team believes transformation is on track — the data says otherwise'</a:t>
            </a:r>
          </a:p>
          <a:p>
            <a:r>
              <a:rPr sz="1100"/>
              <a:t>•  $900B in wasted DT spend is a Consortium for IT research figure — boards respond strongly to this number</a:t>
            </a:r>
          </a:p>
          <a:p>
            <a:r>
              <a:rPr sz="1100"/>
              <a:t>•  The '&lt; 20% capabilities mapped' stat is the core gap we close — full AI-powered discovery in days</a:t>
            </a:r>
          </a:p>
          <a:p>
            <a:r>
              <a:rPr sz="1100"/>
              <a:t>•  Zero quantified accuracy is the status quo — every consulting recommendation is an educated guess today</a:t>
            </a:r>
          </a:p>
          <a:p>
            <a:r>
              <a:rPr sz="1100"/>
              <a:t>•  This paradox is WHY we built this service — not another framework, but measurable intelligence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b="1" sz="1300"/>
              <a:t>TALKING POINTS</a:t>
            </a:r>
          </a:p>
          <a:p>
            <a:r>
              <a:rPr sz="1100"/>
              <a:t>•  Problem #1 and #2 are the 'discovery gap' — together they make up 60% of wasted transformation spend</a:t>
            </a:r>
          </a:p>
          <a:p>
            <a:r>
              <a:rPr sz="1100"/>
              <a:t>•  Problem #3 (risk) is especially resonant in regulated industries: Banking, Insurance, Healthcare</a:t>
            </a:r>
          </a:p>
          <a:p>
            <a:r>
              <a:rPr sz="1100"/>
              <a:t>•  Problem #5 (tool sprawl) creates an immediate ROI story: one platform replacing 6–8 tools at $40–80K/year each</a:t>
            </a:r>
          </a:p>
          <a:p>
            <a:r>
              <a:rPr sz="1100"/>
              <a:t>•  Problem #6 (black-box AI) is our key differentiator — no competitor offers a per-module accuracy score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b="1" sz="1300"/>
              <a:t>TALKING POINTS</a:t>
            </a:r>
          </a:p>
          <a:p>
            <a:r>
              <a:rPr sz="1100"/>
              <a:t>•  Use this slide to 'de-position' traditional discovery: 12 weeks of workshops for 20% coverage is no longer acceptable</a:t>
            </a:r>
          </a:p>
          <a:p>
            <a:r>
              <a:rPr sz="1100"/>
              <a:t>•  The audit trail row lands hardest in regulated industries — SHA-256 chaining is a compliance differentiator</a:t>
            </a:r>
          </a:p>
          <a:p>
            <a:r>
              <a:rPr sz="1100"/>
              <a:t>•  Cost comparison is conservative — many firms see $600K–$1M in traditional consulting for the same scope</a:t>
            </a:r>
          </a:p>
          <a:p>
            <a:r>
              <a:rPr sz="1100"/>
              <a:t>•  Emphasise that our accuracy score is unique — no competitor in this space offers measurable AI output quality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b="1" sz="1300"/>
              <a:t>TALKING POINTS</a:t>
            </a:r>
          </a:p>
          <a:p>
            <a:r>
              <a:rPr sz="1100"/>
              <a:t>•  Banking and Financial Services is the highest-value entry: regulatory pressure creates immediate urgency and budget</a:t>
            </a:r>
          </a:p>
          <a:p>
            <a:r>
              <a:rPr sz="1100"/>
              <a:t>•  Healthcare is fastest-growing: post-pandemic digital mandates + HIPAA complexity = strong ROI argument</a:t>
            </a:r>
          </a:p>
          <a:p>
            <a:r>
              <a:rPr sz="1100"/>
              <a:t>•  Lead with a single business unit POC — land and expand is the proven GTM motion for this type of platform</a:t>
            </a:r>
          </a:p>
          <a:p>
            <a:r>
              <a:rPr sz="1100"/>
              <a:t>•  The $42B AI in enterprise consulting market is our direct addressable market — this is the fastest-growing segment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b="1" sz="1300"/>
              <a:t>TALKING POINTS</a:t>
            </a:r>
          </a:p>
          <a:p>
            <a:r>
              <a:rPr sz="1100"/>
              <a:t>•  This offering wraps the TransformHub platform in a repeatable 5-phase consulting engagement</a:t>
            </a:r>
          </a:p>
          <a:p>
            <a:r>
              <a:rPr sz="1100"/>
              <a:t>•  AI agents do the heavy lifting — our consultants guide, interpret and present the outputs</a:t>
            </a:r>
          </a:p>
          <a:p>
            <a:r>
              <a:rPr sz="1100"/>
              <a:t>•  Emphasise the RAG pipeline: AI outputs are grounded in the client's own uploaded documents — not generic models</a:t>
            </a:r>
          </a:p>
          <a:p>
            <a:r>
              <a:rPr sz="1100"/>
              <a:t>•  The accuracy scoring capability is a breakthrough — clients can show their board a % score for AI output quality</a:t>
            </a:r>
          </a:p>
          <a:p>
            <a:r>
              <a:rPr sz="1100"/>
              <a:t>•  25+ deliverables means every phase has a tangible artefact the client owns after the engagement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b="1" sz="1300"/>
              <a:t>TALKING POINTS</a:t>
            </a:r>
          </a:p>
          <a:p>
            <a:r>
              <a:rPr sz="1100"/>
              <a:t>•  Objective 1 creates the 'wow moment' — show them the Discovery page with 78 capabilities already mapped</a:t>
            </a:r>
          </a:p>
          <a:p>
            <a:r>
              <a:rPr sz="1100"/>
              <a:t>•  Objective 2 directly addresses the board: 'Our roadmap is grounded in your own uploaded benchmarks, not our opinion'</a:t>
            </a:r>
          </a:p>
          <a:p>
            <a:r>
              <a:rPr sz="1100"/>
              <a:t>•  Objective 3 is our moat: accuracy scoring is unique in the market — no big-4 firm or software vendor offers this</a:t>
            </a:r>
          </a:p>
          <a:p>
            <a:r>
              <a:rPr sz="1100"/>
              <a:t>•  These 3 objectives map directly to the 3 questions every CIO asks: What do we have? Where should we go? How sure are you?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b="1" sz="1300"/>
              <a:t>TALKING POINTS</a:t>
            </a:r>
          </a:p>
          <a:p>
            <a:r>
              <a:rPr sz="1100"/>
              <a:t>•  The 95% reduction in discovery time is the single most powerful number — anchor the conversation here</a:t>
            </a:r>
          </a:p>
          <a:p>
            <a:r>
              <a:rPr sz="1100"/>
              <a:t>•  Analyst productivity 8× improvement means one consultant can now serve 12–15 products vs 1–2 traditionally</a:t>
            </a:r>
          </a:p>
          <a:p>
            <a:r>
              <a:rPr sz="1100"/>
              <a:t>•  Tool consolidation ROI is easily calculable with the client: ask 'how many tools do you use today, and what's the licence cost?'</a:t>
            </a:r>
          </a:p>
          <a:p>
            <a:r>
              <a:rPr sz="1100"/>
              <a:t>•  The 65–85% accuracy score is an industry first — emphasise that before our platform, this number was literally unmeasurable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b="1" sz="1300"/>
              <a:t>TALKING POINTS</a:t>
            </a:r>
          </a:p>
          <a:p>
            <a:r>
              <a:rPr sz="1100"/>
              <a:t>•  Regulatory slide is the opener for banking/insurance clients — DORA enforcement began Jan 2025, AI Act by Aug 2026</a:t>
            </a:r>
          </a:p>
          <a:p>
            <a:r>
              <a:rPr sz="1100"/>
              <a:t>•  Competitor velocity: 'Your peers are already moving — the question is whether you move with data or without it'</a:t>
            </a:r>
          </a:p>
          <a:p>
            <a:r>
              <a:rPr sz="1100"/>
              <a:t>•  Technical debt stat ($3.61T) reframes the value: this isn't a nice-to-have, it's existential budget allocation</a:t>
            </a:r>
          </a:p>
          <a:p>
            <a:r>
              <a:rPr sz="1100"/>
              <a:t>•  Board accountability shift is the internal sponsor's best argument for getting budget approved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b="1" sz="1300"/>
              <a:t>TALKING POINTS</a:t>
            </a:r>
          </a:p>
          <a:p>
            <a:r>
              <a:rPr sz="1100"/>
              <a:t>•  Each phase ends with a gate review — client approves before the next phase begins (HITL = human-in-the-loop)</a:t>
            </a:r>
          </a:p>
          <a:p>
            <a:r>
              <a:rPr sz="1100"/>
              <a:t>•  Phases 1–4 are typically 8 weeks; Phase 5 can extend to 12 weeks for complex enterprise environments</a:t>
            </a:r>
          </a:p>
          <a:p>
            <a:r>
              <a:rPr sz="1100"/>
              <a:t>•  The AI agents run throughout all phases — consultants guide, interpret and present, not do manual analysis</a:t>
            </a:r>
          </a:p>
          <a:p>
            <a:r>
              <a:rPr sz="1100"/>
              <a:t>•  Gate checkpoints are a key selling point for clients: no cost overrun risk, clear go/no-go at each milestone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b="1" sz="1300"/>
              <a:t>TALKING POINTS</a:t>
            </a:r>
          </a:p>
          <a:p>
            <a:r>
              <a:rPr sz="1100"/>
              <a:t>•  The key message: AI does the analysis, consultants do the interpretation — discovery is 95% faster than workshops</a:t>
            </a:r>
          </a:p>
          <a:p>
            <a:r>
              <a:rPr sz="1100"/>
              <a:t>•  Confidence scoring is the trust-builder: every entity shows 78–97% confidence + 3–5 source types used</a:t>
            </a:r>
          </a:p>
          <a:p>
            <a:r>
              <a:rPr sz="1100"/>
              <a:t>•  Human review gate after Pass 1 means client approves the product list before AI maps capabilities — no surprises</a:t>
            </a:r>
          </a:p>
          <a:p>
            <a:r>
              <a:rPr sz="1100"/>
              <a:t>•  D1.6 Executive Summary is the first board-ready artefact — visible value by end of week 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b="1" sz="1300"/>
              <a:t>TALKING POINTS</a:t>
            </a:r>
          </a:p>
          <a:p>
            <a:r>
              <a:rPr sz="1100"/>
              <a:t>•  100% VSM coverage is the key stat — traditional VSM workshops sample 10–20% at best, over multiple weeks</a:t>
            </a:r>
          </a:p>
          <a:p>
            <a:r>
              <a:rPr sz="1100"/>
              <a:t>•  Mermaid diagrams are client-owned, version-controlled artefacts — they can embed them in Confluence/SharePoint</a:t>
            </a:r>
          </a:p>
          <a:p>
            <a:r>
              <a:rPr sz="1100"/>
              <a:t>•  Flow efficiency of ~35% baseline is typical — the 'waste' visible in the data is where business value hides</a:t>
            </a:r>
          </a:p>
          <a:p>
            <a:r>
              <a:rPr sz="1100"/>
              <a:t>•  L3 step classification directly feeds the Future State Design phase — no re-analysis needed, it flows forward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b="1" sz="1300"/>
              <a:t>TALKING POINTS</a:t>
            </a:r>
          </a:p>
          <a:p>
            <a:r>
              <a:rPr sz="1100"/>
              <a:t>•  The 'benchmark-grounded' differentiator: AI reads the client's own uploaded case studies to generate projections</a:t>
            </a:r>
          </a:p>
          <a:p>
            <a:r>
              <a:rPr sz="1100"/>
              <a:t>•  3-band projections give clients a credible range rather than a single point estimate — boards trust ranges more</a:t>
            </a:r>
          </a:p>
          <a:p>
            <a:r>
              <a:rPr sz="1100"/>
              <a:t>•  RICE scoring removes politics from prioritisation — data-driven ranking, not HiPPO-driven (Highest Paid Person's Opinion)</a:t>
            </a:r>
          </a:p>
          <a:p>
            <a:r>
              <a:rPr sz="1100"/>
              <a:t>•  Phase 3 output is often the most impressive demo moment: future state with automation mix charts and projected flow efficiency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b="1" sz="1300"/>
              <a:t>TALKING POINTS</a:t>
            </a:r>
          </a:p>
          <a:p>
            <a:r>
              <a:rPr sz="1100"/>
              <a:t>•  SHA-256 chained audit trail is a must-have for banking, insurance and healthcare — DORA mandates it from Jan 2025</a:t>
            </a:r>
          </a:p>
          <a:p>
            <a:r>
              <a:rPr sz="1100"/>
              <a:t>•  CRITICAL risk auto-block is a governance breakthrough: no human can inadvertently proceed past a critical risk</a:t>
            </a:r>
          </a:p>
          <a:p>
            <a:r>
              <a:rPr sz="1100"/>
              <a:t>•  Pre-transformation risk identification is the key message: finding risks in Phase 4 costs 10× less than finding them in production</a:t>
            </a:r>
          </a:p>
          <a:p>
            <a:r>
              <a:rPr sz="1100"/>
              <a:t>•  The Regulatory Readiness Score gives the CISO and CRO a single number to track — and it improves as risks are mitigated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b="1" sz="1300"/>
              <a:t>TALKING POINTS</a:t>
            </a:r>
          </a:p>
          <a:p>
            <a:r>
              <a:rPr sz="1100"/>
              <a:t>•  Phase 5 is where consulting value is most visible: the executive deck lets the partner present findings to the board directly</a:t>
            </a:r>
          </a:p>
          <a:p>
            <a:r>
              <a:rPr sz="1100"/>
              <a:t>•  Platform handover is a key differentiator: client keeps TransformHub running with their own team after the engagement ends</a:t>
            </a:r>
          </a:p>
          <a:p>
            <a:r>
              <a:rPr sz="1100"/>
              <a:t>•  The accuracy baseline report creates an upsell opportunity: 'You're at 68% today — run the Risk Agent to get to 75%'</a:t>
            </a:r>
          </a:p>
          <a:p>
            <a:r>
              <a:rPr sz="1100"/>
              <a:t>•  Knowledge base seeding is the most important long-term investment: better RAG grounding means better AI outputs forever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b="1" sz="1300"/>
              <a:t>TALKING POINTS</a:t>
            </a:r>
          </a:p>
          <a:p>
            <a:r>
              <a:rPr sz="1100"/>
              <a:t>•  Walk through D1 and D2 during the demo — they are the most viscerally impressive to non-technical stakeholders</a:t>
            </a:r>
          </a:p>
          <a:p>
            <a:r>
              <a:rPr sz="1100"/>
              <a:t>•  D4 (Risk Gate Report) with SHA-256 hash values is what gets the attention of CROs, CISOs and Compliance teams</a:t>
            </a:r>
          </a:p>
          <a:p>
            <a:r>
              <a:rPr sz="1100"/>
              <a:t>•  D5 (Transformation Roadmap) is the client's primary take-away — it should look polished enough for a board pack</a:t>
            </a:r>
          </a:p>
          <a:p>
            <a:r>
              <a:rPr sz="1100"/>
              <a:t>•  D6 (Accuracy Baseline) creates the 'continuous improvement' narrative and often drives upsell into follow-on engagements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b="1" sz="1300"/>
              <a:t>TALKING POINTS</a:t>
            </a:r>
          </a:p>
          <a:p>
            <a:r>
              <a:rPr sz="1100"/>
              <a:t>•  Source system access (client CSF #2) is the single biggest engagement risk — make it a contractual requirement at SOW stage</a:t>
            </a:r>
          </a:p>
          <a:p>
            <a:r>
              <a:rPr sz="1100"/>
              <a:t>•  Domain SME availability is typically under-estimated: 2–3 hrs/week sounds small but clients routinely fail to resource it</a:t>
            </a:r>
          </a:p>
          <a:p>
            <a:r>
              <a:rPr sz="1100"/>
              <a:t>•  RAG quality management is our internal CSF most often overlooked: insist on benchmark documents before agents run in Phase 3</a:t>
            </a:r>
          </a:p>
          <a:p>
            <a:r>
              <a:rPr sz="1100"/>
              <a:t>•  C-suite sponsorship should be validated in the pre-sales stage — an engagement without it will stall at Phase 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b="1" sz="1300"/>
              <a:t>TALKING POINTS</a:t>
            </a:r>
          </a:p>
          <a:p>
            <a:r>
              <a:rPr sz="1100"/>
              <a:t>•  Always lead with a 2-week POC ($45K) — low enough to avoid procurement, high enough to show seriousness</a:t>
            </a:r>
          </a:p>
          <a:p>
            <a:r>
              <a:rPr sz="1100"/>
              <a:t>•  The POC should focus on ONE business unit the client cares about most — maximum impact, minimum scope</a:t>
            </a:r>
          </a:p>
          <a:p>
            <a:r>
              <a:rPr sz="1100"/>
              <a:t>•  SI partnerships are the scale engine: 1 SI partner can bring 10× the pipeline of a direct sales rep</a:t>
            </a:r>
          </a:p>
          <a:p>
            <a:r>
              <a:rPr sz="1100"/>
              <a:t>•  The 'State of DT Accuracy' annual report positions us as the thought leader in transformation intelligence — unique positioning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b="1" sz="1300"/>
              <a:t>TALKING POINTS</a:t>
            </a:r>
          </a:p>
          <a:p>
            <a:r>
              <a:rPr sz="1100"/>
              <a:t>•  Banking is the highest-value vertical: regulatory burden creates budget urgency, and they have the largest IT estates</a:t>
            </a:r>
          </a:p>
          <a:p>
            <a:r>
              <a:rPr sz="1100"/>
              <a:t>•  Healthcare is fastest-growing vertical post-2023: EHR modernisation + FHIR API mandates create an immediate need</a:t>
            </a:r>
          </a:p>
          <a:p>
            <a:r>
              <a:rPr sz="1100"/>
              <a:t>•  Lead with industry-specific compliance frameworks in every pitch — generic transformation talk loses the room fast</a:t>
            </a:r>
          </a:p>
          <a:p>
            <a:r>
              <a:rPr sz="1100"/>
              <a:t>•  Build industry-specific reference architectures for each vertical — clients want to see 'we've done this in banking before'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b="1" sz="1300"/>
              <a:t>TALKING POINTS</a:t>
            </a:r>
          </a:p>
          <a:p>
            <a:r>
              <a:rPr sz="1100"/>
              <a:t>•  Module 3 (Discovery Methodology) is the most important: consultants who can't interpret AI output will over-deliver raw data to clients</a:t>
            </a:r>
          </a:p>
          <a:p>
            <a:r>
              <a:rPr sz="1100"/>
              <a:t>•  Module 5 (Executive Storytelling) is the most under-invested in tech-first training programmes — make it mandatory</a:t>
            </a:r>
          </a:p>
          <a:p>
            <a:r>
              <a:rPr sz="1100"/>
              <a:t>•  Target: any existing technology or management consultant can achieve Associate certification in 3 days</a:t>
            </a:r>
          </a:p>
          <a:p>
            <a:r>
              <a:rPr sz="1100"/>
              <a:t>•  The Lead certification (after 2 engagements) ensures quality — only Leads should be assigned as Engagement Manager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b="1" sz="1300"/>
              <a:t>TALKING POINTS</a:t>
            </a:r>
          </a:p>
          <a:p>
            <a:r>
              <a:rPr sz="1100"/>
              <a:t>•  4.5 FTE is the minimum for an 8-week engagement — below this, quality degrades and consultant burnout increases</a:t>
            </a:r>
          </a:p>
          <a:p>
            <a:r>
              <a:rPr sz="1100"/>
              <a:t>•  The AI/ML Specialist at 50% allocation is often the most under-staffed role — consider 75% for first engagements</a:t>
            </a:r>
          </a:p>
          <a:p>
            <a:r>
              <a:rPr sz="1100"/>
              <a:t>•  Two Business Analysts are non-negotiable: one interfaces with AI output, one manages client communications</a:t>
            </a:r>
          </a:p>
          <a:p>
            <a:r>
              <a:rPr sz="1100"/>
              <a:t>•  Change Manager at 25% ensures the platform handover succeeds — clients without change support revert to old tools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b="1" sz="1300"/>
              <a:t>TALKING POINTS</a:t>
            </a:r>
          </a:p>
          <a:p>
            <a:r>
              <a:rPr sz="1100"/>
              <a:t>•  Gate reviews are fixed — client must approve before next phase starts. This protects the engagement from scope drift</a:t>
            </a:r>
          </a:p>
          <a:p>
            <a:r>
              <a:rPr sz="1100"/>
              <a:t>•  The POC (Weeks 1–2 only, $45K) is the entry-point product: show instant value before asking for full engagement</a:t>
            </a:r>
          </a:p>
          <a:p>
            <a:r>
              <a:rPr sz="1100"/>
              <a:t>•  Weeks 7–8 can be parallelised for experienced teams: risk and roadmap activities overlap in practice</a:t>
            </a:r>
          </a:p>
          <a:p>
            <a:r>
              <a:rPr sz="1100"/>
              <a:t>•  Extended 12-week variant is recommended for orgs with 3+ business segments — add 4 weeks for each additional segment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b="1" sz="1300"/>
              <a:t>TALKING POINTS</a:t>
            </a:r>
          </a:p>
          <a:p>
            <a:r>
              <a:rPr sz="1100"/>
              <a:t>•  Lead with the POC ($38–52K) — most procurement teams can approve this without a full committee review</a:t>
            </a:r>
          </a:p>
          <a:p>
            <a:r>
              <a:rPr sz="1100"/>
              <a:t>•  Standard engagement at $280–360K delivers 3–5× ROI in 18 months — present this as an investment, not a cost</a:t>
            </a:r>
          </a:p>
          <a:p>
            <a:r>
              <a:rPr sz="1100"/>
              <a:t>•  Overhead and margin at 35% is conservative for technology consulting — adjust per firm's margin targets</a:t>
            </a:r>
          </a:p>
          <a:p>
            <a:r>
              <a:rPr sz="1100"/>
              <a:t>•  Consider a 'Platform + Consulting' bundle: platform licence ($80K) + consulting ($280K) priced together at $320K saves the client admin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b="1" sz="1300"/>
              <a:t>TALKING POINTS</a:t>
            </a:r>
          </a:p>
          <a:p>
            <a:r>
              <a:rPr sz="1100"/>
              <a:t>•  The platform licence ($80–150K) is the largest technology cost — position it as replacing 6 tools at $40–80K each = cost-neutral</a:t>
            </a:r>
          </a:p>
          <a:p>
            <a:r>
              <a:rPr sz="1100"/>
              <a:t>•  OpenAI API cost of $2–8K is surprisingly low: emphasise this to CFOs who expect AI to be expensive</a:t>
            </a:r>
          </a:p>
          <a:p>
            <a:r>
              <a:rPr sz="1100"/>
              <a:t>•  Total client investment of $465–585K over 18 months delivers $7.6M+ in quantified value — present the ROI slide next</a:t>
            </a:r>
          </a:p>
          <a:p>
            <a:r>
              <a:rPr sz="1100"/>
              <a:t>•  Internal cost of $45–85K is often invisible to procurement — surfacing it creates a sense of 'total commitment' that builds buy-in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b="1" sz="1300"/>
              <a:t>TALKING POINTS</a:t>
            </a:r>
          </a:p>
          <a:p>
            <a:r>
              <a:rPr sz="1100"/>
              <a:t>•  Lead with the 'faster time-to-market' row — it's the largest value driver and easiest for business leaders to internalise</a:t>
            </a:r>
          </a:p>
          <a:p>
            <a:r>
              <a:rPr sz="1100"/>
              <a:t>•  Risk avoidance is the most credible number for regulated industries — one prevented compliance failure justifies the entire investment</a:t>
            </a:r>
          </a:p>
          <a:p>
            <a:r>
              <a:rPr sz="1100"/>
              <a:t>•  The 4–7 month payback period is the CFO close: 'You recover your investment before the engagement is finished'</a:t>
            </a:r>
          </a:p>
          <a:p>
            <a:r>
              <a:rPr sz="1100"/>
              <a:t>•  Always customise this slide with client-specific numbers during pre-sales — generic ROI slides are ignored, specific ones are presented to boards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b="1" sz="1300"/>
              <a:t>TALKING POINTS</a:t>
            </a:r>
          </a:p>
          <a:p>
            <a:r>
              <a:rPr sz="1100"/>
              <a:t>•  Always close with: 'Which business unit would you most want to transform first?' — it moves from abstract to concrete immediately</a:t>
            </a:r>
          </a:p>
          <a:p>
            <a:r>
              <a:rPr sz="1100"/>
              <a:t>•  The POC is designed to be approved within 2 weeks — keep a SOW template ready to send within 24 hours of interest</a:t>
            </a:r>
          </a:p>
          <a:p>
            <a:r>
              <a:rPr sz="1100"/>
              <a:t>•  Pre-built POC scope: Banking = Digital Lending segment, Healthcare = Patient Engagement, Insurance = Claims Processing</a:t>
            </a:r>
          </a:p>
          <a:p>
            <a:r>
              <a:rPr sz="1100"/>
              <a:t>•  Follow-up email within 24 hours: attach this deck + a one-page POC scope document tailored to their industry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291840"/>
          </a:xfrm>
          <a:prstGeom prst="rect">
            <a:avLst/>
          </a:prstGeom>
          <a:solidFill>
            <a:srgbClr val="0C1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91840"/>
            <a:ext cx="12188952" cy="7315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881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</a:rPr>
              <a:t>AI-Powered Digital Transformation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881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BFDBFE"/>
                </a:solidFill>
              </a:rPr>
              <a:t>Intelligence Service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1036015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BFDBFE"/>
                </a:solidFill>
              </a:rPr>
              <a:t>A Consulting Service Offering for Enterprise Digital Transformation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3547872"/>
            <a:ext cx="2331720" cy="54864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547872"/>
            <a:ext cx="2331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TransformHub Platform</a:t>
            </a:r>
          </a:p>
        </p:txBody>
      </p:sp>
      <p:sp>
        <p:nvSpPr>
          <p:cNvPr id="9" name="Rectangle 8"/>
          <p:cNvSpPr/>
          <p:nvPr/>
        </p:nvSpPr>
        <p:spPr>
          <a:xfrm>
            <a:off x="3566160" y="3547872"/>
            <a:ext cx="2331720" cy="548640"/>
          </a:xfrm>
          <a:prstGeom prst="rect">
            <a:avLst/>
          </a:prstGeom>
          <a:solidFill>
            <a:srgbClr val="60A5FA"/>
          </a:solidFill>
          <a:ln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66160" y="3547872"/>
            <a:ext cx="2331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18 AI LangGraph Agents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3547872"/>
            <a:ext cx="2331720" cy="548640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0" y="3547872"/>
            <a:ext cx="2331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5-Phase Methodology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869680" y="3547872"/>
            <a:ext cx="2331720" cy="548640"/>
          </a:xfrm>
          <a:prstGeom prst="rect">
            <a:avLst/>
          </a:prstGeom>
          <a:solidFill>
            <a:srgbClr val="1D4ED8"/>
          </a:solidFill>
          <a:ln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0" y="3547872"/>
            <a:ext cx="2331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Measurable Accuracy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315968"/>
            <a:ext cx="103601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475569"/>
                </a:solidFill>
              </a:rPr>
              <a:t>Powered by TransformHub  ·  Built for Enterprise-Scale Digital Transformation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4773168"/>
            <a:ext cx="2487168" cy="914400"/>
          </a:xfrm>
          <a:prstGeom prst="rect">
            <a:avLst/>
          </a:prstGeom>
          <a:solidFill>
            <a:srgbClr val="F1F5F9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4828031"/>
            <a:ext cx="248716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C1C3A"/>
                </a:solidFill>
              </a:rPr>
              <a:t>$4.5T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5321807"/>
            <a:ext cx="248716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75569"/>
                </a:solidFill>
              </a:rPr>
              <a:t>DT Market 2027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319272" y="4773168"/>
            <a:ext cx="2487168" cy="914400"/>
          </a:xfrm>
          <a:prstGeom prst="rect">
            <a:avLst/>
          </a:prstGeom>
          <a:solidFill>
            <a:srgbClr val="F1F5F9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319272" y="4828031"/>
            <a:ext cx="248716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C1C3A"/>
                </a:solidFill>
              </a:rPr>
              <a:t>73%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19272" y="5321807"/>
            <a:ext cx="248716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75569"/>
                </a:solidFill>
              </a:rPr>
              <a:t>DT Failure Rate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35624" y="4773168"/>
            <a:ext cx="2487168" cy="914400"/>
          </a:xfrm>
          <a:prstGeom prst="rect">
            <a:avLst/>
          </a:prstGeom>
          <a:solidFill>
            <a:srgbClr val="F1F5F9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35624" y="4828031"/>
            <a:ext cx="248716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C1C3A"/>
                </a:solidFill>
              </a:rPr>
              <a:t>95%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35624" y="5321807"/>
            <a:ext cx="248716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75569"/>
                </a:solidFill>
              </a:rPr>
              <a:t>Faster Discovery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951976" y="4773168"/>
            <a:ext cx="2487168" cy="914400"/>
          </a:xfrm>
          <a:prstGeom prst="rect">
            <a:avLst/>
          </a:prstGeom>
          <a:solidFill>
            <a:srgbClr val="F1F5F9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51976" y="4828031"/>
            <a:ext cx="248716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C1C3A"/>
                </a:solidFill>
              </a:rPr>
              <a:t>15×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51976" y="5321807"/>
            <a:ext cx="248716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75569"/>
                </a:solidFill>
              </a:rPr>
              <a:t>Typical Client ROI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565392"/>
            <a:ext cx="12188952" cy="2743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20040" y="6611112"/>
            <a:ext cx="11521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</a:rPr>
              <a:t>TransformHub · AI-Powered Digital Transformation Intelligence  ·  Consulting Service Offering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0C1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28016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F172A"/>
                </a:solidFill>
              </a:rPr>
              <a:t>The Transformation Paradox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75569"/>
                </a:solidFill>
              </a:rPr>
              <a:t>Why enterprises invest more — and deliver less — from digital transformation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88952" cy="2743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611112"/>
            <a:ext cx="11521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</a:rPr>
              <a:t>TransformHub · AI-Powered Digital Transformation Intelligence  ·  Consulting Service Offering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051560"/>
            <a:ext cx="3566160" cy="5239512"/>
          </a:xfrm>
          <a:prstGeom prst="rect">
            <a:avLst/>
          </a:prstGeom>
          <a:solidFill>
            <a:srgbClr val="F1F5F9"/>
          </a:solidFill>
          <a:ln w="10160">
            <a:solidFill>
              <a:srgbClr val="0C1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280160"/>
            <a:ext cx="3383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800" b="1" i="0">
                <a:solidFill>
                  <a:srgbClr val="1E3A8A"/>
                </a:solidFill>
              </a:rPr>
              <a:t>73%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46888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F172A"/>
                </a:solidFill>
              </a:rPr>
              <a:t>of digital transformations
fail to meet objectives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127248"/>
            <a:ext cx="32918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475569"/>
                </a:solidFill>
              </a:rPr>
              <a:t>McKinsey Global Survey, 2024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51960" y="1051560"/>
            <a:ext cx="7589520" cy="52395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43400" y="1143000"/>
            <a:ext cx="7406640" cy="621792"/>
          </a:xfrm>
          <a:prstGeom prst="rect">
            <a:avLst/>
          </a:prstGeom>
          <a:solidFill>
            <a:srgbClr val="F1F5F9"/>
          </a:solidFill>
          <a:ln w="1524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43400" y="1143000"/>
            <a:ext cx="128016" cy="62179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1216152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E3A8A"/>
                </a:solidFill>
              </a:rPr>
              <a:t>$900B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1307592"/>
            <a:ext cx="5120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wasted annually on failed DT initiatives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43400" y="1837943"/>
            <a:ext cx="7406640" cy="621792"/>
          </a:xfrm>
          <a:prstGeom prst="rect">
            <a:avLst/>
          </a:prstGeom>
          <a:solidFill>
            <a:srgbClr val="F1F5F9"/>
          </a:solidFill>
          <a:ln w="1524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43400" y="1837943"/>
            <a:ext cx="128016" cy="62179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0" y="1911095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D4ED8"/>
                </a:solidFill>
              </a:rPr>
              <a:t>3–5 yrs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2002536"/>
            <a:ext cx="5120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average time to see transformation value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43400" y="2532888"/>
            <a:ext cx="7406640" cy="621792"/>
          </a:xfrm>
          <a:prstGeom prst="rect">
            <a:avLst/>
          </a:prstGeom>
          <a:solidFill>
            <a:srgbClr val="F1F5F9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343400" y="2532888"/>
            <a:ext cx="128016" cy="6217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0" y="2606040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</a:rPr>
              <a:t>6–8 tools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2697480"/>
            <a:ext cx="5120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siloed platforms used per enterprise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343400" y="3227832"/>
            <a:ext cx="7406640" cy="621792"/>
          </a:xfrm>
          <a:prstGeom prst="rect">
            <a:avLst/>
          </a:prstGeom>
          <a:solidFill>
            <a:srgbClr val="F1F5F9"/>
          </a:solidFill>
          <a:ln w="1524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343400" y="3227832"/>
            <a:ext cx="128016" cy="62179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0" y="3300984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3B82F6"/>
                </a:solidFill>
              </a:rPr>
              <a:t>&lt; 20%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3392424"/>
            <a:ext cx="5120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of capabilities mapped before transformation begins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343400" y="3922776"/>
            <a:ext cx="7406640" cy="621792"/>
          </a:xfrm>
          <a:prstGeom prst="rect">
            <a:avLst/>
          </a:prstGeom>
          <a:solidFill>
            <a:srgbClr val="F1F5F9"/>
          </a:solidFill>
          <a:ln w="1524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343400" y="3922776"/>
            <a:ext cx="128016" cy="62179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0" y="3995928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E3A8A"/>
                </a:solidFill>
              </a:rPr>
              <a:t>$0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92240" y="4087368"/>
            <a:ext cx="5120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quantified accuracy score on AI-driven insights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0C1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28016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F172A"/>
                </a:solidFill>
              </a:rPr>
              <a:t>Six Root Problems We Solve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75569"/>
                </a:solidFill>
              </a:rPr>
              <a:t>The structural gaps that doom digital transformation programmes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88952" cy="2743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611112"/>
            <a:ext cx="11521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</a:rPr>
              <a:t>TransformHub · AI-Powered Digital Transformation Intelligence  ·  Consulting Service Offering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051560"/>
            <a:ext cx="3712463" cy="1719072"/>
          </a:xfrm>
          <a:prstGeom prst="rect">
            <a:avLst/>
          </a:prstGeom>
          <a:solidFill>
            <a:srgbClr val="F1F5F9"/>
          </a:solidFill>
          <a:ln w="127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051560"/>
            <a:ext cx="3712463" cy="402336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93776" y="1124712"/>
            <a:ext cx="34564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#1  Invisible Landscape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" y="1527048"/>
            <a:ext cx="3456432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No systematic map of products, capabilities or functionalities exists before transformation begins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61104" y="1051560"/>
            <a:ext cx="3712463" cy="1719072"/>
          </a:xfrm>
          <a:prstGeom prst="rect">
            <a:avLst/>
          </a:prstGeom>
          <a:solidFill>
            <a:srgbClr val="F1F5F9"/>
          </a:solidFill>
          <a:ln w="1270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61104" y="1051560"/>
            <a:ext cx="3712463" cy="402336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9120" y="1124712"/>
            <a:ext cx="34564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#2  Unmapped Value Streams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1527048"/>
            <a:ext cx="3456432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Waste, bottlenecks and flow inefficiency are invisible — decisions made on gut feel, not data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56448" y="1051560"/>
            <a:ext cx="3712463" cy="1719072"/>
          </a:xfrm>
          <a:prstGeom prst="rect">
            <a:avLst/>
          </a:prstGeom>
          <a:solidFill>
            <a:srgbClr val="F1F5F9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56448" y="1051560"/>
            <a:ext cx="3712463" cy="40233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84464" y="1124712"/>
            <a:ext cx="34564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#3  Unquantified Risk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84464" y="1527048"/>
            <a:ext cx="3456432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Compliance and operational risk is discovered mid-transformation — too late to avoid costly rework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2843784"/>
            <a:ext cx="3712463" cy="1719072"/>
          </a:xfrm>
          <a:prstGeom prst="rect">
            <a:avLst/>
          </a:prstGeom>
          <a:solidFill>
            <a:srgbClr val="F1F5F9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5760" y="2843784"/>
            <a:ext cx="3712463" cy="40233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93776" y="2916936"/>
            <a:ext cx="34564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#4  Groundless Roadmaps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3776" y="3319272"/>
            <a:ext cx="3456432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Transformation roadmaps built from workshops, not from AI-triangulated evidence and benchmarks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61104" y="2843784"/>
            <a:ext cx="3712463" cy="1719072"/>
          </a:xfrm>
          <a:prstGeom prst="rect">
            <a:avLst/>
          </a:prstGeom>
          <a:solidFill>
            <a:srgbClr val="F1F5F9"/>
          </a:solidFill>
          <a:ln w="1270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261104" y="2843784"/>
            <a:ext cx="3712463" cy="402336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89120" y="2916936"/>
            <a:ext cx="34564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#5  Tool Sprawl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89120" y="3319272"/>
            <a:ext cx="3456432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6–8 disconnected tools for process mining, risk, roadmap, architecture — no single source of truth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156448" y="2843784"/>
            <a:ext cx="3712463" cy="1719072"/>
          </a:xfrm>
          <a:prstGeom prst="rect">
            <a:avLst/>
          </a:prstGeom>
          <a:solidFill>
            <a:srgbClr val="F1F5F9"/>
          </a:solidFill>
          <a:ln w="1270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156448" y="2843784"/>
            <a:ext cx="3712463" cy="402336"/>
          </a:xfrm>
          <a:prstGeom prst="rect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84464" y="2916936"/>
            <a:ext cx="34564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#6  Black-Box AI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84464" y="3319272"/>
            <a:ext cx="3456432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AI outputs have no confidence score — leaders can't distinguish high-quality insight from hallucination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0C1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28016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F172A"/>
                </a:solidFill>
              </a:rPr>
              <a:t>Why Traditional Approaches Fail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75569"/>
                </a:solidFill>
              </a:rPr>
              <a:t>The consulting industry has not kept pace with AI-native transformation intelligence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88952" cy="2743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611112"/>
            <a:ext cx="11521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</a:rPr>
              <a:t>TransformHub · AI-Powered Digital Transformation Intelligence  ·  Consulting Service Offering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051560"/>
            <a:ext cx="11457432" cy="34930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051560"/>
            <a:ext cx="11457432" cy="384048"/>
          </a:xfrm>
          <a:prstGeom prst="rect">
            <a:avLst/>
          </a:prstGeom>
          <a:solidFill>
            <a:srgbClr val="0C1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143000"/>
            <a:ext cx="2560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Dimension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1143000"/>
            <a:ext cx="4023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Traditional Consulting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60920" y="1143000"/>
            <a:ext cx="4297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TransformHub Approach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1453895"/>
            <a:ext cx="11457432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1545336"/>
            <a:ext cx="2560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75569"/>
                </a:solidFill>
              </a:rPr>
              <a:t>Discovery Time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1545336"/>
            <a:ext cx="4023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3A8A"/>
                </a:solidFill>
              </a:rPr>
              <a:t>8–12 weeks of workshops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60920" y="1545336"/>
            <a:ext cx="4297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0A5FA"/>
                </a:solidFill>
              </a:rPr>
              <a:t>3–5 days, AI-automated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1856231"/>
            <a:ext cx="11457432" cy="38404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1947672"/>
            <a:ext cx="2560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75569"/>
                </a:solidFill>
              </a:rPr>
              <a:t>Coverage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0" y="1947672"/>
            <a:ext cx="4023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3A8A"/>
                </a:solidFill>
              </a:rPr>
              <a:t>~20% of capabilities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60920" y="1947672"/>
            <a:ext cx="4297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0A5FA"/>
                </a:solidFill>
              </a:rPr>
              <a:t>100% in one pass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2258568"/>
            <a:ext cx="11457432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2350008"/>
            <a:ext cx="2560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75569"/>
                </a:solidFill>
              </a:rPr>
              <a:t>Accuracy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0" y="2350008"/>
            <a:ext cx="4023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3A8A"/>
                </a:solidFill>
              </a:rPr>
              <a:t>Subjective / unscored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60920" y="2350008"/>
            <a:ext cx="4297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0A5FA"/>
                </a:solidFill>
              </a:rPr>
              <a:t>65–85% per-module, measured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2660904"/>
            <a:ext cx="11457432" cy="38404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2752344"/>
            <a:ext cx="2560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75569"/>
                </a:solidFill>
              </a:rPr>
              <a:t>VSM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00400" y="2752344"/>
            <a:ext cx="4023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3A8A"/>
                </a:solidFill>
              </a:rPr>
              <a:t>Whiteboard sessions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60920" y="2752344"/>
            <a:ext cx="4297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0A5FA"/>
                </a:solidFill>
              </a:rPr>
              <a:t>AI-mapped with Mermaid diagrams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3063240"/>
            <a:ext cx="11457432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2920" y="3154680"/>
            <a:ext cx="2560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75569"/>
                </a:solidFill>
              </a:rPr>
              <a:t>Risk Identification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0" y="3154680"/>
            <a:ext cx="4023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3A8A"/>
                </a:solidFill>
              </a:rPr>
              <a:t>Post-transformation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60920" y="3154680"/>
            <a:ext cx="4297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0A5FA"/>
                </a:solidFill>
              </a:rPr>
              <a:t>Pre-transformation with gates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3465576"/>
            <a:ext cx="11457432" cy="38404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2920" y="3557016"/>
            <a:ext cx="2560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75569"/>
                </a:solidFill>
              </a:rPr>
              <a:t>Audit Trail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00400" y="3557016"/>
            <a:ext cx="4023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3A8A"/>
                </a:solidFill>
              </a:rPr>
              <a:t>Word docs / spreadsheets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60920" y="3557016"/>
            <a:ext cx="4297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0A5FA"/>
                </a:solidFill>
              </a:rPr>
              <a:t>SHA-256 chained, tamper-proof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" y="3867912"/>
            <a:ext cx="11457432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2920" y="3959352"/>
            <a:ext cx="2560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75569"/>
                </a:solidFill>
              </a:rPr>
              <a:t>Cost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200400" y="3959352"/>
            <a:ext cx="4023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3A8A"/>
                </a:solidFill>
              </a:rPr>
              <a:t>$400K–$800K typical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60920" y="3959352"/>
            <a:ext cx="4297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0A5FA"/>
                </a:solidFill>
              </a:rPr>
              <a:t>$250K–$350K typical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4270248"/>
            <a:ext cx="11457432" cy="38404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02920" y="4361688"/>
            <a:ext cx="2560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75569"/>
                </a:solidFill>
              </a:rPr>
              <a:t>Tool Count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200400" y="4361688"/>
            <a:ext cx="4023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3A8A"/>
                </a:solidFill>
              </a:rPr>
              <a:t>6–8 separate platforms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360920" y="4361688"/>
            <a:ext cx="4297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0A5FA"/>
                </a:solidFill>
              </a:rPr>
              <a:t>1 integrated platform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0C1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28016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F172A"/>
                </a:solidFill>
              </a:rPr>
              <a:t>The Market Opportunity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75569"/>
                </a:solidFill>
              </a:rPr>
              <a:t>A $4.5 trillion market looking for better answers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88952" cy="2743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611112"/>
            <a:ext cx="11521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</a:rPr>
              <a:t>TransformHub · AI-Powered Digital Transformation Intelligence  ·  Consulting Service Offering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051560"/>
            <a:ext cx="2706624" cy="1005840"/>
          </a:xfrm>
          <a:prstGeom prst="rect">
            <a:avLst/>
          </a:prstGeom>
          <a:solidFill>
            <a:srgbClr val="F1F5F9"/>
          </a:solidFill>
          <a:ln w="10160">
            <a:solidFill>
              <a:srgbClr val="0C1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106424"/>
            <a:ext cx="270662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C1C3A"/>
                </a:solidFill>
              </a:rPr>
              <a:t>$4.5T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600200"/>
            <a:ext cx="270662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75569"/>
                </a:solidFill>
              </a:rPr>
              <a:t>Global DT Market by 2027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093976"/>
            <a:ext cx="270662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475569"/>
                </a:solidFill>
              </a:rPr>
              <a:t>CAGR 23% (IDC 2024)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55264" y="1051560"/>
            <a:ext cx="2706624" cy="1005840"/>
          </a:xfrm>
          <a:prstGeom prst="rect">
            <a:avLst/>
          </a:prstGeom>
          <a:solidFill>
            <a:srgbClr val="DBEAFE"/>
          </a:solidFill>
          <a:ln w="1016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55264" y="1106424"/>
            <a:ext cx="270662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2563EB"/>
                </a:solidFill>
              </a:rPr>
              <a:t>$180B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55264" y="1600200"/>
            <a:ext cx="270662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75569"/>
                </a:solidFill>
              </a:rPr>
              <a:t>Process Intelligence Spend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55264" y="2093976"/>
            <a:ext cx="270662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475569"/>
                </a:solidFill>
              </a:rPr>
              <a:t>CAGR 31% (Gartner)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44768" y="1051560"/>
            <a:ext cx="2706624" cy="1005840"/>
          </a:xfrm>
          <a:prstGeom prst="rect">
            <a:avLst/>
          </a:prstGeom>
          <a:solidFill>
            <a:srgbClr val="F0F7FF"/>
          </a:solidFill>
          <a:ln w="1016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44768" y="1106424"/>
            <a:ext cx="270662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60A5FA"/>
                </a:solidFill>
              </a:rPr>
              <a:t>$42B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44768" y="1600200"/>
            <a:ext cx="270662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75569"/>
                </a:solidFill>
              </a:rPr>
              <a:t>AI in Enterprise Consulting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44768" y="2093976"/>
            <a:ext cx="270662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475569"/>
                </a:solidFill>
              </a:rPr>
              <a:t>Fastest growing segment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034272" y="1051560"/>
            <a:ext cx="2706624" cy="1005840"/>
          </a:xfrm>
          <a:prstGeom prst="rect">
            <a:avLst/>
          </a:prstGeom>
          <a:solidFill>
            <a:srgbClr val="EFF6FF"/>
          </a:solidFill>
          <a:ln w="1016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34272" y="1106424"/>
            <a:ext cx="270662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1E3A8A"/>
                </a:solidFill>
              </a:rPr>
              <a:t>73%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34272" y="1600200"/>
            <a:ext cx="270662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75569"/>
                </a:solidFill>
              </a:rPr>
              <a:t>Failure Rate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34272" y="2093976"/>
            <a:ext cx="270662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475569"/>
                </a:solidFill>
              </a:rPr>
              <a:t>Creates massive demand for better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2496312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C1C3A"/>
                </a:solidFill>
              </a:rPr>
              <a:t>Target Segments &amp; Entry Points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2825496"/>
            <a:ext cx="2212848" cy="2578608"/>
          </a:xfrm>
          <a:prstGeom prst="rect">
            <a:avLst/>
          </a:prstGeom>
          <a:solidFill>
            <a:srgbClr val="F1F5F9"/>
          </a:solidFill>
          <a:ln w="1016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65760" y="2825496"/>
            <a:ext cx="2212848" cy="34747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2862072"/>
            <a:ext cx="20299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Banking &amp; Financial Services</a:t>
            </a:r>
          </a:p>
        </p:txBody>
      </p:sp>
      <p:sp>
        <p:nvSpPr>
          <p:cNvPr id="27" name="Oval 26"/>
          <p:cNvSpPr/>
          <p:nvPr/>
        </p:nvSpPr>
        <p:spPr>
          <a:xfrm>
            <a:off x="475488" y="3300984"/>
            <a:ext cx="82296" cy="82296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03504" y="3227832"/>
            <a:ext cx="1920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SOX / FDIC / GLBA compliance pressure</a:t>
            </a:r>
          </a:p>
        </p:txBody>
      </p:sp>
      <p:sp>
        <p:nvSpPr>
          <p:cNvPr id="29" name="Oval 28"/>
          <p:cNvSpPr/>
          <p:nvPr/>
        </p:nvSpPr>
        <p:spPr>
          <a:xfrm>
            <a:off x="475488" y="3922776"/>
            <a:ext cx="82296" cy="82296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03504" y="3849624"/>
            <a:ext cx="1920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Digital banking capability gaps</a:t>
            </a:r>
          </a:p>
        </p:txBody>
      </p:sp>
      <p:sp>
        <p:nvSpPr>
          <p:cNvPr id="31" name="Oval 30"/>
          <p:cNvSpPr/>
          <p:nvPr/>
        </p:nvSpPr>
        <p:spPr>
          <a:xfrm>
            <a:off x="475488" y="4544568"/>
            <a:ext cx="82296" cy="82296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03504" y="4471416"/>
            <a:ext cx="1920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Payments transformation at scale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670048" y="2825496"/>
            <a:ext cx="2212848" cy="2578608"/>
          </a:xfrm>
          <a:prstGeom prst="rect">
            <a:avLst/>
          </a:prstGeom>
          <a:solidFill>
            <a:srgbClr val="F1F5F9"/>
          </a:solidFill>
          <a:ln w="1016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670048" y="2825496"/>
            <a:ext cx="2212848" cy="347472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761488" y="2862072"/>
            <a:ext cx="20299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Healthcare &amp; Life Sciences</a:t>
            </a:r>
          </a:p>
        </p:txBody>
      </p:sp>
      <p:sp>
        <p:nvSpPr>
          <p:cNvPr id="36" name="Oval 35"/>
          <p:cNvSpPr/>
          <p:nvPr/>
        </p:nvSpPr>
        <p:spPr>
          <a:xfrm>
            <a:off x="2779776" y="3300984"/>
            <a:ext cx="82296" cy="82296"/>
          </a:xfrm>
          <a:prstGeom prst="ellipse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907791" y="3227832"/>
            <a:ext cx="1920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HIPAA / clinical workflow modernisation</a:t>
            </a:r>
          </a:p>
        </p:txBody>
      </p:sp>
      <p:sp>
        <p:nvSpPr>
          <p:cNvPr id="38" name="Oval 37"/>
          <p:cNvSpPr/>
          <p:nvPr/>
        </p:nvSpPr>
        <p:spPr>
          <a:xfrm>
            <a:off x="2779776" y="3922776"/>
            <a:ext cx="82296" cy="82296"/>
          </a:xfrm>
          <a:prstGeom prst="ellipse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907791" y="3849624"/>
            <a:ext cx="1920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EHR integration complexity</a:t>
            </a:r>
          </a:p>
        </p:txBody>
      </p:sp>
      <p:sp>
        <p:nvSpPr>
          <p:cNvPr id="40" name="Oval 39"/>
          <p:cNvSpPr/>
          <p:nvPr/>
        </p:nvSpPr>
        <p:spPr>
          <a:xfrm>
            <a:off x="2779776" y="4544568"/>
            <a:ext cx="82296" cy="82296"/>
          </a:xfrm>
          <a:prstGeom prst="ellipse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907791" y="4471416"/>
            <a:ext cx="1920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Patient journey digitisation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974336" y="2825496"/>
            <a:ext cx="2212848" cy="2578608"/>
          </a:xfrm>
          <a:prstGeom prst="rect">
            <a:avLst/>
          </a:prstGeom>
          <a:solidFill>
            <a:srgbClr val="F1F5F9"/>
          </a:solidFill>
          <a:ln w="1016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974336" y="2825496"/>
            <a:ext cx="2212848" cy="34747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065776" y="2862072"/>
            <a:ext cx="20299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Insurance</a:t>
            </a:r>
          </a:p>
        </p:txBody>
      </p:sp>
      <p:sp>
        <p:nvSpPr>
          <p:cNvPr id="45" name="Oval 44"/>
          <p:cNvSpPr/>
          <p:nvPr/>
        </p:nvSpPr>
        <p:spPr>
          <a:xfrm>
            <a:off x="5084064" y="3300984"/>
            <a:ext cx="82296" cy="82296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212080" y="3227832"/>
            <a:ext cx="1920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Claims process automation</a:t>
            </a:r>
          </a:p>
        </p:txBody>
      </p:sp>
      <p:sp>
        <p:nvSpPr>
          <p:cNvPr id="47" name="Oval 46"/>
          <p:cNvSpPr/>
          <p:nvPr/>
        </p:nvSpPr>
        <p:spPr>
          <a:xfrm>
            <a:off x="5084064" y="3922776"/>
            <a:ext cx="82296" cy="82296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212080" y="3849624"/>
            <a:ext cx="1920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Underwriting AI readiness</a:t>
            </a:r>
          </a:p>
        </p:txBody>
      </p:sp>
      <p:sp>
        <p:nvSpPr>
          <p:cNvPr id="49" name="Oval 48"/>
          <p:cNvSpPr/>
          <p:nvPr/>
        </p:nvSpPr>
        <p:spPr>
          <a:xfrm>
            <a:off x="5084064" y="4544568"/>
            <a:ext cx="82296" cy="82296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212080" y="4471416"/>
            <a:ext cx="1920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RegTech compliance mapping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278624" y="2825496"/>
            <a:ext cx="2212848" cy="2578608"/>
          </a:xfrm>
          <a:prstGeom prst="rect">
            <a:avLst/>
          </a:prstGeom>
          <a:solidFill>
            <a:srgbClr val="F1F5F9"/>
          </a:solidFill>
          <a:ln w="1016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7278624" y="2825496"/>
            <a:ext cx="2212848" cy="34747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370064" y="2862072"/>
            <a:ext cx="20299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Retail &amp; eCommerce</a:t>
            </a:r>
          </a:p>
        </p:txBody>
      </p:sp>
      <p:sp>
        <p:nvSpPr>
          <p:cNvPr id="54" name="Oval 53"/>
          <p:cNvSpPr/>
          <p:nvPr/>
        </p:nvSpPr>
        <p:spPr>
          <a:xfrm>
            <a:off x="7388352" y="3300984"/>
            <a:ext cx="82296" cy="82296"/>
          </a:xfrm>
          <a:prstGeom prst="ellipse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516368" y="3227832"/>
            <a:ext cx="1920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Omnichannel value stream gaps</a:t>
            </a:r>
          </a:p>
        </p:txBody>
      </p:sp>
      <p:sp>
        <p:nvSpPr>
          <p:cNvPr id="56" name="Oval 55"/>
          <p:cNvSpPr/>
          <p:nvPr/>
        </p:nvSpPr>
        <p:spPr>
          <a:xfrm>
            <a:off x="7388352" y="3922776"/>
            <a:ext cx="82296" cy="82296"/>
          </a:xfrm>
          <a:prstGeom prst="ellipse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516368" y="3849624"/>
            <a:ext cx="1920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Supply chain digitisation</a:t>
            </a:r>
          </a:p>
        </p:txBody>
      </p:sp>
      <p:sp>
        <p:nvSpPr>
          <p:cNvPr id="58" name="Oval 57"/>
          <p:cNvSpPr/>
          <p:nvPr/>
        </p:nvSpPr>
        <p:spPr>
          <a:xfrm>
            <a:off x="7388352" y="4544568"/>
            <a:ext cx="82296" cy="82296"/>
          </a:xfrm>
          <a:prstGeom prst="ellipse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516368" y="4471416"/>
            <a:ext cx="1920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Customer experience transformation</a:t>
            </a:r>
          </a:p>
        </p:txBody>
      </p:sp>
      <p:sp>
        <p:nvSpPr>
          <p:cNvPr id="60" name="Rectangle 59"/>
          <p:cNvSpPr/>
          <p:nvPr/>
        </p:nvSpPr>
        <p:spPr>
          <a:xfrm>
            <a:off x="9582912" y="2825496"/>
            <a:ext cx="2212848" cy="2578608"/>
          </a:xfrm>
          <a:prstGeom prst="rect">
            <a:avLst/>
          </a:prstGeom>
          <a:solidFill>
            <a:srgbClr val="F1F5F9"/>
          </a:solidFill>
          <a:ln w="1016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9582912" y="2825496"/>
            <a:ext cx="2212848" cy="347472"/>
          </a:xfrm>
          <a:prstGeom prst="rect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674352" y="2862072"/>
            <a:ext cx="20299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Telco &amp; Media</a:t>
            </a:r>
          </a:p>
        </p:txBody>
      </p:sp>
      <p:sp>
        <p:nvSpPr>
          <p:cNvPr id="63" name="Oval 62"/>
          <p:cNvSpPr/>
          <p:nvPr/>
        </p:nvSpPr>
        <p:spPr>
          <a:xfrm>
            <a:off x="9692640" y="3300984"/>
            <a:ext cx="82296" cy="82296"/>
          </a:xfrm>
          <a:prstGeom prst="ellipse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9820656" y="3227832"/>
            <a:ext cx="1920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Network capability modernisation</a:t>
            </a:r>
          </a:p>
        </p:txBody>
      </p:sp>
      <p:sp>
        <p:nvSpPr>
          <p:cNvPr id="65" name="Oval 64"/>
          <p:cNvSpPr/>
          <p:nvPr/>
        </p:nvSpPr>
        <p:spPr>
          <a:xfrm>
            <a:off x="9692640" y="3922776"/>
            <a:ext cx="82296" cy="82296"/>
          </a:xfrm>
          <a:prstGeom prst="ellipse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9820656" y="3849624"/>
            <a:ext cx="1920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5G product portfolio mapping</a:t>
            </a:r>
          </a:p>
        </p:txBody>
      </p:sp>
      <p:sp>
        <p:nvSpPr>
          <p:cNvPr id="67" name="Oval 66"/>
          <p:cNvSpPr/>
          <p:nvPr/>
        </p:nvSpPr>
        <p:spPr>
          <a:xfrm>
            <a:off x="9692640" y="4544568"/>
            <a:ext cx="82296" cy="82296"/>
          </a:xfrm>
          <a:prstGeom prst="ellipse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9820656" y="4471416"/>
            <a:ext cx="1920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BSS/OSS transformation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0C1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28016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F172A"/>
                </a:solidFill>
              </a:rPr>
              <a:t>Service Offering: TransformHub Intelligence Service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75569"/>
                </a:solidFill>
              </a:rPr>
              <a:t>End-to-end AI-powered transformation intelligence — from discovery to execution roadmap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88952" cy="2743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611112"/>
            <a:ext cx="11521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</a:rPr>
              <a:t>TransformHub · AI-Powered Digital Transformation Intelligence  ·  Consulting Service Offering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051560"/>
            <a:ext cx="11457432" cy="475488"/>
          </a:xfrm>
          <a:prstGeom prst="rect">
            <a:avLst/>
          </a:prstGeom>
          <a:solidFill>
            <a:srgbClr val="0C1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16128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THE 5-PHASE TRANSFORMATION INTELLIGENCE METHODOLOGY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563624"/>
            <a:ext cx="2212848" cy="73152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600200"/>
            <a:ext cx="20299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01 DISCOVER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856231"/>
            <a:ext cx="202996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Digital Landscape
Assessment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78608" y="1783080"/>
            <a:ext cx="18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475569"/>
                </a:solidFill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70048" y="1563624"/>
            <a:ext cx="2212848" cy="73152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61488" y="1600200"/>
            <a:ext cx="20299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02 MAP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61488" y="1856231"/>
            <a:ext cx="202996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Value Stream
Analysis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82896" y="1783080"/>
            <a:ext cx="18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475569"/>
                </a:solidFill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974336" y="1563624"/>
            <a:ext cx="2212848" cy="7315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65776" y="1600200"/>
            <a:ext cx="20299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03 DESIGN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65776" y="1856231"/>
            <a:ext cx="202996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Future State
Vision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87184" y="1783080"/>
            <a:ext cx="18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475569"/>
                </a:solidFill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278624" y="1563624"/>
            <a:ext cx="2212848" cy="7315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70064" y="1600200"/>
            <a:ext cx="20299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04 GOVERN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70064" y="1856231"/>
            <a:ext cx="202996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Risk &amp;
Compliance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91472" y="1783080"/>
            <a:ext cx="18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475569"/>
                </a:solidFill>
              </a:rPr>
              <a:t>→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582912" y="1563624"/>
            <a:ext cx="2212848" cy="73152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74352" y="1600200"/>
            <a:ext cx="20299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05 EXECUTE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74352" y="1856231"/>
            <a:ext cx="202996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Roadmap &amp;
Enablement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2386584"/>
            <a:ext cx="2212848" cy="694944"/>
          </a:xfrm>
          <a:prstGeom prst="rect">
            <a:avLst/>
          </a:prstGeom>
          <a:solidFill>
            <a:srgbClr val="F1F5F9"/>
          </a:solidFill>
          <a:ln w="762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65760" y="2441448"/>
            <a:ext cx="22128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E3A8A"/>
                </a:solidFill>
              </a:rPr>
              <a:t>3–5 days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2770632"/>
            <a:ext cx="22128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75569"/>
                </a:solidFill>
              </a:rPr>
              <a:t>Full discovery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670048" y="2386584"/>
            <a:ext cx="2212848" cy="694944"/>
          </a:xfrm>
          <a:prstGeom prst="rect">
            <a:avLst/>
          </a:prstGeom>
          <a:solidFill>
            <a:srgbClr val="F1F5F9"/>
          </a:solidFill>
          <a:ln w="762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670048" y="2441448"/>
            <a:ext cx="22128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D4ED8"/>
                </a:solidFill>
              </a:rPr>
              <a:t>100%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670048" y="2770632"/>
            <a:ext cx="22128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75569"/>
                </a:solidFill>
              </a:rPr>
              <a:t>VSM coverage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974336" y="2386584"/>
            <a:ext cx="2212848" cy="694944"/>
          </a:xfrm>
          <a:prstGeom prst="rect">
            <a:avLst/>
          </a:prstGeom>
          <a:solidFill>
            <a:srgbClr val="F1F5F9"/>
          </a:solidFill>
          <a:ln w="762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974336" y="2441448"/>
            <a:ext cx="22128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2563EB"/>
                </a:solidFill>
              </a:rPr>
              <a:t>3-band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974336" y="2770632"/>
            <a:ext cx="22128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75569"/>
                </a:solidFill>
              </a:rPr>
              <a:t>Projected metrics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278624" y="2386584"/>
            <a:ext cx="2212848" cy="694944"/>
          </a:xfrm>
          <a:prstGeom prst="rect">
            <a:avLst/>
          </a:prstGeom>
          <a:solidFill>
            <a:srgbClr val="F1F5F9"/>
          </a:solidFill>
          <a:ln w="762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278624" y="2441448"/>
            <a:ext cx="22128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3B82F6"/>
                </a:solidFill>
              </a:rPr>
              <a:t>SHA-256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278624" y="2770632"/>
            <a:ext cx="22128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75569"/>
                </a:solidFill>
              </a:rPr>
              <a:t>Audit trail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582912" y="2386584"/>
            <a:ext cx="2212848" cy="694944"/>
          </a:xfrm>
          <a:prstGeom prst="rect">
            <a:avLst/>
          </a:prstGeom>
          <a:solidFill>
            <a:srgbClr val="F1F5F9"/>
          </a:solidFill>
          <a:ln w="762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582912" y="2441448"/>
            <a:ext cx="22128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60A5FA"/>
                </a:solidFill>
              </a:rPr>
              <a:t>25+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582912" y="2770632"/>
            <a:ext cx="22128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75569"/>
                </a:solidFill>
              </a:rPr>
              <a:t>Deliverables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65760" y="3209544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C1C3A"/>
                </a:solidFill>
              </a:rPr>
              <a:t>What This Offering Includes: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65760" y="3520440"/>
            <a:ext cx="3657600" cy="54864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57200" y="36118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F172A"/>
                </a:solidFill>
              </a:rPr>
              <a:t>🤖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96112" y="3611880"/>
            <a:ext cx="30175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18 AI LangGraph Agents   running continuously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187952" y="3520440"/>
            <a:ext cx="3657600" cy="54864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279392" y="36118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F172A"/>
                </a:solidFill>
              </a:rPr>
              <a:t>📊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718304" y="3611880"/>
            <a:ext cx="30175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Per-module accuracy scoring  on every output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010144" y="3520440"/>
            <a:ext cx="3657600" cy="54864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101583" y="36118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F172A"/>
                </a:solidFill>
              </a:rPr>
              <a:t>🔗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540496" y="3611880"/>
            <a:ext cx="30175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RAG pipeline grounded in   client's own documents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65760" y="4142232"/>
            <a:ext cx="3657600" cy="54864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57200" y="4233672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F172A"/>
                </a:solidFill>
              </a:rPr>
              <a:t>🛡️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96112" y="4233672"/>
            <a:ext cx="30175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Risk gates + compliance   framework mapping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187952" y="4142232"/>
            <a:ext cx="3657600" cy="54864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279392" y="4233672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F172A"/>
                </a:solidFill>
              </a:rPr>
              <a:t>🗺️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718304" y="4233672"/>
            <a:ext cx="30175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End-to-end Mermaid VSM   diagrams for all capabilities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010144" y="4142232"/>
            <a:ext cx="3657600" cy="54864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101583" y="4233672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F172A"/>
                </a:solidFill>
              </a:rPr>
              <a:t>📋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540496" y="4233672"/>
            <a:ext cx="30175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Executive-ready deliverables  at every phase gate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0C1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28016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F172A"/>
                </a:solidFill>
              </a:rPr>
              <a:t>Service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75569"/>
                </a:solidFill>
              </a:rPr>
              <a:t>What this offering is designed to achieve for every client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88952" cy="2743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611112"/>
            <a:ext cx="11521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</a:rPr>
              <a:t>TransformHub · AI-Powered Digital Transformation Intelligence  ·  Consulting Service Offering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051560"/>
            <a:ext cx="11457432" cy="1115568"/>
          </a:xfrm>
          <a:prstGeom prst="rect">
            <a:avLst/>
          </a:prstGeom>
          <a:solidFill>
            <a:srgbClr val="F1F5F9"/>
          </a:solidFill>
          <a:ln w="127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051560"/>
            <a:ext cx="164592" cy="1115568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106424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E3A8A"/>
                </a:solidFill>
              </a:rPr>
              <a:t>Strategic Objective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307592"/>
            <a:ext cx="2926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172A"/>
                </a:solidFill>
              </a:rPr>
              <a:t>Compress Discovery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655064"/>
            <a:ext cx="53035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</a:rPr>
              <a:t>Reduce the time to build a complete digital landscape map from 8–12 weeks to 3–5 days using AI-powered multi-pass discovery across all repositories, APIs, database schemas and documentation.</a:t>
            </a:r>
          </a:p>
        </p:txBody>
      </p:sp>
      <p:sp>
        <p:nvSpPr>
          <p:cNvPr id="12" name="Oval 11"/>
          <p:cNvSpPr/>
          <p:nvPr/>
        </p:nvSpPr>
        <p:spPr>
          <a:xfrm>
            <a:off x="6217920" y="1252728"/>
            <a:ext cx="82296" cy="82296"/>
          </a:xfrm>
          <a:prstGeom prst="ellipse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64224" y="1197863"/>
            <a:ext cx="5303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172A"/>
                </a:solidFill>
              </a:rPr>
              <a:t>3–5 day discovery (vs 8–12 weeks)</a:t>
            </a:r>
          </a:p>
        </p:txBody>
      </p:sp>
      <p:sp>
        <p:nvSpPr>
          <p:cNvPr id="14" name="Oval 13"/>
          <p:cNvSpPr/>
          <p:nvPr/>
        </p:nvSpPr>
        <p:spPr>
          <a:xfrm>
            <a:off x="6217920" y="1490472"/>
            <a:ext cx="82296" cy="82296"/>
          </a:xfrm>
          <a:prstGeom prst="ellipse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64224" y="1435607"/>
            <a:ext cx="5303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172A"/>
                </a:solidFill>
              </a:rPr>
              <a:t>100% capability coverage (vs ~20%)</a:t>
            </a:r>
          </a:p>
        </p:txBody>
      </p:sp>
      <p:sp>
        <p:nvSpPr>
          <p:cNvPr id="16" name="Oval 15"/>
          <p:cNvSpPr/>
          <p:nvPr/>
        </p:nvSpPr>
        <p:spPr>
          <a:xfrm>
            <a:off x="6217920" y="1728216"/>
            <a:ext cx="82296" cy="82296"/>
          </a:xfrm>
          <a:prstGeom prst="ellipse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64224" y="1673351"/>
            <a:ext cx="5303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172A"/>
                </a:solidFill>
              </a:rPr>
              <a:t>Confidence scores on every entity</a:t>
            </a:r>
          </a:p>
        </p:txBody>
      </p:sp>
      <p:sp>
        <p:nvSpPr>
          <p:cNvPr id="18" name="Oval 17"/>
          <p:cNvSpPr/>
          <p:nvPr/>
        </p:nvSpPr>
        <p:spPr>
          <a:xfrm>
            <a:off x="6217920" y="1965960"/>
            <a:ext cx="82296" cy="82296"/>
          </a:xfrm>
          <a:prstGeom prst="ellipse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64224" y="1911095"/>
            <a:ext cx="5303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172A"/>
                </a:solidFill>
              </a:rPr>
              <a:t>8 evidence source types triangulated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2240280"/>
            <a:ext cx="11457432" cy="1115568"/>
          </a:xfrm>
          <a:prstGeom prst="rect">
            <a:avLst/>
          </a:prstGeom>
          <a:solidFill>
            <a:srgbClr val="F1F5F9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65760" y="2240280"/>
            <a:ext cx="164592" cy="111556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2295144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563EB"/>
                </a:solidFill>
              </a:rPr>
              <a:t>Strategic Objective 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2496312"/>
            <a:ext cx="2926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172A"/>
                </a:solidFill>
              </a:rPr>
              <a:t>Ground Every Decision in Data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2843784"/>
            <a:ext cx="53035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</a:rPr>
              <a:t>Replace gut-feel roadmaps with AI-triangulated evidence: VSM data grounded in uploaded benchmarks, projected metrics with conservative/expected/optimistic bands, and RICE-scored prioritisation.</a:t>
            </a:r>
          </a:p>
        </p:txBody>
      </p:sp>
      <p:sp>
        <p:nvSpPr>
          <p:cNvPr id="25" name="Oval 24"/>
          <p:cNvSpPr/>
          <p:nvPr/>
        </p:nvSpPr>
        <p:spPr>
          <a:xfrm>
            <a:off x="6217920" y="2441448"/>
            <a:ext cx="82296" cy="82296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64224" y="2386584"/>
            <a:ext cx="5303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172A"/>
                </a:solidFill>
              </a:rPr>
              <a:t>Benchmark-grounded future state</a:t>
            </a:r>
          </a:p>
        </p:txBody>
      </p:sp>
      <p:sp>
        <p:nvSpPr>
          <p:cNvPr id="27" name="Oval 26"/>
          <p:cNvSpPr/>
          <p:nvPr/>
        </p:nvSpPr>
        <p:spPr>
          <a:xfrm>
            <a:off x="6217920" y="2679192"/>
            <a:ext cx="82296" cy="82296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64224" y="2624328"/>
            <a:ext cx="5303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172A"/>
                </a:solidFill>
              </a:rPr>
              <a:t>3-band projected metrics</a:t>
            </a:r>
          </a:p>
        </p:txBody>
      </p:sp>
      <p:sp>
        <p:nvSpPr>
          <p:cNvPr id="29" name="Oval 28"/>
          <p:cNvSpPr/>
          <p:nvPr/>
        </p:nvSpPr>
        <p:spPr>
          <a:xfrm>
            <a:off x="6217920" y="2916936"/>
            <a:ext cx="82296" cy="82296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64224" y="2862072"/>
            <a:ext cx="5303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172A"/>
                </a:solidFill>
              </a:rPr>
              <a:t>RICE-scored transformation priorities</a:t>
            </a:r>
          </a:p>
        </p:txBody>
      </p:sp>
      <p:sp>
        <p:nvSpPr>
          <p:cNvPr id="31" name="Oval 30"/>
          <p:cNvSpPr/>
          <p:nvPr/>
        </p:nvSpPr>
        <p:spPr>
          <a:xfrm>
            <a:off x="6217920" y="3154680"/>
            <a:ext cx="82296" cy="82296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64224" y="3099816"/>
            <a:ext cx="5303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172A"/>
                </a:solidFill>
              </a:rPr>
              <a:t>BM25 + vector hybrid RAG retrieval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3429000"/>
            <a:ext cx="11457432" cy="1115568"/>
          </a:xfrm>
          <a:prstGeom prst="rect">
            <a:avLst/>
          </a:prstGeom>
          <a:solidFill>
            <a:srgbClr val="F1F5F9"/>
          </a:solidFill>
          <a:ln w="1270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65760" y="3429000"/>
            <a:ext cx="164592" cy="1115568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" y="3483864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0A5FA"/>
                </a:solidFill>
              </a:rPr>
              <a:t>Strategic Objective 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" y="3685032"/>
            <a:ext cx="2926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172A"/>
                </a:solidFill>
              </a:rPr>
              <a:t>Deliver Measurable, Auditable Intelligence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" y="4032504"/>
            <a:ext cx="53035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</a:rPr>
              <a:t>Provide the first transformation advisory service with a quantifiable accuracy score — per-module, per-org — so leadership can evaluate AI output quality and improve it over time.</a:t>
            </a:r>
          </a:p>
        </p:txBody>
      </p:sp>
      <p:sp>
        <p:nvSpPr>
          <p:cNvPr id="38" name="Oval 37"/>
          <p:cNvSpPr/>
          <p:nvPr/>
        </p:nvSpPr>
        <p:spPr>
          <a:xfrm>
            <a:off x="6217920" y="3630168"/>
            <a:ext cx="82296" cy="82296"/>
          </a:xfrm>
          <a:prstGeom prst="ellipse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364224" y="3575304"/>
            <a:ext cx="5303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172A"/>
                </a:solidFill>
              </a:rPr>
              <a:t>65–85% composite accuracy score</a:t>
            </a:r>
          </a:p>
        </p:txBody>
      </p:sp>
      <p:sp>
        <p:nvSpPr>
          <p:cNvPr id="40" name="Oval 39"/>
          <p:cNvSpPr/>
          <p:nvPr/>
        </p:nvSpPr>
        <p:spPr>
          <a:xfrm>
            <a:off x="6217920" y="3867912"/>
            <a:ext cx="82296" cy="82296"/>
          </a:xfrm>
          <a:prstGeom prst="ellipse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364224" y="3813048"/>
            <a:ext cx="5303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172A"/>
                </a:solidFill>
              </a:rPr>
              <a:t>SHA-256 audit trail (tamper-proof)</a:t>
            </a:r>
          </a:p>
        </p:txBody>
      </p:sp>
      <p:sp>
        <p:nvSpPr>
          <p:cNvPr id="42" name="Oval 41"/>
          <p:cNvSpPr/>
          <p:nvPr/>
        </p:nvSpPr>
        <p:spPr>
          <a:xfrm>
            <a:off x="6217920" y="4105656"/>
            <a:ext cx="82296" cy="82296"/>
          </a:xfrm>
          <a:prstGeom prst="ellipse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364224" y="4050791"/>
            <a:ext cx="5303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172A"/>
                </a:solidFill>
              </a:rPr>
              <a:t>Human-in-the-loop approval gates</a:t>
            </a:r>
          </a:p>
        </p:txBody>
      </p:sp>
      <p:sp>
        <p:nvSpPr>
          <p:cNvPr id="44" name="Oval 43"/>
          <p:cNvSpPr/>
          <p:nvPr/>
        </p:nvSpPr>
        <p:spPr>
          <a:xfrm>
            <a:off x="6217920" y="4343400"/>
            <a:ext cx="82296" cy="82296"/>
          </a:xfrm>
          <a:prstGeom prst="ellipse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364224" y="4288536"/>
            <a:ext cx="5303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172A"/>
                </a:solidFill>
              </a:rPr>
              <a:t>Improving scores as agents learn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0C1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28016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F172A"/>
                </a:solidFill>
              </a:rPr>
              <a:t>Quantitative Benefits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75569"/>
                </a:solidFill>
              </a:rPr>
              <a:t>Hard numbers from pilot engagements and platform benchmarks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88952" cy="2743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611112"/>
            <a:ext cx="11521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</a:rPr>
              <a:t>TransformHub · AI-Powered Digital Transformation Intelligence  ·  Consulting Service Offering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051560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C1C3A"/>
                </a:solidFill>
              </a:rPr>
              <a:t>SPEED &amp; EFFICIENCY GAINS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344168"/>
            <a:ext cx="5669280" cy="33832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344168"/>
            <a:ext cx="5669280" cy="310896"/>
          </a:xfrm>
          <a:prstGeom prst="rect">
            <a:avLst/>
          </a:prstGeom>
          <a:solidFill>
            <a:srgbClr val="0C1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399031"/>
            <a:ext cx="1325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Metric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92808" y="1399031"/>
            <a:ext cx="1325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Before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82696" y="1399031"/>
            <a:ext cx="1325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After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72584" y="1399031"/>
            <a:ext cx="1325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Gain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1691639"/>
            <a:ext cx="5669280" cy="56692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1856231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Discovery cycle time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95728" y="1856231"/>
            <a:ext cx="129844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</a:rPr>
              <a:t>8–12 weeks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49039" y="1856231"/>
            <a:ext cx="129844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563EB"/>
                </a:solidFill>
              </a:rPr>
              <a:t>3–5 days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74920" y="1856231"/>
            <a:ext cx="914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0A5FA"/>
                </a:solidFill>
              </a:rPr>
              <a:t>95%↓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2276856"/>
            <a:ext cx="566928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2441448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VSM capability coverage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95728" y="2441448"/>
            <a:ext cx="129844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</a:rPr>
              <a:t>~20%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49039" y="2441448"/>
            <a:ext cx="129844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563EB"/>
                </a:solidFill>
              </a:rPr>
              <a:t>100%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74920" y="2441448"/>
            <a:ext cx="914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0A5FA"/>
                </a:solidFill>
              </a:rPr>
              <a:t>5×↑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2862072"/>
            <a:ext cx="5669280" cy="56692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3026664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Time to transformation roadmap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95728" y="3026664"/>
            <a:ext cx="129844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</a:rPr>
              <a:t>3–4 months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749039" y="3026664"/>
            <a:ext cx="129844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563EB"/>
                </a:solidFill>
              </a:rPr>
              <a:t>2–3 weeks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74920" y="3026664"/>
            <a:ext cx="914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0A5FA"/>
                </a:solidFill>
              </a:rPr>
              <a:t>85%↓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3447287"/>
            <a:ext cx="566928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2920" y="3611879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Analyst productivity (products/person)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395728" y="3611879"/>
            <a:ext cx="129844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</a:rPr>
              <a:t>1–2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749039" y="3611879"/>
            <a:ext cx="129844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563EB"/>
                </a:solidFill>
              </a:rPr>
              <a:t>12–15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74920" y="3611879"/>
            <a:ext cx="914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0A5FA"/>
                </a:solidFill>
              </a:rPr>
              <a:t>8×↑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5760" y="4032504"/>
            <a:ext cx="5669280" cy="56692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2920" y="4197096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Tool consolidation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95728" y="4197096"/>
            <a:ext cx="129844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</a:rPr>
              <a:t>6–8 tools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749039" y="4197096"/>
            <a:ext cx="129844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563EB"/>
                </a:solidFill>
              </a:rPr>
              <a:t>1 platform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74920" y="4197096"/>
            <a:ext cx="914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0A5FA"/>
                </a:solidFill>
              </a:rPr>
              <a:t>75%↓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17920" y="1051560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C1C3A"/>
                </a:solidFill>
              </a:rPr>
              <a:t>FINANCIAL &amp; QUALITY IMPACT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309360" y="1380743"/>
            <a:ext cx="2651760" cy="749808"/>
          </a:xfrm>
          <a:prstGeom prst="rect">
            <a:avLst/>
          </a:prstGeom>
          <a:solidFill>
            <a:srgbClr val="F1F5F9"/>
          </a:solidFill>
          <a:ln w="1016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309360" y="1417319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2563EB"/>
                </a:solidFill>
              </a:rPr>
              <a:t>$200K–400K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0800" y="1801367"/>
            <a:ext cx="2468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75569"/>
                </a:solidFill>
              </a:rPr>
              <a:t>Cost saved vs traditional consulting per engagement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125712" y="1380743"/>
            <a:ext cx="2651760" cy="749808"/>
          </a:xfrm>
          <a:prstGeom prst="rect">
            <a:avLst/>
          </a:prstGeom>
          <a:solidFill>
            <a:srgbClr val="F1F5F9"/>
          </a:solidFill>
          <a:ln w="1016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125712" y="1417319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60A5FA"/>
                </a:solidFill>
              </a:rPr>
              <a:t>$300K–500K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217152" y="1801367"/>
            <a:ext cx="2468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75569"/>
                </a:solidFill>
              </a:rPr>
              <a:t>Annual savings from tool consolidation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309360" y="2203703"/>
            <a:ext cx="2651760" cy="749808"/>
          </a:xfrm>
          <a:prstGeom prst="rect">
            <a:avLst/>
          </a:prstGeom>
          <a:solidFill>
            <a:srgbClr val="F1F5F9"/>
          </a:solidFill>
          <a:ln w="10160">
            <a:solidFill>
              <a:srgbClr val="0C1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309360" y="2240279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C1C3A"/>
                </a:solidFill>
              </a:rPr>
              <a:t>65–85%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00800" y="2624327"/>
            <a:ext cx="2468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75569"/>
                </a:solidFill>
              </a:rPr>
              <a:t>AI output accuracy score (from zero/unscored baseline)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125712" y="2203703"/>
            <a:ext cx="2651760" cy="749808"/>
          </a:xfrm>
          <a:prstGeom prst="rect">
            <a:avLst/>
          </a:prstGeom>
          <a:solidFill>
            <a:srgbClr val="F1F5F9"/>
          </a:solidFill>
          <a:ln w="1016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125712" y="2240279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60A5FA"/>
                </a:solidFill>
              </a:rPr>
              <a:t>3–5×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217152" y="2624327"/>
            <a:ext cx="2468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75569"/>
                </a:solidFill>
              </a:rPr>
              <a:t>ROI for client in first 18 months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309360" y="3026663"/>
            <a:ext cx="2651760" cy="749808"/>
          </a:xfrm>
          <a:prstGeom prst="rect">
            <a:avLst/>
          </a:prstGeom>
          <a:solidFill>
            <a:srgbClr val="F1F5F9"/>
          </a:solidFill>
          <a:ln w="1016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309360" y="3063239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E3A8A"/>
                </a:solidFill>
              </a:rPr>
              <a:t>2–3 CRITICAL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400800" y="3447287"/>
            <a:ext cx="2468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75569"/>
                </a:solidFill>
              </a:rPr>
              <a:t>Risks identified and mitigated pre-transformation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125712" y="3026663"/>
            <a:ext cx="2651760" cy="749808"/>
          </a:xfrm>
          <a:prstGeom prst="rect">
            <a:avLst/>
          </a:prstGeom>
          <a:solidFill>
            <a:srgbClr val="F1F5F9"/>
          </a:solidFill>
          <a:ln w="1016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125712" y="3063239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2563EB"/>
                </a:solidFill>
              </a:rPr>
              <a:t>6 months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217152" y="3447287"/>
            <a:ext cx="2468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75569"/>
                </a:solidFill>
              </a:rPr>
              <a:t>Faster time-to-market for priority digital products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0C1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28016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F172A"/>
                </a:solidFill>
              </a:rPr>
              <a:t>Why This is Critical to Implement Now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75569"/>
                </a:solidFill>
              </a:rPr>
              <a:t>Five forces making 2025–2026 the decisive window for AI-native transformation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88952" cy="2743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611112"/>
            <a:ext cx="11521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</a:rPr>
              <a:t>TransformHub · AI-Powered Digital Transformation Intelligence  ·  Consulting Service Offering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051560"/>
            <a:ext cx="3675887" cy="34747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1115568"/>
            <a:ext cx="3493007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⚖️  Regulatory Pressure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399031"/>
            <a:ext cx="3675887" cy="1572768"/>
          </a:xfrm>
          <a:prstGeom prst="rect">
            <a:avLst/>
          </a:prstGeom>
          <a:solidFill>
            <a:srgbClr val="F1F5F9"/>
          </a:solidFill>
          <a:ln w="63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93776" y="1472184"/>
            <a:ext cx="3474719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EU AI Act (Aug 2026), DORA (Jan 2025), SEC AI disclosure rules and APRA CPS 230 all require documented, auditable AI decision trails. Organisations without an audit-capable platform face fines and remediation costs of $5M–$50M.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3776" y="2715768"/>
            <a:ext cx="347471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1">
                <a:solidFill>
                  <a:srgbClr val="1E3A8A"/>
                </a:solidFill>
              </a:rPr>
              <a:t>Fines up to €30M or 6% of global revenue under EU AI Act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24528" y="1051560"/>
            <a:ext cx="3675887" cy="34747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34256" y="1115568"/>
            <a:ext cx="3493007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🏃  Competitor Velocity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24528" y="1399031"/>
            <a:ext cx="3675887" cy="1572768"/>
          </a:xfrm>
          <a:prstGeom prst="rect">
            <a:avLst/>
          </a:prstGeom>
          <a:solidFill>
            <a:srgbClr val="F1F5F9"/>
          </a:solidFill>
          <a:ln w="635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52544" y="1472184"/>
            <a:ext cx="3474719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67% of financial services firms have AI transformation programmes underway (Accenture 2024). The window to establish AI-native capabilities before competitors embed them is 18–24 months. After that, the gap becomes structural.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52544" y="2715768"/>
            <a:ext cx="347471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1">
                <a:solidFill>
                  <a:srgbClr val="1D4ED8"/>
                </a:solidFill>
              </a:rPr>
              <a:t>First-mover advantage window: 18–24 months remaining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83296" y="1051560"/>
            <a:ext cx="3675887" cy="34747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93023" y="1115568"/>
            <a:ext cx="3493007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💸  Technical Debt Crisis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83296" y="1399031"/>
            <a:ext cx="3675887" cy="1572768"/>
          </a:xfrm>
          <a:prstGeom prst="rect">
            <a:avLst/>
          </a:prstGeom>
          <a:solidFill>
            <a:srgbClr val="F1F5F9"/>
          </a:solidFill>
          <a:ln w="63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11312" y="1472184"/>
            <a:ext cx="3474719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Legacy technical debt is accelerating: the average enterprise spends 72% of IT budget maintaining existing systems (Gartner). Without a systematic capability map, organisations cannot identify which systems to modernise first.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11312" y="2715768"/>
            <a:ext cx="347471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1">
                <a:solidFill>
                  <a:srgbClr val="2563EB"/>
                </a:solidFill>
              </a:rPr>
              <a:t>$3.61T in global technical debt — growing 15% per year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3044952"/>
            <a:ext cx="5650992" cy="34747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5488" y="3108960"/>
            <a:ext cx="546811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📊  Board Accountability Shift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3392424"/>
            <a:ext cx="5650992" cy="1152143"/>
          </a:xfrm>
          <a:prstGeom prst="rect">
            <a:avLst/>
          </a:prstGeom>
          <a:solidFill>
            <a:srgbClr val="F1F5F9"/>
          </a:solidFill>
          <a:ln w="63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93776" y="3465576"/>
            <a:ext cx="5449824" cy="8778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87% of boards now require quantified progress metrics for digital transformation programmes (KPMG 2024). Vague 'transformation journeys' are no longer acceptable — executives need scored, auditable output.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3776" y="4288536"/>
            <a:ext cx="54498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1">
                <a:solidFill>
                  <a:srgbClr val="3B82F6"/>
                </a:solidFill>
              </a:rPr>
              <a:t>87% of boards now demand measurable DT metrics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99632" y="3044952"/>
            <a:ext cx="5650992" cy="347472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09360" y="3108960"/>
            <a:ext cx="546811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🤖  AI Commoditisation Window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99632" y="3392424"/>
            <a:ext cx="5650992" cy="1152143"/>
          </a:xfrm>
          <a:prstGeom prst="rect">
            <a:avLst/>
          </a:prstGeom>
          <a:solidFill>
            <a:srgbClr val="F1F5F9"/>
          </a:solidFill>
          <a:ln w="635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27648" y="3465576"/>
            <a:ext cx="5449824" cy="8778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AI-native consulting tools are 2–3 years from commoditisation. The organisations that establish AI-augmented transformation capabilities now will have 3–5 years of compounding advantage before the market equalises.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27648" y="4288536"/>
            <a:ext cx="54498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1">
                <a:solidFill>
                  <a:srgbClr val="60A5FA"/>
                </a:solidFill>
              </a:rPr>
              <a:t>AI consulting commoditisation: estimated 2027–2028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0C1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28016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F172A"/>
                </a:solidFill>
              </a:rPr>
              <a:t>Consulting Methodology: 5-Phase 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75569"/>
                </a:solidFill>
              </a:rPr>
              <a:t>A structured, repeatable engagement model with AI-augmented delivery at every phase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88952" cy="2743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611112"/>
            <a:ext cx="11521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</a:rPr>
              <a:t>TransformHub · AI-Powered Digital Transformation Intelligence  ·  Consulting Service Offering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051560"/>
            <a:ext cx="2176272" cy="4572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1097280"/>
            <a:ext cx="195681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Phase 01 DISCOVER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1289304"/>
            <a:ext cx="204825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Weeks 1–2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508760"/>
            <a:ext cx="2176272" cy="2852928"/>
          </a:xfrm>
          <a:prstGeom prst="rect">
            <a:avLst/>
          </a:prstGeom>
          <a:solidFill>
            <a:srgbClr val="F1F5F9"/>
          </a:solidFill>
          <a:ln w="63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93776" y="1673352"/>
            <a:ext cx="82296" cy="82296"/>
          </a:xfrm>
          <a:prstGeom prst="ellipse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" y="1618488"/>
            <a:ext cx="18105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Org onboarding</a:t>
            </a:r>
          </a:p>
        </p:txBody>
      </p:sp>
      <p:sp>
        <p:nvSpPr>
          <p:cNvPr id="13" name="Oval 12"/>
          <p:cNvSpPr/>
          <p:nvPr/>
        </p:nvSpPr>
        <p:spPr>
          <a:xfrm>
            <a:off x="493776" y="2148840"/>
            <a:ext cx="82296" cy="82296"/>
          </a:xfrm>
          <a:prstGeom prst="ellipse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" y="2093976"/>
            <a:ext cx="18105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AI repo/API analysis</a:t>
            </a:r>
          </a:p>
        </p:txBody>
      </p:sp>
      <p:sp>
        <p:nvSpPr>
          <p:cNvPr id="15" name="Oval 14"/>
          <p:cNvSpPr/>
          <p:nvPr/>
        </p:nvSpPr>
        <p:spPr>
          <a:xfrm>
            <a:off x="493776" y="2624328"/>
            <a:ext cx="82296" cy="82296"/>
          </a:xfrm>
          <a:prstGeom prst="ellipse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" y="2569464"/>
            <a:ext cx="18105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3-pass capability discovery</a:t>
            </a:r>
          </a:p>
        </p:txBody>
      </p:sp>
      <p:sp>
        <p:nvSpPr>
          <p:cNvPr id="17" name="Oval 16"/>
          <p:cNvSpPr/>
          <p:nvPr/>
        </p:nvSpPr>
        <p:spPr>
          <a:xfrm>
            <a:off x="493776" y="3099816"/>
            <a:ext cx="82296" cy="82296"/>
          </a:xfrm>
          <a:prstGeom prst="ellipse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1792" y="3044952"/>
            <a:ext cx="18105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Stakeholder interviews</a:t>
            </a:r>
          </a:p>
        </p:txBody>
      </p:sp>
      <p:sp>
        <p:nvSpPr>
          <p:cNvPr id="19" name="Oval 18"/>
          <p:cNvSpPr/>
          <p:nvPr/>
        </p:nvSpPr>
        <p:spPr>
          <a:xfrm>
            <a:off x="493776" y="3575304"/>
            <a:ext cx="82296" cy="82296"/>
          </a:xfrm>
          <a:prstGeom prst="ellipse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1792" y="3520440"/>
            <a:ext cx="18105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Confidence scoring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670048" y="1051560"/>
            <a:ext cx="2176272" cy="4572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79776" y="1097280"/>
            <a:ext cx="195681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Phase 02 MAP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79776" y="1289304"/>
            <a:ext cx="204825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Weeks 3–4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670048" y="1508760"/>
            <a:ext cx="2176272" cy="2852928"/>
          </a:xfrm>
          <a:prstGeom prst="rect">
            <a:avLst/>
          </a:prstGeom>
          <a:solidFill>
            <a:srgbClr val="F1F5F9"/>
          </a:solidFill>
          <a:ln w="635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2798064" y="1673352"/>
            <a:ext cx="82296" cy="82296"/>
          </a:xfrm>
          <a:prstGeom prst="ellipse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926080" y="1618488"/>
            <a:ext cx="18105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L1/L2/L3 VSM build</a:t>
            </a:r>
          </a:p>
        </p:txBody>
      </p:sp>
      <p:sp>
        <p:nvSpPr>
          <p:cNvPr id="27" name="Oval 26"/>
          <p:cNvSpPr/>
          <p:nvPr/>
        </p:nvSpPr>
        <p:spPr>
          <a:xfrm>
            <a:off x="2798064" y="2148840"/>
            <a:ext cx="82296" cy="82296"/>
          </a:xfrm>
          <a:prstGeom prst="ellipse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926080" y="2093976"/>
            <a:ext cx="18105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Bottleneck identification</a:t>
            </a:r>
          </a:p>
        </p:txBody>
      </p:sp>
      <p:sp>
        <p:nvSpPr>
          <p:cNvPr id="29" name="Oval 28"/>
          <p:cNvSpPr/>
          <p:nvPr/>
        </p:nvSpPr>
        <p:spPr>
          <a:xfrm>
            <a:off x="2798064" y="2624328"/>
            <a:ext cx="82296" cy="82296"/>
          </a:xfrm>
          <a:prstGeom prst="ellipse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926080" y="2569464"/>
            <a:ext cx="18105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Flow efficiency baseline</a:t>
            </a:r>
          </a:p>
        </p:txBody>
      </p:sp>
      <p:sp>
        <p:nvSpPr>
          <p:cNvPr id="31" name="Oval 30"/>
          <p:cNvSpPr/>
          <p:nvPr/>
        </p:nvSpPr>
        <p:spPr>
          <a:xfrm>
            <a:off x="2798064" y="3099816"/>
            <a:ext cx="82296" cy="82296"/>
          </a:xfrm>
          <a:prstGeom prst="ellipse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926080" y="3044952"/>
            <a:ext cx="18105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Mermaid diagram generation</a:t>
            </a:r>
          </a:p>
        </p:txBody>
      </p:sp>
      <p:sp>
        <p:nvSpPr>
          <p:cNvPr id="33" name="Oval 32"/>
          <p:cNvSpPr/>
          <p:nvPr/>
        </p:nvSpPr>
        <p:spPr>
          <a:xfrm>
            <a:off x="2798064" y="3575304"/>
            <a:ext cx="82296" cy="82296"/>
          </a:xfrm>
          <a:prstGeom prst="ellipse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926080" y="3520440"/>
            <a:ext cx="18105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Benchmark comparison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974336" y="1051560"/>
            <a:ext cx="2176272" cy="457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084064" y="1097280"/>
            <a:ext cx="195681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Phase 03 DESIGN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84064" y="1289304"/>
            <a:ext cx="204825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Weeks 5–6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974336" y="1508760"/>
            <a:ext cx="2176272" cy="2852928"/>
          </a:xfrm>
          <a:prstGeom prst="rect">
            <a:avLst/>
          </a:prstGeom>
          <a:solidFill>
            <a:srgbClr val="F1F5F9"/>
          </a:solidFill>
          <a:ln w="63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5102352" y="1673352"/>
            <a:ext cx="82296" cy="82296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230368" y="1618488"/>
            <a:ext cx="18105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Automation mix analysis</a:t>
            </a:r>
          </a:p>
        </p:txBody>
      </p:sp>
      <p:sp>
        <p:nvSpPr>
          <p:cNvPr id="41" name="Oval 40"/>
          <p:cNvSpPr/>
          <p:nvPr/>
        </p:nvSpPr>
        <p:spPr>
          <a:xfrm>
            <a:off x="5102352" y="2148840"/>
            <a:ext cx="82296" cy="82296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230368" y="2093976"/>
            <a:ext cx="18105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Future state architecture</a:t>
            </a:r>
          </a:p>
        </p:txBody>
      </p:sp>
      <p:sp>
        <p:nvSpPr>
          <p:cNvPr id="43" name="Oval 42"/>
          <p:cNvSpPr/>
          <p:nvPr/>
        </p:nvSpPr>
        <p:spPr>
          <a:xfrm>
            <a:off x="5102352" y="2624328"/>
            <a:ext cx="82296" cy="82296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230368" y="2569464"/>
            <a:ext cx="18105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3-band projection model</a:t>
            </a:r>
          </a:p>
        </p:txBody>
      </p:sp>
      <p:sp>
        <p:nvSpPr>
          <p:cNvPr id="45" name="Oval 44"/>
          <p:cNvSpPr/>
          <p:nvPr/>
        </p:nvSpPr>
        <p:spPr>
          <a:xfrm>
            <a:off x="5102352" y="3099816"/>
            <a:ext cx="82296" cy="82296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230368" y="3044952"/>
            <a:ext cx="18105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RICE prioritisation</a:t>
            </a:r>
          </a:p>
        </p:txBody>
      </p:sp>
      <p:sp>
        <p:nvSpPr>
          <p:cNvPr id="47" name="Oval 46"/>
          <p:cNvSpPr/>
          <p:nvPr/>
        </p:nvSpPr>
        <p:spPr>
          <a:xfrm>
            <a:off x="5102352" y="3575304"/>
            <a:ext cx="82296" cy="82296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230368" y="3520440"/>
            <a:ext cx="18105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Tech stack assessment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278624" y="1051560"/>
            <a:ext cx="2176272" cy="4572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388352" y="1097280"/>
            <a:ext cx="195681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Phase 04 GOVERN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388352" y="1289304"/>
            <a:ext cx="204825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Week 7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278624" y="1508760"/>
            <a:ext cx="2176272" cy="2852928"/>
          </a:xfrm>
          <a:prstGeom prst="rect">
            <a:avLst/>
          </a:prstGeom>
          <a:solidFill>
            <a:srgbClr val="F1F5F9"/>
          </a:solidFill>
          <a:ln w="63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7406640" y="1673352"/>
            <a:ext cx="82296" cy="82296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534656" y="1618488"/>
            <a:ext cx="18105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Risk identification (AI)</a:t>
            </a:r>
          </a:p>
        </p:txBody>
      </p:sp>
      <p:sp>
        <p:nvSpPr>
          <p:cNvPr id="55" name="Oval 54"/>
          <p:cNvSpPr/>
          <p:nvPr/>
        </p:nvSpPr>
        <p:spPr>
          <a:xfrm>
            <a:off x="7406640" y="2148840"/>
            <a:ext cx="82296" cy="82296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534656" y="2093976"/>
            <a:ext cx="18105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Compliance framework map</a:t>
            </a:r>
          </a:p>
        </p:txBody>
      </p:sp>
      <p:sp>
        <p:nvSpPr>
          <p:cNvPr id="57" name="Oval 56"/>
          <p:cNvSpPr/>
          <p:nvPr/>
        </p:nvSpPr>
        <p:spPr>
          <a:xfrm>
            <a:off x="7406640" y="2624328"/>
            <a:ext cx="82296" cy="82296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534656" y="2569464"/>
            <a:ext cx="18105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SHA-256 audit setup</a:t>
            </a:r>
          </a:p>
        </p:txBody>
      </p:sp>
      <p:sp>
        <p:nvSpPr>
          <p:cNvPr id="59" name="Oval 58"/>
          <p:cNvSpPr/>
          <p:nvPr/>
        </p:nvSpPr>
        <p:spPr>
          <a:xfrm>
            <a:off x="7406640" y="3099816"/>
            <a:ext cx="82296" cy="82296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534656" y="3044952"/>
            <a:ext cx="18105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Risk gate thresholds</a:t>
            </a:r>
          </a:p>
        </p:txBody>
      </p:sp>
      <p:sp>
        <p:nvSpPr>
          <p:cNvPr id="61" name="Oval 60"/>
          <p:cNvSpPr/>
          <p:nvPr/>
        </p:nvSpPr>
        <p:spPr>
          <a:xfrm>
            <a:off x="7406640" y="3575304"/>
            <a:ext cx="82296" cy="82296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534656" y="3520440"/>
            <a:ext cx="18105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Mitigation planning</a:t>
            </a:r>
          </a:p>
        </p:txBody>
      </p:sp>
      <p:sp>
        <p:nvSpPr>
          <p:cNvPr id="63" name="Rectangle 62"/>
          <p:cNvSpPr/>
          <p:nvPr/>
        </p:nvSpPr>
        <p:spPr>
          <a:xfrm>
            <a:off x="9582912" y="1051560"/>
            <a:ext cx="2176272" cy="4572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9692640" y="1097280"/>
            <a:ext cx="195681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Phase 05 EXECUTE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692640" y="1289304"/>
            <a:ext cx="204825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Week 8</a:t>
            </a:r>
          </a:p>
        </p:txBody>
      </p:sp>
      <p:sp>
        <p:nvSpPr>
          <p:cNvPr id="66" name="Rectangle 65"/>
          <p:cNvSpPr/>
          <p:nvPr/>
        </p:nvSpPr>
        <p:spPr>
          <a:xfrm>
            <a:off x="9582912" y="1508760"/>
            <a:ext cx="2176272" cy="2852928"/>
          </a:xfrm>
          <a:prstGeom prst="rect">
            <a:avLst/>
          </a:prstGeom>
          <a:solidFill>
            <a:srgbClr val="F1F5F9"/>
          </a:solidFill>
          <a:ln w="635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9710928" y="1673352"/>
            <a:ext cx="82296" cy="82296"/>
          </a:xfrm>
          <a:prstGeom prst="ellipse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9838944" y="1618488"/>
            <a:ext cx="18105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Roadmap construction</a:t>
            </a:r>
          </a:p>
        </p:txBody>
      </p:sp>
      <p:sp>
        <p:nvSpPr>
          <p:cNvPr id="69" name="Oval 68"/>
          <p:cNvSpPr/>
          <p:nvPr/>
        </p:nvSpPr>
        <p:spPr>
          <a:xfrm>
            <a:off x="9710928" y="2148840"/>
            <a:ext cx="82296" cy="82296"/>
          </a:xfrm>
          <a:prstGeom prst="ellipse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9838944" y="2093976"/>
            <a:ext cx="18105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Architecture blueprint</a:t>
            </a:r>
          </a:p>
        </p:txBody>
      </p:sp>
      <p:sp>
        <p:nvSpPr>
          <p:cNvPr id="71" name="Oval 70"/>
          <p:cNvSpPr/>
          <p:nvPr/>
        </p:nvSpPr>
        <p:spPr>
          <a:xfrm>
            <a:off x="9710928" y="2624328"/>
            <a:ext cx="82296" cy="82296"/>
          </a:xfrm>
          <a:prstGeom prst="ellipse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9838944" y="2569464"/>
            <a:ext cx="18105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Exec presentation</a:t>
            </a:r>
          </a:p>
        </p:txBody>
      </p:sp>
      <p:sp>
        <p:nvSpPr>
          <p:cNvPr id="73" name="Oval 72"/>
          <p:cNvSpPr/>
          <p:nvPr/>
        </p:nvSpPr>
        <p:spPr>
          <a:xfrm>
            <a:off x="9710928" y="3099816"/>
            <a:ext cx="82296" cy="82296"/>
          </a:xfrm>
          <a:prstGeom prst="ellipse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9838944" y="3044952"/>
            <a:ext cx="18105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KB population</a:t>
            </a:r>
          </a:p>
        </p:txBody>
      </p:sp>
      <p:sp>
        <p:nvSpPr>
          <p:cNvPr id="75" name="Oval 74"/>
          <p:cNvSpPr/>
          <p:nvPr/>
        </p:nvSpPr>
        <p:spPr>
          <a:xfrm>
            <a:off x="9710928" y="3575304"/>
            <a:ext cx="82296" cy="82296"/>
          </a:xfrm>
          <a:prstGeom prst="ellipse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9838944" y="3520440"/>
            <a:ext cx="18105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Accuracy baseline</a:t>
            </a:r>
          </a:p>
        </p:txBody>
      </p:sp>
      <p:sp>
        <p:nvSpPr>
          <p:cNvPr id="77" name="Rectangle 76"/>
          <p:cNvSpPr/>
          <p:nvPr/>
        </p:nvSpPr>
        <p:spPr>
          <a:xfrm>
            <a:off x="2377440" y="2514600"/>
            <a:ext cx="201168" cy="402336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2395728" y="2532888"/>
            <a:ext cx="1645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475569"/>
                </a:solidFill>
              </a:rPr>
              <a:t>✓
Gate</a:t>
            </a:r>
          </a:p>
        </p:txBody>
      </p:sp>
      <p:sp>
        <p:nvSpPr>
          <p:cNvPr id="79" name="Rectangle 78"/>
          <p:cNvSpPr/>
          <p:nvPr/>
        </p:nvSpPr>
        <p:spPr>
          <a:xfrm>
            <a:off x="4681727" y="2514600"/>
            <a:ext cx="201168" cy="402336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4700016" y="2532888"/>
            <a:ext cx="1645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475569"/>
                </a:solidFill>
              </a:rPr>
              <a:t>✓
Gate</a:t>
            </a:r>
          </a:p>
        </p:txBody>
      </p:sp>
      <p:sp>
        <p:nvSpPr>
          <p:cNvPr id="81" name="Rectangle 80"/>
          <p:cNvSpPr/>
          <p:nvPr/>
        </p:nvSpPr>
        <p:spPr>
          <a:xfrm>
            <a:off x="6986016" y="2514600"/>
            <a:ext cx="201168" cy="402336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7004304" y="2532888"/>
            <a:ext cx="1645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475569"/>
                </a:solidFill>
              </a:rPr>
              <a:t>✓
Gate</a:t>
            </a:r>
          </a:p>
        </p:txBody>
      </p:sp>
      <p:sp>
        <p:nvSpPr>
          <p:cNvPr id="83" name="Rectangle 82"/>
          <p:cNvSpPr/>
          <p:nvPr/>
        </p:nvSpPr>
        <p:spPr>
          <a:xfrm>
            <a:off x="9290304" y="2514600"/>
            <a:ext cx="201168" cy="402336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9308592" y="2532888"/>
            <a:ext cx="1645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475569"/>
                </a:solidFill>
              </a:rPr>
              <a:t>✓
Gate</a:t>
            </a:r>
          </a:p>
        </p:txBody>
      </p:sp>
      <p:sp>
        <p:nvSpPr>
          <p:cNvPr id="85" name="Rectangle 84"/>
          <p:cNvSpPr/>
          <p:nvPr/>
        </p:nvSpPr>
        <p:spPr>
          <a:xfrm>
            <a:off x="365760" y="4434840"/>
            <a:ext cx="11457432" cy="420624"/>
          </a:xfrm>
          <a:prstGeom prst="rect">
            <a:avLst/>
          </a:prstGeom>
          <a:solidFill>
            <a:srgbClr val="0C1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502920" y="4526279"/>
            <a:ext cx="11155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Total Deliverables:  25+  artefacts  ·  Every phase has a client-owned, executive-ready output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28016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F172A"/>
                </a:solidFill>
              </a:rPr>
              <a:t>Phase 1: Digital Landscape Discovery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75569"/>
                </a:solidFill>
              </a:rPr>
              <a:t>Weeks 1–2  ·  AI-powered, multi-pass discovery of all digital products, capabilities and functionalities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88952" cy="2743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611112"/>
            <a:ext cx="11521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</a:rPr>
              <a:t>TransformHub · AI-Powered Digital Transformation Intelligence  ·  Consulting Service Offering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051560"/>
            <a:ext cx="219456" cy="523951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94944" y="1051560"/>
            <a:ext cx="5120640" cy="36576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124712"/>
            <a:ext cx="493775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Key Activities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4944" y="1417319"/>
            <a:ext cx="5120640" cy="4873752"/>
          </a:xfrm>
          <a:prstGeom prst="rect">
            <a:avLst/>
          </a:prstGeom>
          <a:solidFill>
            <a:srgbClr val="F1F5F9"/>
          </a:solidFill>
          <a:ln w="63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22960" y="1581912"/>
            <a:ext cx="82296" cy="82296"/>
          </a:xfrm>
          <a:prstGeom prst="ellipse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50976" y="1527048"/>
            <a:ext cx="4754879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Day 1–2: Organisation onboarding — connect to GitHub, OpenAPI specs, DB schemas, test suites</a:t>
            </a:r>
          </a:p>
        </p:txBody>
      </p:sp>
      <p:sp>
        <p:nvSpPr>
          <p:cNvPr id="13" name="Oval 12"/>
          <p:cNvSpPr/>
          <p:nvPr/>
        </p:nvSpPr>
        <p:spPr>
          <a:xfrm>
            <a:off x="822960" y="2020824"/>
            <a:ext cx="82296" cy="82296"/>
          </a:xfrm>
          <a:prstGeom prst="ellipse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0976" y="1965960"/>
            <a:ext cx="4754879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Day 2–3: AI Pass 1 — identify all Digital Products with human review gate</a:t>
            </a:r>
          </a:p>
        </p:txBody>
      </p:sp>
      <p:sp>
        <p:nvSpPr>
          <p:cNvPr id="15" name="Oval 14"/>
          <p:cNvSpPr/>
          <p:nvPr/>
        </p:nvSpPr>
        <p:spPr>
          <a:xfrm>
            <a:off x="822960" y="2459736"/>
            <a:ext cx="82296" cy="82296"/>
          </a:xfrm>
          <a:prstGeom prst="ellipse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50976" y="2404872"/>
            <a:ext cx="4754879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Day 3–4: AI Pass 2 — map Capabilities per approved product with confidence scores</a:t>
            </a:r>
          </a:p>
        </p:txBody>
      </p:sp>
      <p:sp>
        <p:nvSpPr>
          <p:cNvPr id="17" name="Oval 16"/>
          <p:cNvSpPr/>
          <p:nvPr/>
        </p:nvSpPr>
        <p:spPr>
          <a:xfrm>
            <a:off x="822960" y="2898648"/>
            <a:ext cx="82296" cy="82296"/>
          </a:xfrm>
          <a:prstGeom prst="ellipse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50976" y="2843784"/>
            <a:ext cx="4754879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Day 4–5: AI Pass 3 — extract Functionalities with source attribution (8 evidence types)</a:t>
            </a:r>
          </a:p>
        </p:txBody>
      </p:sp>
      <p:sp>
        <p:nvSpPr>
          <p:cNvPr id="19" name="Oval 18"/>
          <p:cNvSpPr/>
          <p:nvPr/>
        </p:nvSpPr>
        <p:spPr>
          <a:xfrm>
            <a:off x="822960" y="3337560"/>
            <a:ext cx="82296" cy="82296"/>
          </a:xfrm>
          <a:prstGeom prst="ellipse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0976" y="3282696"/>
            <a:ext cx="4754879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Day 5–8: Stakeholder workshops to validate AI findings (not to gather them)</a:t>
            </a:r>
          </a:p>
        </p:txBody>
      </p:sp>
      <p:sp>
        <p:nvSpPr>
          <p:cNvPr id="21" name="Oval 20"/>
          <p:cNvSpPr/>
          <p:nvPr/>
        </p:nvSpPr>
        <p:spPr>
          <a:xfrm>
            <a:off x="822960" y="3776472"/>
            <a:ext cx="82296" cy="82296"/>
          </a:xfrm>
          <a:prstGeom prst="ellipse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50976" y="3721608"/>
            <a:ext cx="4754879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Day 9–10: Business segment classification + repository mapping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61888" y="1051560"/>
            <a:ext cx="5870448" cy="36576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089903" y="1124712"/>
            <a:ext cx="568756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Deliverables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61888" y="1417319"/>
            <a:ext cx="5870448" cy="4873752"/>
          </a:xfrm>
          <a:prstGeom prst="rect">
            <a:avLst/>
          </a:prstGeom>
          <a:solidFill>
            <a:srgbClr val="F1F5F9"/>
          </a:solidFill>
          <a:ln w="63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089903" y="1581912"/>
            <a:ext cx="82296" cy="82296"/>
          </a:xfrm>
          <a:prstGeom prst="ellipse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17920" y="1527048"/>
            <a:ext cx="550468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D1.1  Digital Product Inventory (9–15 products typical)</a:t>
            </a:r>
          </a:p>
        </p:txBody>
      </p:sp>
      <p:sp>
        <p:nvSpPr>
          <p:cNvPr id="28" name="Oval 27"/>
          <p:cNvSpPr/>
          <p:nvPr/>
        </p:nvSpPr>
        <p:spPr>
          <a:xfrm>
            <a:off x="6089903" y="2020824"/>
            <a:ext cx="82296" cy="82296"/>
          </a:xfrm>
          <a:prstGeom prst="ellipse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17920" y="1965960"/>
            <a:ext cx="550468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D1.2  Capability Map with confidence scores (78–120 capabilities)</a:t>
            </a:r>
          </a:p>
        </p:txBody>
      </p:sp>
      <p:sp>
        <p:nvSpPr>
          <p:cNvPr id="30" name="Oval 29"/>
          <p:cNvSpPr/>
          <p:nvPr/>
        </p:nvSpPr>
        <p:spPr>
          <a:xfrm>
            <a:off x="6089903" y="2459736"/>
            <a:ext cx="82296" cy="82296"/>
          </a:xfrm>
          <a:prstGeom prst="ellipse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17920" y="2404872"/>
            <a:ext cx="550468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D1.3  Functionality Decomposition (200–400 functionalities)</a:t>
            </a:r>
          </a:p>
        </p:txBody>
      </p:sp>
      <p:sp>
        <p:nvSpPr>
          <p:cNvPr id="32" name="Oval 31"/>
          <p:cNvSpPr/>
          <p:nvPr/>
        </p:nvSpPr>
        <p:spPr>
          <a:xfrm>
            <a:off x="6089903" y="2898648"/>
            <a:ext cx="82296" cy="82296"/>
          </a:xfrm>
          <a:prstGeom prst="ellipse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17920" y="2843784"/>
            <a:ext cx="550468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D1.4  Source Attribution Report (GitHub, OpenAPI, DB, Tests)</a:t>
            </a:r>
          </a:p>
        </p:txBody>
      </p:sp>
      <p:sp>
        <p:nvSpPr>
          <p:cNvPr id="34" name="Oval 33"/>
          <p:cNvSpPr/>
          <p:nvPr/>
        </p:nvSpPr>
        <p:spPr>
          <a:xfrm>
            <a:off x="6089903" y="3337560"/>
            <a:ext cx="82296" cy="82296"/>
          </a:xfrm>
          <a:prstGeom prst="ellipse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17920" y="3282696"/>
            <a:ext cx="550468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D1.5  Discovery Accuracy Baseline Report (~85% typical)</a:t>
            </a:r>
          </a:p>
        </p:txBody>
      </p:sp>
      <p:sp>
        <p:nvSpPr>
          <p:cNvPr id="36" name="Oval 35"/>
          <p:cNvSpPr/>
          <p:nvPr/>
        </p:nvSpPr>
        <p:spPr>
          <a:xfrm>
            <a:off x="6089903" y="3776472"/>
            <a:ext cx="82296" cy="82296"/>
          </a:xfrm>
          <a:prstGeom prst="ellipse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17920" y="3721608"/>
            <a:ext cx="550468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D1.6  Executive Summary — landscape overview (board-ready)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65760" y="6272784"/>
            <a:ext cx="11457432" cy="512064"/>
          </a:xfrm>
          <a:prstGeom prst="rect">
            <a:avLst/>
          </a:prstGeom>
          <a:solidFill>
            <a:srgbClr val="FEF2F2"/>
          </a:solidFill>
          <a:ln w="63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0080" y="628192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E3A8A"/>
                </a:solidFill>
              </a:rPr>
              <a:t>3–5 days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" y="6547104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75569"/>
                </a:solidFill>
              </a:rPr>
              <a:t>Full discovery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383280" y="628192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E3A8A"/>
                </a:solidFill>
              </a:rPr>
              <a:t>95%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383280" y="6547104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75569"/>
                </a:solidFill>
              </a:rPr>
              <a:t>Faster than workshops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126480" y="628192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E3A8A"/>
                </a:solidFill>
              </a:rPr>
              <a:t>8 sources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126480" y="6547104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75569"/>
                </a:solidFill>
              </a:rPr>
              <a:t>Evidence triangulation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869680" y="628192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E3A8A"/>
                </a:solidFill>
              </a:rPr>
              <a:t>85%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869680" y="6547104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75569"/>
                </a:solidFill>
              </a:rPr>
              <a:t>Avg accuracy score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28016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F172A"/>
                </a:solidFill>
              </a:rPr>
              <a:t>Phase 2: Value Stream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75569"/>
                </a:solidFill>
              </a:rPr>
              <a:t>Weeks 3–4  ·  Three-level VSM across all capabilities — bottlenecks, waste and flow efficiency quantified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88952" cy="2743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611112"/>
            <a:ext cx="11521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</a:rPr>
              <a:t>TransformHub · AI-Powered Digital Transformation Intelligence  ·  Consulting Service Offering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051560"/>
            <a:ext cx="219456" cy="523951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94944" y="1051560"/>
            <a:ext cx="5120640" cy="36576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124712"/>
            <a:ext cx="493775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Key Activities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4944" y="1417319"/>
            <a:ext cx="5120640" cy="4873752"/>
          </a:xfrm>
          <a:prstGeom prst="rect">
            <a:avLst/>
          </a:prstGeom>
          <a:solidFill>
            <a:srgbClr val="EFF6FF"/>
          </a:solidFill>
          <a:ln w="635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22960" y="1581912"/>
            <a:ext cx="82296" cy="82296"/>
          </a:xfrm>
          <a:prstGeom prst="ellipse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50976" y="1527048"/>
            <a:ext cx="4754879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L1 Analysis: Segment-level flow across all products — identify which products are bottlenecked</a:t>
            </a:r>
          </a:p>
        </p:txBody>
      </p:sp>
      <p:sp>
        <p:nvSpPr>
          <p:cNvPr id="13" name="Oval 12"/>
          <p:cNvSpPr/>
          <p:nvPr/>
        </p:nvSpPr>
        <p:spPr>
          <a:xfrm>
            <a:off x="822960" y="2020824"/>
            <a:ext cx="82296" cy="82296"/>
          </a:xfrm>
          <a:prstGeom prst="ellipse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0976" y="1965960"/>
            <a:ext cx="4754879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L2 Analysis: Product-level capability-by-capability metrics (process time, wait time, flow efficiency)</a:t>
            </a:r>
          </a:p>
        </p:txBody>
      </p:sp>
      <p:sp>
        <p:nvSpPr>
          <p:cNvPr id="15" name="Oval 14"/>
          <p:cNvSpPr/>
          <p:nvPr/>
        </p:nvSpPr>
        <p:spPr>
          <a:xfrm>
            <a:off x="822960" y="2459736"/>
            <a:ext cx="82296" cy="82296"/>
          </a:xfrm>
          <a:prstGeom prst="ellipse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50976" y="2404872"/>
            <a:ext cx="4754879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L3 Analysis: Functionality-level step classification — Value-Adding / Bottleneck / Waste / Waiting</a:t>
            </a:r>
          </a:p>
        </p:txBody>
      </p:sp>
      <p:sp>
        <p:nvSpPr>
          <p:cNvPr id="17" name="Oval 16"/>
          <p:cNvSpPr/>
          <p:nvPr/>
        </p:nvSpPr>
        <p:spPr>
          <a:xfrm>
            <a:off x="822960" y="2898648"/>
            <a:ext cx="82296" cy="82296"/>
          </a:xfrm>
          <a:prstGeom prst="ellipse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50976" y="2843784"/>
            <a:ext cx="4754879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Mermaid diagram auto-generation for every capability (100% coverage, not sampled)</a:t>
            </a:r>
          </a:p>
        </p:txBody>
      </p:sp>
      <p:sp>
        <p:nvSpPr>
          <p:cNvPr id="19" name="Oval 18"/>
          <p:cNvSpPr/>
          <p:nvPr/>
        </p:nvSpPr>
        <p:spPr>
          <a:xfrm>
            <a:off x="822960" y="3337560"/>
            <a:ext cx="82296" cy="82296"/>
          </a:xfrm>
          <a:prstGeom prst="ellipse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0976" y="3282696"/>
            <a:ext cx="4754879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Industry benchmark comparison using uploaded VSM KPI benchmarks</a:t>
            </a:r>
          </a:p>
        </p:txBody>
      </p:sp>
      <p:sp>
        <p:nvSpPr>
          <p:cNvPr id="21" name="Oval 20"/>
          <p:cNvSpPr/>
          <p:nvPr/>
        </p:nvSpPr>
        <p:spPr>
          <a:xfrm>
            <a:off x="822960" y="3776472"/>
            <a:ext cx="82296" cy="82296"/>
          </a:xfrm>
          <a:prstGeom prst="ellipse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50976" y="3721608"/>
            <a:ext cx="4754879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Bottleneck register creation — rank waste by business impact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61888" y="1051560"/>
            <a:ext cx="5870448" cy="36576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089903" y="1124712"/>
            <a:ext cx="568756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Deliverables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61888" y="1417319"/>
            <a:ext cx="5870448" cy="4873752"/>
          </a:xfrm>
          <a:prstGeom prst="rect">
            <a:avLst/>
          </a:prstGeom>
          <a:solidFill>
            <a:srgbClr val="EFF6FF"/>
          </a:solidFill>
          <a:ln w="635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089903" y="1581912"/>
            <a:ext cx="82296" cy="82296"/>
          </a:xfrm>
          <a:prstGeom prst="ellipse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17920" y="1527048"/>
            <a:ext cx="550468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D2.1  L1/L2/L3 VSM Diagrams — Mermaid visualisations for all capabilities</a:t>
            </a:r>
          </a:p>
        </p:txBody>
      </p:sp>
      <p:sp>
        <p:nvSpPr>
          <p:cNvPr id="28" name="Oval 27"/>
          <p:cNvSpPr/>
          <p:nvPr/>
        </p:nvSpPr>
        <p:spPr>
          <a:xfrm>
            <a:off x="6089903" y="2020824"/>
            <a:ext cx="82296" cy="82296"/>
          </a:xfrm>
          <a:prstGeom prst="ellipse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17920" y="1965960"/>
            <a:ext cx="550468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D2.2  Flow Efficiency Baseline Report (current state, per capability)</a:t>
            </a:r>
          </a:p>
        </p:txBody>
      </p:sp>
      <p:sp>
        <p:nvSpPr>
          <p:cNvPr id="30" name="Oval 29"/>
          <p:cNvSpPr/>
          <p:nvPr/>
        </p:nvSpPr>
        <p:spPr>
          <a:xfrm>
            <a:off x="6089903" y="2459736"/>
            <a:ext cx="82296" cy="82296"/>
          </a:xfrm>
          <a:prstGeom prst="ellipse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17920" y="2404872"/>
            <a:ext cx="550468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D2.3  Bottleneck &amp; Waste Register (ranked by business impact)</a:t>
            </a:r>
          </a:p>
        </p:txBody>
      </p:sp>
      <p:sp>
        <p:nvSpPr>
          <p:cNvPr id="32" name="Oval 31"/>
          <p:cNvSpPr/>
          <p:nvPr/>
        </p:nvSpPr>
        <p:spPr>
          <a:xfrm>
            <a:off x="6089903" y="2898648"/>
            <a:ext cx="82296" cy="82296"/>
          </a:xfrm>
          <a:prstGeom prst="ellipse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17920" y="2843784"/>
            <a:ext cx="550468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D2.4  Industry Benchmark Comparison (process time, cycle time, FE%)</a:t>
            </a:r>
          </a:p>
        </p:txBody>
      </p:sp>
      <p:sp>
        <p:nvSpPr>
          <p:cNvPr id="34" name="Oval 33"/>
          <p:cNvSpPr/>
          <p:nvPr/>
        </p:nvSpPr>
        <p:spPr>
          <a:xfrm>
            <a:off x="6089903" y="3337560"/>
            <a:ext cx="82296" cy="82296"/>
          </a:xfrm>
          <a:prstGeom prst="ellipse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17920" y="3282696"/>
            <a:ext cx="550468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D2.5  VSM Accuracy Report (~72% typical for seeded, higher for live)</a:t>
            </a:r>
          </a:p>
        </p:txBody>
      </p:sp>
      <p:sp>
        <p:nvSpPr>
          <p:cNvPr id="36" name="Oval 35"/>
          <p:cNvSpPr/>
          <p:nvPr/>
        </p:nvSpPr>
        <p:spPr>
          <a:xfrm>
            <a:off x="6089903" y="3776472"/>
            <a:ext cx="82296" cy="82296"/>
          </a:xfrm>
          <a:prstGeom prst="ellipse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17920" y="3721608"/>
            <a:ext cx="550468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D2.6  L1 Executive Overview — cross-product flow heat map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65760" y="6272784"/>
            <a:ext cx="11457432" cy="512064"/>
          </a:xfrm>
          <a:prstGeom prst="rect">
            <a:avLst/>
          </a:prstGeom>
          <a:solidFill>
            <a:srgbClr val="EFF6FF"/>
          </a:solidFill>
          <a:ln w="635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0080" y="628192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D4ED8"/>
                </a:solidFill>
              </a:rPr>
              <a:t>100%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" y="6547104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75569"/>
                </a:solidFill>
              </a:rPr>
              <a:t>VSM capability coverage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383280" y="628192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D4ED8"/>
                </a:solidFill>
              </a:rPr>
              <a:t>78+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383280" y="6547104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75569"/>
                </a:solidFill>
              </a:rPr>
              <a:t>Mermaid diagrams generated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126480" y="628192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D4ED8"/>
                </a:solidFill>
              </a:rPr>
              <a:t>~35%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126480" y="6547104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75569"/>
                </a:solidFill>
              </a:rPr>
              <a:t>Typical baseline flow efficiency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869680" y="628192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D4ED8"/>
                </a:solidFill>
              </a:rPr>
              <a:t>4 types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869680" y="6547104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75569"/>
                </a:solidFill>
              </a:rPr>
              <a:t>Step classification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28016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F172A"/>
                </a:solidFill>
              </a:rPr>
              <a:t>Phase 3: Future State Vision &amp;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75569"/>
                </a:solidFill>
              </a:rPr>
              <a:t>Weeks 5–6  ·  Benchmark-grounded transformation design with automation mix, 3-band projections and RICE priorities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88952" cy="2743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611112"/>
            <a:ext cx="11521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</a:rPr>
              <a:t>TransformHub · AI-Powered Digital Transformation Intelligence  ·  Consulting Service Offering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051560"/>
            <a:ext cx="219456" cy="523951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94944" y="1051560"/>
            <a:ext cx="5120640" cy="3657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124712"/>
            <a:ext cx="493775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Key Activities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4944" y="1417319"/>
            <a:ext cx="5120640" cy="4873752"/>
          </a:xfrm>
          <a:prstGeom prst="rect">
            <a:avLst/>
          </a:prstGeom>
          <a:solidFill>
            <a:srgbClr val="DBEAFE"/>
          </a:solidFill>
          <a:ln w="63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22960" y="1581912"/>
            <a:ext cx="82296" cy="82296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50976" y="1527048"/>
            <a:ext cx="4754879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Upload VSM benchmark documents &amp; transformation case studies to Context Hub (RAG grounding)</a:t>
            </a:r>
          </a:p>
        </p:txBody>
      </p:sp>
      <p:sp>
        <p:nvSpPr>
          <p:cNvPr id="13" name="Oval 12"/>
          <p:cNvSpPr/>
          <p:nvPr/>
        </p:nvSpPr>
        <p:spPr>
          <a:xfrm>
            <a:off x="822960" y="2020824"/>
            <a:ext cx="82296" cy="82296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0976" y="1965960"/>
            <a:ext cx="4754879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Run Future State Vision agent — AI generates capability modernisation roadmap per product</a:t>
            </a:r>
          </a:p>
        </p:txBody>
      </p:sp>
      <p:sp>
        <p:nvSpPr>
          <p:cNvPr id="15" name="Oval 14"/>
          <p:cNvSpPr/>
          <p:nvPr/>
        </p:nvSpPr>
        <p:spPr>
          <a:xfrm>
            <a:off x="822960" y="2459736"/>
            <a:ext cx="82296" cy="82296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50976" y="2404872"/>
            <a:ext cx="4754879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Automation mix analysis: RPA / AI-ML / Agent-Based / Conversational / Analytics breakdown</a:t>
            </a:r>
          </a:p>
        </p:txBody>
      </p:sp>
      <p:sp>
        <p:nvSpPr>
          <p:cNvPr id="17" name="Oval 16"/>
          <p:cNvSpPr/>
          <p:nvPr/>
        </p:nvSpPr>
        <p:spPr>
          <a:xfrm>
            <a:off x="822960" y="2898648"/>
            <a:ext cx="82296" cy="82296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50976" y="2843784"/>
            <a:ext cx="4754879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3-band projection modelling: Conservative / Expected / Optimistic per capability</a:t>
            </a:r>
          </a:p>
        </p:txBody>
      </p:sp>
      <p:sp>
        <p:nvSpPr>
          <p:cNvPr id="19" name="Oval 18"/>
          <p:cNvSpPr/>
          <p:nvPr/>
        </p:nvSpPr>
        <p:spPr>
          <a:xfrm>
            <a:off x="822960" y="3337560"/>
            <a:ext cx="82296" cy="82296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0976" y="3282696"/>
            <a:ext cx="4754879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RICE prioritisation scoring: Reach × Impact × Confidence ÷ Effort for each initiative</a:t>
            </a:r>
          </a:p>
        </p:txBody>
      </p:sp>
      <p:sp>
        <p:nvSpPr>
          <p:cNvPr id="21" name="Oval 20"/>
          <p:cNvSpPr/>
          <p:nvPr/>
        </p:nvSpPr>
        <p:spPr>
          <a:xfrm>
            <a:off x="822960" y="3776472"/>
            <a:ext cx="82296" cy="82296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50976" y="3721608"/>
            <a:ext cx="4754879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Future state architecture design: target tech stack, integration patterns, cloud alignment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61888" y="1051560"/>
            <a:ext cx="5870448" cy="3657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089903" y="1124712"/>
            <a:ext cx="568756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Deliverables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61888" y="1417319"/>
            <a:ext cx="5870448" cy="4873752"/>
          </a:xfrm>
          <a:prstGeom prst="rect">
            <a:avLst/>
          </a:prstGeom>
          <a:solidFill>
            <a:srgbClr val="DBEAFE"/>
          </a:solidFill>
          <a:ln w="63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089903" y="1581912"/>
            <a:ext cx="82296" cy="82296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17920" y="1527048"/>
            <a:ext cx="550468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D3.1  Future State Vision Report — per-product transformation narrative</a:t>
            </a:r>
          </a:p>
        </p:txBody>
      </p:sp>
      <p:sp>
        <p:nvSpPr>
          <p:cNvPr id="28" name="Oval 27"/>
          <p:cNvSpPr/>
          <p:nvPr/>
        </p:nvSpPr>
        <p:spPr>
          <a:xfrm>
            <a:off x="6089903" y="2020824"/>
            <a:ext cx="82296" cy="82296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17920" y="1965960"/>
            <a:ext cx="550468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D3.2  Automation Mix Breakdown — RPA/AI/Agent proportions per product</a:t>
            </a:r>
          </a:p>
        </p:txBody>
      </p:sp>
      <p:sp>
        <p:nvSpPr>
          <p:cNvPr id="30" name="Oval 29"/>
          <p:cNvSpPr/>
          <p:nvPr/>
        </p:nvSpPr>
        <p:spPr>
          <a:xfrm>
            <a:off x="6089903" y="2459736"/>
            <a:ext cx="82296" cy="82296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17920" y="2404872"/>
            <a:ext cx="550468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D3.3  Projected Metrics Report — 3-band forecasts (Conservative/Expected/Optimistic)</a:t>
            </a:r>
          </a:p>
        </p:txBody>
      </p:sp>
      <p:sp>
        <p:nvSpPr>
          <p:cNvPr id="32" name="Oval 31"/>
          <p:cNvSpPr/>
          <p:nvPr/>
        </p:nvSpPr>
        <p:spPr>
          <a:xfrm>
            <a:off x="6089903" y="2898648"/>
            <a:ext cx="82296" cy="82296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17920" y="2843784"/>
            <a:ext cx="550468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D3.4  Capability Modernisation Register — RICE-scored priority list</a:t>
            </a:r>
          </a:p>
        </p:txBody>
      </p:sp>
      <p:sp>
        <p:nvSpPr>
          <p:cNvPr id="34" name="Oval 33"/>
          <p:cNvSpPr/>
          <p:nvPr/>
        </p:nvSpPr>
        <p:spPr>
          <a:xfrm>
            <a:off x="6089903" y="3337560"/>
            <a:ext cx="82296" cy="82296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17920" y="3282696"/>
            <a:ext cx="550468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D3.5  Target Architecture Blueprint — initial draft (refined in Phase 5)</a:t>
            </a:r>
          </a:p>
        </p:txBody>
      </p:sp>
      <p:sp>
        <p:nvSpPr>
          <p:cNvPr id="36" name="Oval 35"/>
          <p:cNvSpPr/>
          <p:nvPr/>
        </p:nvSpPr>
        <p:spPr>
          <a:xfrm>
            <a:off x="6089903" y="3776472"/>
            <a:ext cx="82296" cy="82296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17920" y="3721608"/>
            <a:ext cx="550468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D3.6  Benchmark Comparison Appendix — AI projections vs industry data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65760" y="6272784"/>
            <a:ext cx="11457432" cy="512064"/>
          </a:xfrm>
          <a:prstGeom prst="rect">
            <a:avLst/>
          </a:prstGeom>
          <a:solidFill>
            <a:srgbClr val="DBEAFE"/>
          </a:solidFill>
          <a:ln w="63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0080" y="628192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563EB"/>
                </a:solidFill>
              </a:rPr>
              <a:t>3-band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" y="6547104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75569"/>
                </a:solidFill>
              </a:rPr>
              <a:t>Projection scenarios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383280" y="628192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563EB"/>
                </a:solidFill>
              </a:rPr>
              <a:t>Benchmark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383280" y="6547104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75569"/>
                </a:solidFill>
              </a:rPr>
              <a:t>Grounded via RAG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126480" y="628192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563EB"/>
                </a:solidFill>
              </a:rPr>
              <a:t>RICE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126480" y="6547104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75569"/>
                </a:solidFill>
              </a:rPr>
              <a:t>Scored priorities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869680" y="628192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563EB"/>
                </a:solidFill>
              </a:rPr>
              <a:t>5 types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869680" y="6547104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75569"/>
                </a:solidFill>
              </a:rPr>
              <a:t>Automation mix analysis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28016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F172A"/>
                </a:solidFill>
              </a:rPr>
              <a:t>Phase 4: Risk &amp; Compliance Governance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75569"/>
                </a:solidFill>
              </a:rPr>
              <a:t>Week 7  ·  AI-powered risk identification, compliance framework mapping and tamper-proof audit trail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88952" cy="2743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611112"/>
            <a:ext cx="11521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</a:rPr>
              <a:t>TransformHub · AI-Powered Digital Transformation Intelligence  ·  Consulting Service Offering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051560"/>
            <a:ext cx="219456" cy="523951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94944" y="1051560"/>
            <a:ext cx="5120640" cy="3657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124712"/>
            <a:ext cx="493775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Key Activities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4944" y="1417319"/>
            <a:ext cx="5120640" cy="4873752"/>
          </a:xfrm>
          <a:prstGeom prst="rect">
            <a:avLst/>
          </a:prstGeom>
          <a:solidFill>
            <a:srgbClr val="F5F3FF"/>
          </a:solidFill>
          <a:ln w="63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22960" y="1581912"/>
            <a:ext cx="82296" cy="82296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50976" y="1527048"/>
            <a:ext cx="4754879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AI-assisted risk identification across all capabilities and transformation initiatives</a:t>
            </a:r>
          </a:p>
        </p:txBody>
      </p:sp>
      <p:sp>
        <p:nvSpPr>
          <p:cNvPr id="13" name="Oval 12"/>
          <p:cNvSpPr/>
          <p:nvPr/>
        </p:nvSpPr>
        <p:spPr>
          <a:xfrm>
            <a:off x="822960" y="2020824"/>
            <a:ext cx="82296" cy="82296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0976" y="1965960"/>
            <a:ext cx="4754879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Risk scoring: CRITICAL (≥8.0) / HIGH (6.0–7.9) / MEDIUM / LOW with auto gate assignment</a:t>
            </a:r>
          </a:p>
        </p:txBody>
      </p:sp>
      <p:sp>
        <p:nvSpPr>
          <p:cNvPr id="15" name="Oval 14"/>
          <p:cNvSpPr/>
          <p:nvPr/>
        </p:nvSpPr>
        <p:spPr>
          <a:xfrm>
            <a:off x="822960" y="2459736"/>
            <a:ext cx="82296" cy="82296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50976" y="2404872"/>
            <a:ext cx="4754879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Compliance framework mapping: SOX, FDIC, GLBA, GDPR, DORA, HIPAA, PCI-DSS (configurable)</a:t>
            </a:r>
          </a:p>
        </p:txBody>
      </p:sp>
      <p:sp>
        <p:nvSpPr>
          <p:cNvPr id="17" name="Oval 16"/>
          <p:cNvSpPr/>
          <p:nvPr/>
        </p:nvSpPr>
        <p:spPr>
          <a:xfrm>
            <a:off x="822960" y="2898648"/>
            <a:ext cx="82296" cy="82296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50976" y="2843784"/>
            <a:ext cx="4754879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SHA-256 chained audit trail setup — every state change cryptographically recorded</a:t>
            </a:r>
          </a:p>
        </p:txBody>
      </p:sp>
      <p:sp>
        <p:nvSpPr>
          <p:cNvPr id="19" name="Oval 18"/>
          <p:cNvSpPr/>
          <p:nvPr/>
        </p:nvSpPr>
        <p:spPr>
          <a:xfrm>
            <a:off x="822960" y="3337560"/>
            <a:ext cx="82296" cy="82296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0976" y="3282696"/>
            <a:ext cx="4754879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Risk gate configuration: CRITICAL risks automatically block transformation progression</a:t>
            </a:r>
          </a:p>
        </p:txBody>
      </p:sp>
      <p:sp>
        <p:nvSpPr>
          <p:cNvPr id="21" name="Oval 20"/>
          <p:cNvSpPr/>
          <p:nvPr/>
        </p:nvSpPr>
        <p:spPr>
          <a:xfrm>
            <a:off x="822960" y="3776472"/>
            <a:ext cx="82296" cy="82296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50976" y="3721608"/>
            <a:ext cx="4754879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Mitigation plan development with owner, timeline and evidence link requirements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61888" y="1051560"/>
            <a:ext cx="5870448" cy="3657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089903" y="1124712"/>
            <a:ext cx="568756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Deliverables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61888" y="1417319"/>
            <a:ext cx="5870448" cy="4873752"/>
          </a:xfrm>
          <a:prstGeom prst="rect">
            <a:avLst/>
          </a:prstGeom>
          <a:solidFill>
            <a:srgbClr val="F5F3FF"/>
          </a:solidFill>
          <a:ln w="63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089903" y="1581912"/>
            <a:ext cx="82296" cy="82296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17920" y="1527048"/>
            <a:ext cx="550468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D4.1  Risk Assessment Register (by category: Compliance, Security, Operational, Performance)</a:t>
            </a:r>
          </a:p>
        </p:txBody>
      </p:sp>
      <p:sp>
        <p:nvSpPr>
          <p:cNvPr id="28" name="Oval 27"/>
          <p:cNvSpPr/>
          <p:nvPr/>
        </p:nvSpPr>
        <p:spPr>
          <a:xfrm>
            <a:off x="6089903" y="2020824"/>
            <a:ext cx="82296" cy="82296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17920" y="1965960"/>
            <a:ext cx="550468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D4.2  Compliance Framework Mapping (applicable regulations per capability)</a:t>
            </a:r>
          </a:p>
        </p:txBody>
      </p:sp>
      <p:sp>
        <p:nvSpPr>
          <p:cNvPr id="30" name="Oval 29"/>
          <p:cNvSpPr/>
          <p:nvPr/>
        </p:nvSpPr>
        <p:spPr>
          <a:xfrm>
            <a:off x="6089903" y="2459736"/>
            <a:ext cx="82296" cy="82296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17920" y="2404872"/>
            <a:ext cx="550468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D4.3  SHA-256 Audit Trail Report (cryptographic proof of all changes)</a:t>
            </a:r>
          </a:p>
        </p:txBody>
      </p:sp>
      <p:sp>
        <p:nvSpPr>
          <p:cNvPr id="32" name="Oval 31"/>
          <p:cNvSpPr/>
          <p:nvPr/>
        </p:nvSpPr>
        <p:spPr>
          <a:xfrm>
            <a:off x="6089903" y="2898648"/>
            <a:ext cx="82296" cy="82296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17920" y="2843784"/>
            <a:ext cx="550468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D4.4  Risk Gate Configuration Document (thresholds and escalation paths)</a:t>
            </a:r>
          </a:p>
        </p:txBody>
      </p:sp>
      <p:sp>
        <p:nvSpPr>
          <p:cNvPr id="34" name="Oval 33"/>
          <p:cNvSpPr/>
          <p:nvPr/>
        </p:nvSpPr>
        <p:spPr>
          <a:xfrm>
            <a:off x="6089903" y="3337560"/>
            <a:ext cx="82296" cy="82296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17920" y="3282696"/>
            <a:ext cx="550468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D4.5  Mitigation Action Plan (owner, timeline, evidence for each CRITICAL/HIGH risk)</a:t>
            </a:r>
          </a:p>
        </p:txBody>
      </p:sp>
      <p:sp>
        <p:nvSpPr>
          <p:cNvPr id="36" name="Oval 35"/>
          <p:cNvSpPr/>
          <p:nvPr/>
        </p:nvSpPr>
        <p:spPr>
          <a:xfrm>
            <a:off x="6089903" y="3776472"/>
            <a:ext cx="82296" cy="82296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17920" y="3721608"/>
            <a:ext cx="550468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D4.6  Regulatory Readiness Score — % of compliance requirements met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65760" y="6272784"/>
            <a:ext cx="11457432" cy="512064"/>
          </a:xfrm>
          <a:prstGeom prst="rect">
            <a:avLst/>
          </a:prstGeom>
          <a:solidFill>
            <a:srgbClr val="F5F3FF"/>
          </a:solidFill>
          <a:ln w="63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0080" y="628192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3B82F6"/>
                </a:solidFill>
              </a:rPr>
              <a:t>SHA-256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" y="6547104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75569"/>
                </a:solidFill>
              </a:rPr>
              <a:t>Chained audit trail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383280" y="628192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3B82F6"/>
                </a:solidFill>
              </a:rPr>
              <a:t>Auto-block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383280" y="6547104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75569"/>
                </a:solidFill>
              </a:rPr>
              <a:t>CRITICAL risk gate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126480" y="628192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3B82F6"/>
                </a:solidFill>
              </a:rPr>
              <a:t>10+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126480" y="6547104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75569"/>
                </a:solidFill>
              </a:rPr>
              <a:t>Compliance frameworks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869680" y="628192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3B82F6"/>
                </a:solidFill>
              </a:rPr>
              <a:t>Pre-transform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869680" y="6547104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75569"/>
                </a:solidFill>
              </a:rPr>
              <a:t>Risk identification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28016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F172A"/>
                </a:solidFill>
              </a:rPr>
              <a:t>Phase 5: Transformation Roadmap &amp; Enablement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75569"/>
                </a:solidFill>
              </a:rPr>
              <a:t>Week 8  ·  Transformation roadmap, architecture blueprint, knowledge base and client team enablement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88952" cy="2743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611112"/>
            <a:ext cx="11521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</a:rPr>
              <a:t>TransformHub · AI-Powered Digital Transformation Intelligence  ·  Consulting Service Offering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051560"/>
            <a:ext cx="219456" cy="5239512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94944" y="1051560"/>
            <a:ext cx="5120640" cy="36576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124712"/>
            <a:ext cx="493775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Key Activities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4944" y="1417319"/>
            <a:ext cx="5120640" cy="4873752"/>
          </a:xfrm>
          <a:prstGeom prst="rect">
            <a:avLst/>
          </a:prstGeom>
          <a:solidFill>
            <a:srgbClr val="F0F7FF"/>
          </a:solidFill>
          <a:ln w="635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22960" y="1581912"/>
            <a:ext cx="82296" cy="82296"/>
          </a:xfrm>
          <a:prstGeom prst="ellipse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50976" y="1527048"/>
            <a:ext cx="4754879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Transformation roadmap construction: RICE-scored initiatives in quarterly delivery tracks</a:t>
            </a:r>
          </a:p>
        </p:txBody>
      </p:sp>
      <p:sp>
        <p:nvSpPr>
          <p:cNvPr id="13" name="Oval 12"/>
          <p:cNvSpPr/>
          <p:nvPr/>
        </p:nvSpPr>
        <p:spPr>
          <a:xfrm>
            <a:off x="822960" y="2020824"/>
            <a:ext cx="82296" cy="82296"/>
          </a:xfrm>
          <a:prstGeom prst="ellipse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0976" y="1965960"/>
            <a:ext cx="4754879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Architecture blueprint: target state, integration patterns, cloud platform selection</a:t>
            </a:r>
          </a:p>
        </p:txBody>
      </p:sp>
      <p:sp>
        <p:nvSpPr>
          <p:cNvPr id="15" name="Oval 14"/>
          <p:cNvSpPr/>
          <p:nvPr/>
        </p:nvSpPr>
        <p:spPr>
          <a:xfrm>
            <a:off x="822960" y="2459736"/>
            <a:ext cx="82296" cy="82296"/>
          </a:xfrm>
          <a:prstGeom prst="ellipse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50976" y="2404872"/>
            <a:ext cx="4754879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Executive presentation package: board-ready visuals for each phase's key findings</a:t>
            </a:r>
          </a:p>
        </p:txBody>
      </p:sp>
      <p:sp>
        <p:nvSpPr>
          <p:cNvPr id="17" name="Oval 16"/>
          <p:cNvSpPr/>
          <p:nvPr/>
        </p:nvSpPr>
        <p:spPr>
          <a:xfrm>
            <a:off x="822960" y="2898648"/>
            <a:ext cx="82296" cy="82296"/>
          </a:xfrm>
          <a:prstGeom prst="ellipse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50976" y="2843784"/>
            <a:ext cx="4754879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Context Hub population: seed knowledge base with client's key documents (BRDs, specs, policies)</a:t>
            </a:r>
          </a:p>
        </p:txBody>
      </p:sp>
      <p:sp>
        <p:nvSpPr>
          <p:cNvPr id="19" name="Oval 18"/>
          <p:cNvSpPr/>
          <p:nvPr/>
        </p:nvSpPr>
        <p:spPr>
          <a:xfrm>
            <a:off x="822960" y="3337560"/>
            <a:ext cx="82296" cy="82296"/>
          </a:xfrm>
          <a:prstGeom prst="ellipse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0976" y="3282696"/>
            <a:ext cx="4754879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Accuracy scoring and baseline: per-module composite score for the full engagement</a:t>
            </a:r>
          </a:p>
        </p:txBody>
      </p:sp>
      <p:sp>
        <p:nvSpPr>
          <p:cNvPr id="21" name="Oval 20"/>
          <p:cNvSpPr/>
          <p:nvPr/>
        </p:nvSpPr>
        <p:spPr>
          <a:xfrm>
            <a:off x="822960" y="3776472"/>
            <a:ext cx="82296" cy="82296"/>
          </a:xfrm>
          <a:prstGeom prst="ellipse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50976" y="3721608"/>
            <a:ext cx="4754879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Client team enablement: 2-day platform training for internal transformation team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61888" y="1051560"/>
            <a:ext cx="5870448" cy="36576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089903" y="1124712"/>
            <a:ext cx="568756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Deliverables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61888" y="1417319"/>
            <a:ext cx="5870448" cy="4873752"/>
          </a:xfrm>
          <a:prstGeom prst="rect">
            <a:avLst/>
          </a:prstGeom>
          <a:solidFill>
            <a:srgbClr val="F0F7FF"/>
          </a:solidFill>
          <a:ln w="635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089903" y="1581912"/>
            <a:ext cx="82296" cy="82296"/>
          </a:xfrm>
          <a:prstGeom prst="ellipse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17920" y="1527048"/>
            <a:ext cx="550468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D5.1  Transformation Roadmap — 4-quarter delivery plan, RICE-ranked</a:t>
            </a:r>
          </a:p>
        </p:txBody>
      </p:sp>
      <p:sp>
        <p:nvSpPr>
          <p:cNvPr id="28" name="Oval 27"/>
          <p:cNvSpPr/>
          <p:nvPr/>
        </p:nvSpPr>
        <p:spPr>
          <a:xfrm>
            <a:off x="6089903" y="2020824"/>
            <a:ext cx="82296" cy="82296"/>
          </a:xfrm>
          <a:prstGeom prst="ellipse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17920" y="1965960"/>
            <a:ext cx="550468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D5.2  Architecture Blueprint — target state + integration architecture</a:t>
            </a:r>
          </a:p>
        </p:txBody>
      </p:sp>
      <p:sp>
        <p:nvSpPr>
          <p:cNvPr id="30" name="Oval 29"/>
          <p:cNvSpPr/>
          <p:nvPr/>
        </p:nvSpPr>
        <p:spPr>
          <a:xfrm>
            <a:off x="6089903" y="2459736"/>
            <a:ext cx="82296" cy="82296"/>
          </a:xfrm>
          <a:prstGeom prst="ellipse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17920" y="2404872"/>
            <a:ext cx="550468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D5.3  Executive Presentation Deck — all phases, board-ready</a:t>
            </a:r>
          </a:p>
        </p:txBody>
      </p:sp>
      <p:sp>
        <p:nvSpPr>
          <p:cNvPr id="32" name="Oval 31"/>
          <p:cNvSpPr/>
          <p:nvPr/>
        </p:nvSpPr>
        <p:spPr>
          <a:xfrm>
            <a:off x="6089903" y="2898648"/>
            <a:ext cx="82296" cy="82296"/>
          </a:xfrm>
          <a:prstGeom prst="ellipse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17920" y="2843784"/>
            <a:ext cx="550468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D5.4  Accuracy Baseline Report — per-module scores with improvement plan</a:t>
            </a:r>
          </a:p>
        </p:txBody>
      </p:sp>
      <p:sp>
        <p:nvSpPr>
          <p:cNvPr id="34" name="Oval 33"/>
          <p:cNvSpPr/>
          <p:nvPr/>
        </p:nvSpPr>
        <p:spPr>
          <a:xfrm>
            <a:off x="6089903" y="3337560"/>
            <a:ext cx="82296" cy="82296"/>
          </a:xfrm>
          <a:prstGeom prst="ellipse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17920" y="3282696"/>
            <a:ext cx="550468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D5.5  Knowledge Base Package — seeded context docs for ongoing AI grounding</a:t>
            </a:r>
          </a:p>
        </p:txBody>
      </p:sp>
      <p:sp>
        <p:nvSpPr>
          <p:cNvPr id="36" name="Oval 35"/>
          <p:cNvSpPr/>
          <p:nvPr/>
        </p:nvSpPr>
        <p:spPr>
          <a:xfrm>
            <a:off x="6089903" y="3776472"/>
            <a:ext cx="82296" cy="82296"/>
          </a:xfrm>
          <a:prstGeom prst="ellipse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17920" y="3721608"/>
            <a:ext cx="550468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D5.6  Platform Handover Guide — for internal team to continue using TransformHub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65760" y="6272784"/>
            <a:ext cx="11457432" cy="512064"/>
          </a:xfrm>
          <a:prstGeom prst="rect">
            <a:avLst/>
          </a:prstGeom>
          <a:solidFill>
            <a:srgbClr val="F0F7FF"/>
          </a:solidFill>
          <a:ln w="635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0080" y="628192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563EB"/>
                </a:solidFill>
              </a:rPr>
              <a:t>25+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" y="6547104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75569"/>
                </a:solidFill>
              </a:rPr>
              <a:t>Total deliverables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383280" y="628192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563EB"/>
                </a:solidFill>
              </a:rPr>
              <a:t>4-quarter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383280" y="6547104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75569"/>
                </a:solidFill>
              </a:rPr>
              <a:t>Roadmap tracks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126480" y="628192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563EB"/>
                </a:solidFill>
              </a:rPr>
              <a:t>Board-ready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126480" y="6547104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75569"/>
                </a:solidFill>
              </a:rPr>
              <a:t>Executive deck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869680" y="628192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563EB"/>
                </a:solidFill>
              </a:rPr>
              <a:t>Ongoing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869680" y="6547104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75569"/>
                </a:solidFill>
              </a:rPr>
              <a:t>Platform access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0C1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28016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F172A"/>
                </a:solidFill>
              </a:rPr>
              <a:t>Illustrative Deliverables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75569"/>
                </a:solidFill>
              </a:rPr>
              <a:t>Representative samples of the 25+ client-owned artefacts produced across the 5 phases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88952" cy="2743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611112"/>
            <a:ext cx="11521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</a:rPr>
              <a:t>TransformHub · AI-Powered Digital Transformation Intelligence  ·  Consulting Service Offering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051560"/>
            <a:ext cx="3675887" cy="1682496"/>
          </a:xfrm>
          <a:prstGeom prst="rect">
            <a:avLst/>
          </a:prstGeom>
          <a:solidFill>
            <a:srgbClr val="F1F5F9"/>
          </a:solidFill>
          <a:ln w="127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051560"/>
            <a:ext cx="3675887" cy="310896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" y="1106424"/>
            <a:ext cx="345643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D1 Discovery Accuracy Report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435607"/>
            <a:ext cx="3456432" cy="12435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Executive-ready PDF showing 9 products, 26 capabilities, 79 functionalities discovered for US Bank's Retail Banking segment. Includes per-entity confidence scores (78–97%), 5 evidence source types used, and an accuracy composite of 85%.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24528" y="1051560"/>
            <a:ext cx="3675887" cy="1682496"/>
          </a:xfrm>
          <a:prstGeom prst="rect">
            <a:avLst/>
          </a:prstGeom>
          <a:solidFill>
            <a:srgbClr val="F1F5F9"/>
          </a:solidFill>
          <a:ln w="1270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24528" y="1051560"/>
            <a:ext cx="3675887" cy="310896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34256" y="1106424"/>
            <a:ext cx="345643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D2 VSM Flow Efficiency Dashboard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34256" y="1435607"/>
            <a:ext cx="3456432" cy="12435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Interactive L1→L2→L3 drill-down showing 100% capability coverage. LoanFlow Digital: 72% flow efficiency, 4hr process time, 2.2hr wait time. LegacyCore: 23% flow efficiency — CRITICAL bottleneck flagged. Mermaid diagrams attached for all 26 capabilities.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83296" y="1051560"/>
            <a:ext cx="3675887" cy="1682496"/>
          </a:xfrm>
          <a:prstGeom prst="rect">
            <a:avLst/>
          </a:prstGeom>
          <a:solidFill>
            <a:srgbClr val="F1F5F9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83296" y="1051560"/>
            <a:ext cx="3675887" cy="31089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93023" y="1106424"/>
            <a:ext cx="345643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D3 Future State Vision Report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93023" y="1435607"/>
            <a:ext cx="3456432" cy="12435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Per-product transformation narrative grounded in uploaded Gartner VSM benchmarks. LoanFlow target: 91% flow efficiency (+19pts). Automation mix: 45% AI/ML, 30% RPA, 15% Agent-Based, 10% Conversational. Conservative/Expected/Optimistic metrics included.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2825496"/>
            <a:ext cx="3675887" cy="1682496"/>
          </a:xfrm>
          <a:prstGeom prst="rect">
            <a:avLst/>
          </a:prstGeom>
          <a:solidFill>
            <a:srgbClr val="F1F5F9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5760" y="2825496"/>
            <a:ext cx="3675887" cy="31089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5488" y="2880360"/>
            <a:ext cx="345643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D4 Risk Gate &amp; Compliance Report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5488" y="3209544"/>
            <a:ext cx="3456432" cy="12435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4 risk assessments, 2 CRITICAL risks blocking transformation (SHA-256 hash: a3f7b9c2...). Compliance mapping: 6 frameworks (SOX, PCI-DSS, FDIC, GLBA, FFIEC, NIST). 4 chained audit entries. Regulatory Readiness Score: 74%.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24528" y="2825496"/>
            <a:ext cx="3675887" cy="1682496"/>
          </a:xfrm>
          <a:prstGeom prst="rect">
            <a:avLst/>
          </a:prstGeom>
          <a:solidFill>
            <a:srgbClr val="F1F5F9"/>
          </a:solidFill>
          <a:ln w="1270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224528" y="2825496"/>
            <a:ext cx="3675887" cy="310896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34256" y="2880360"/>
            <a:ext cx="345643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D5 Transformation Roadmap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34256" y="3209544"/>
            <a:ext cx="3456432" cy="12435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4-quarter delivery roadmap: Q1 LoanFlow AI modernisation (RICE: 38), Q2 CoreBanking API layer (RICE: 31), Q3 Customer Data Platform (RICE: 28), Q4 Analytics Hub (RICE: 22). Total initiative portfolio: $12.4M budget, 18-month ROI: $37M.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083296" y="2825496"/>
            <a:ext cx="3675887" cy="1682496"/>
          </a:xfrm>
          <a:prstGeom prst="rect">
            <a:avLst/>
          </a:prstGeom>
          <a:solidFill>
            <a:srgbClr val="F1F5F9"/>
          </a:solidFill>
          <a:ln w="1270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083296" y="2825496"/>
            <a:ext cx="3675887" cy="310896"/>
          </a:xfrm>
          <a:prstGeom prst="rect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193023" y="2880360"/>
            <a:ext cx="345643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D6 Accuracy Baseline &amp; Action Plan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93023" y="3209544"/>
            <a:ext cx="3456432" cy="12435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Composite score: 68% (Discovery 85%, VSM 72%, Future State 70%, Risk 35%). Action Plan: 6 prioritised improvement steps — Run Risk Agent for 6 more products (+8pts), Upload architecture standards doc (+4pts), Run PT agent for all products (+5pts).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0C1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28016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F172A"/>
                </a:solidFill>
              </a:rPr>
              <a:t>Critical Success Factors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75569"/>
                </a:solidFill>
              </a:rPr>
              <a:t>What needs to be true for this offering to deliver its full value — and what we control vs the client controls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88952" cy="2743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611112"/>
            <a:ext cx="11521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</a:rPr>
              <a:t>TransformHub · AI-Powered Digital Transformation Intelligence  ·  Consulting Service Offering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051560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563EB"/>
                </a:solidFill>
              </a:rPr>
              <a:t>Our Responsibility (Consulting Team)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72200" y="1051560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D4ED8"/>
                </a:solidFill>
              </a:rPr>
              <a:t>Client Responsibility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371600"/>
            <a:ext cx="5669280" cy="768096"/>
          </a:xfrm>
          <a:prstGeom prst="rect">
            <a:avLst/>
          </a:prstGeom>
          <a:solidFill>
            <a:srgbClr val="F1F5F9"/>
          </a:solidFill>
          <a:ln w="762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1371600"/>
            <a:ext cx="128016" cy="76809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1435608"/>
            <a:ext cx="532180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563EB"/>
                </a:solidFill>
              </a:rPr>
              <a:t>Consultant AI Literacy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1664208"/>
            <a:ext cx="532180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Delivery team must understand how LangGraph agents work, how to interpret confidence scores and how to QA agent outputs — not just present them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212848"/>
            <a:ext cx="5669280" cy="768096"/>
          </a:xfrm>
          <a:prstGeom prst="rect">
            <a:avLst/>
          </a:prstGeom>
          <a:solidFill>
            <a:srgbClr val="F1F5F9"/>
          </a:solidFill>
          <a:ln w="762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5760" y="2212848"/>
            <a:ext cx="128016" cy="76809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2276856"/>
            <a:ext cx="532180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563EB"/>
                </a:solidFill>
              </a:rPr>
              <a:t>RAG Quality Management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2505456"/>
            <a:ext cx="532180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Context Hub must be seeded with high-quality benchmark documents before agents run — garbage in, garbage out applies doubly to RAG pipelines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054096"/>
            <a:ext cx="5669280" cy="768096"/>
          </a:xfrm>
          <a:prstGeom prst="rect">
            <a:avLst/>
          </a:prstGeom>
          <a:solidFill>
            <a:srgbClr val="F1F5F9"/>
          </a:solidFill>
          <a:ln w="762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5760" y="3054096"/>
            <a:ext cx="128016" cy="76809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3118103"/>
            <a:ext cx="532180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563EB"/>
                </a:solidFill>
              </a:rPr>
              <a:t>Engagement Management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3346703"/>
            <a:ext cx="532180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A dedicated EM who manages client access, gate approvals and stakeholder scheduling — under-managed engagements lose 40% of value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3895344"/>
            <a:ext cx="5669280" cy="768096"/>
          </a:xfrm>
          <a:prstGeom prst="rect">
            <a:avLst/>
          </a:prstGeom>
          <a:solidFill>
            <a:srgbClr val="F1F5F9"/>
          </a:solidFill>
          <a:ln w="762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65760" y="3895344"/>
            <a:ext cx="128016" cy="76809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6928" y="3959352"/>
            <a:ext cx="532180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563EB"/>
                </a:solidFill>
              </a:rPr>
              <a:t>Interpretation Layer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" y="4187952"/>
            <a:ext cx="532180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Raw AI outputs must be interpreted, contextualised and presented by consultants — clients pay for insight, not raw data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72200" y="1371600"/>
            <a:ext cx="5669280" cy="621792"/>
          </a:xfrm>
          <a:prstGeom prst="rect">
            <a:avLst/>
          </a:prstGeom>
          <a:solidFill>
            <a:srgbClr val="F1F5F9"/>
          </a:solidFill>
          <a:ln w="762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72200" y="1371600"/>
            <a:ext cx="128016" cy="62179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73368" y="1426464"/>
            <a:ext cx="528523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D4ED8"/>
                </a:solidFill>
              </a:rPr>
              <a:t>C-Suite Sponsorship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73368" y="1645920"/>
            <a:ext cx="52852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The engagement must have a named executive sponsor at CXO level who champions access, budget and organisational buy-in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72200" y="2066543"/>
            <a:ext cx="5669280" cy="621792"/>
          </a:xfrm>
          <a:prstGeom prst="rect">
            <a:avLst/>
          </a:prstGeom>
          <a:solidFill>
            <a:srgbClr val="F1F5F9"/>
          </a:solidFill>
          <a:ln w="762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172200" y="2066543"/>
            <a:ext cx="128016" cy="62179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73368" y="2121408"/>
            <a:ext cx="528523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D4ED8"/>
                </a:solidFill>
              </a:rPr>
              <a:t>Source System Access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73368" y="2340863"/>
            <a:ext cx="52852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Access to GitHub repos, OpenAPI specs, DB schemas and test suites is required within 48 hours of kick-off — delays cascade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172200" y="2761488"/>
            <a:ext cx="5669280" cy="621792"/>
          </a:xfrm>
          <a:prstGeom prst="rect">
            <a:avLst/>
          </a:prstGeom>
          <a:solidFill>
            <a:srgbClr val="F1F5F9"/>
          </a:solidFill>
          <a:ln w="762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172200" y="2761488"/>
            <a:ext cx="128016" cy="62179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73368" y="2816352"/>
            <a:ext cx="528523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D4ED8"/>
                </a:solidFill>
              </a:rPr>
              <a:t>Domain SME Availability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73368" y="3035808"/>
            <a:ext cx="52852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2–3 hours/week from 1–2 business domain SMEs for Phase 1 and 3 gate reviews — non-negotiable for accuracy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72200" y="3456432"/>
            <a:ext cx="5669280" cy="621792"/>
          </a:xfrm>
          <a:prstGeom prst="rect">
            <a:avLst/>
          </a:prstGeom>
          <a:solidFill>
            <a:srgbClr val="F1F5F9"/>
          </a:solidFill>
          <a:ln w="762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172200" y="3456432"/>
            <a:ext cx="128016" cy="62179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373368" y="3511296"/>
            <a:ext cx="528523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D4ED8"/>
                </a:solidFill>
              </a:rPr>
              <a:t>Clear Business Segment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73368" y="3730752"/>
            <a:ext cx="52852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Client must define the target business segment before Day 1 — scope ambiguity inflates cost and dilutes accuracy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172200" y="4151376"/>
            <a:ext cx="5669280" cy="621792"/>
          </a:xfrm>
          <a:prstGeom prst="rect">
            <a:avLst/>
          </a:prstGeom>
          <a:solidFill>
            <a:srgbClr val="F1F5F9"/>
          </a:solidFill>
          <a:ln w="762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172200" y="4151376"/>
            <a:ext cx="128016" cy="62179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373368" y="4206240"/>
            <a:ext cx="528523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D4ED8"/>
                </a:solidFill>
              </a:rPr>
              <a:t>Benchmark Documents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73368" y="4425696"/>
            <a:ext cx="52852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Providing industry VSM benchmarks and transformation case studies pre-populates the RAG pipeline for higher-quality Phase 3 output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0C1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28016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F172A"/>
                </a:solidFill>
              </a:rPr>
              <a:t>Go-to-Market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75569"/>
                </a:solidFill>
              </a:rPr>
              <a:t>How we take this service offering to market, build a pipeline and establish market leadership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88952" cy="2743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611112"/>
            <a:ext cx="11521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</a:rPr>
              <a:t>TransformHub · AI-Powered Digital Transformation Intelligence  ·  Consulting Service Offering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051560"/>
            <a:ext cx="3657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C1C3A"/>
                </a:solidFill>
              </a:rPr>
              <a:t>LAND &amp; EXPAND MODEL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325880"/>
            <a:ext cx="2651760" cy="146304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380743"/>
            <a:ext cx="2651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LAND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" y="1746504"/>
            <a:ext cx="2395728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POC Engagement
$45K, 2 weeks
1 business unit
1 org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0" y="1874519"/>
            <a:ext cx="182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475569"/>
                </a:solidFill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0" y="1325880"/>
            <a:ext cx="2651760" cy="146304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0" y="1380743"/>
            <a:ext cx="2651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GROW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28416" y="1746504"/>
            <a:ext cx="2395728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Full Engagement
$280K, 8 weeks
All segments
3–5 orgs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52160" y="1874519"/>
            <a:ext cx="182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475569"/>
                </a:solidFill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35040" y="1325880"/>
            <a:ext cx="2651760" cy="14630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35040" y="1380743"/>
            <a:ext cx="2651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EXPAND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63056" y="1746504"/>
            <a:ext cx="2395728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Enterprise License
$500K+/year
Multi-org platform
Continuous AI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0" y="1874519"/>
            <a:ext cx="182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475569"/>
                </a:solidFill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869680" y="1325880"/>
            <a:ext cx="2651760" cy="146304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69680" y="1380743"/>
            <a:ext cx="2651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SCALE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97696" y="1746504"/>
            <a:ext cx="2395728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Platform-as-Service
$150K/org/year
Self-serve teams
Marketplace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2898648"/>
            <a:ext cx="3657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C1C3A"/>
                </a:solidFill>
              </a:rPr>
              <a:t>CHANNELS &amp; TACTICS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3154679"/>
            <a:ext cx="2651760" cy="2103120"/>
          </a:xfrm>
          <a:prstGeom prst="rect">
            <a:avLst/>
          </a:prstGeom>
          <a:solidFill>
            <a:srgbClr val="F1F5F9"/>
          </a:solidFill>
          <a:ln w="1016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65760" y="3154679"/>
            <a:ext cx="2651760" cy="2743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3191256"/>
            <a:ext cx="2468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Direct Enterprise Sales</a:t>
            </a:r>
          </a:p>
        </p:txBody>
      </p:sp>
      <p:sp>
        <p:nvSpPr>
          <p:cNvPr id="27" name="Oval 26"/>
          <p:cNvSpPr/>
          <p:nvPr/>
        </p:nvSpPr>
        <p:spPr>
          <a:xfrm>
            <a:off x="475488" y="3538728"/>
            <a:ext cx="73152" cy="7315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03504" y="3483864"/>
            <a:ext cx="234086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Target: CIO, CDO, Chief Transformation Officer</a:t>
            </a:r>
          </a:p>
        </p:txBody>
      </p:sp>
      <p:sp>
        <p:nvSpPr>
          <p:cNvPr id="29" name="Oval 28"/>
          <p:cNvSpPr/>
          <p:nvPr/>
        </p:nvSpPr>
        <p:spPr>
          <a:xfrm>
            <a:off x="475488" y="3941064"/>
            <a:ext cx="73152" cy="7315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03504" y="3886200"/>
            <a:ext cx="234086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Entry via Digital Transformation or IT Strategy budget</a:t>
            </a:r>
          </a:p>
        </p:txBody>
      </p:sp>
      <p:sp>
        <p:nvSpPr>
          <p:cNvPr id="31" name="Oval 30"/>
          <p:cNvSpPr/>
          <p:nvPr/>
        </p:nvSpPr>
        <p:spPr>
          <a:xfrm>
            <a:off x="475488" y="4343400"/>
            <a:ext cx="73152" cy="7315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03504" y="4288536"/>
            <a:ext cx="234086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$280K–$500K deal size</a:t>
            </a:r>
          </a:p>
        </p:txBody>
      </p:sp>
      <p:sp>
        <p:nvSpPr>
          <p:cNvPr id="33" name="Oval 32"/>
          <p:cNvSpPr/>
          <p:nvPr/>
        </p:nvSpPr>
        <p:spPr>
          <a:xfrm>
            <a:off x="475488" y="4745736"/>
            <a:ext cx="73152" cy="7315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03504" y="4690872"/>
            <a:ext cx="234086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Cycle: 3–6 months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00400" y="3154679"/>
            <a:ext cx="2651760" cy="2103120"/>
          </a:xfrm>
          <a:prstGeom prst="rect">
            <a:avLst/>
          </a:prstGeom>
          <a:solidFill>
            <a:srgbClr val="F1F5F9"/>
          </a:solidFill>
          <a:ln w="1016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200400" y="3154679"/>
            <a:ext cx="2651760" cy="2743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291840" y="3191256"/>
            <a:ext cx="2468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SI &amp; Consulting Partnerships</a:t>
            </a:r>
          </a:p>
        </p:txBody>
      </p:sp>
      <p:sp>
        <p:nvSpPr>
          <p:cNvPr id="38" name="Oval 37"/>
          <p:cNvSpPr/>
          <p:nvPr/>
        </p:nvSpPr>
        <p:spPr>
          <a:xfrm>
            <a:off x="3310128" y="3538728"/>
            <a:ext cx="73152" cy="73152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438144" y="3483864"/>
            <a:ext cx="234086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Partner with Tier-2 SIs (not big-4 — they compete)</a:t>
            </a:r>
          </a:p>
        </p:txBody>
      </p:sp>
      <p:sp>
        <p:nvSpPr>
          <p:cNvPr id="40" name="Oval 39"/>
          <p:cNvSpPr/>
          <p:nvPr/>
        </p:nvSpPr>
        <p:spPr>
          <a:xfrm>
            <a:off x="3310128" y="3941064"/>
            <a:ext cx="73152" cy="73152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438144" y="3886200"/>
            <a:ext cx="234086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Co-sell model: SI brings client, we provide platform</a:t>
            </a:r>
          </a:p>
        </p:txBody>
      </p:sp>
      <p:sp>
        <p:nvSpPr>
          <p:cNvPr id="42" name="Oval 41"/>
          <p:cNvSpPr/>
          <p:nvPr/>
        </p:nvSpPr>
        <p:spPr>
          <a:xfrm>
            <a:off x="3310128" y="4343400"/>
            <a:ext cx="73152" cy="73152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438144" y="4288536"/>
            <a:ext cx="234086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Revenue share: 25–35% platform fee</a:t>
            </a:r>
          </a:p>
        </p:txBody>
      </p:sp>
      <p:sp>
        <p:nvSpPr>
          <p:cNvPr id="44" name="Oval 43"/>
          <p:cNvSpPr/>
          <p:nvPr/>
        </p:nvSpPr>
        <p:spPr>
          <a:xfrm>
            <a:off x="3310128" y="4745736"/>
            <a:ext cx="73152" cy="73152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438144" y="4690872"/>
            <a:ext cx="234086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Scale without headcount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035040" y="3154679"/>
            <a:ext cx="2651760" cy="2103120"/>
          </a:xfrm>
          <a:prstGeom prst="rect">
            <a:avLst/>
          </a:prstGeom>
          <a:solidFill>
            <a:srgbClr val="F1F5F9"/>
          </a:solidFill>
          <a:ln w="1016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035040" y="3154679"/>
            <a:ext cx="2651760" cy="27432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126480" y="3191256"/>
            <a:ext cx="2468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Industry Associations</a:t>
            </a:r>
          </a:p>
        </p:txBody>
      </p:sp>
      <p:sp>
        <p:nvSpPr>
          <p:cNvPr id="49" name="Oval 48"/>
          <p:cNvSpPr/>
          <p:nvPr/>
        </p:nvSpPr>
        <p:spPr>
          <a:xfrm>
            <a:off x="6144768" y="3538728"/>
            <a:ext cx="73152" cy="73152"/>
          </a:xfrm>
          <a:prstGeom prst="ellipse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272784" y="3483864"/>
            <a:ext cx="234086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Banking: AFCA, ABA, FinTech Australia</a:t>
            </a:r>
          </a:p>
        </p:txBody>
      </p:sp>
      <p:sp>
        <p:nvSpPr>
          <p:cNvPr id="51" name="Oval 50"/>
          <p:cNvSpPr/>
          <p:nvPr/>
        </p:nvSpPr>
        <p:spPr>
          <a:xfrm>
            <a:off x="6144768" y="3941064"/>
            <a:ext cx="73152" cy="73152"/>
          </a:xfrm>
          <a:prstGeom prst="ellipse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272784" y="3886200"/>
            <a:ext cx="234086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Healthcare: HIMSS, ACHA</a:t>
            </a:r>
          </a:p>
        </p:txBody>
      </p:sp>
      <p:sp>
        <p:nvSpPr>
          <p:cNvPr id="53" name="Oval 52"/>
          <p:cNvSpPr/>
          <p:nvPr/>
        </p:nvSpPr>
        <p:spPr>
          <a:xfrm>
            <a:off x="6144768" y="4343400"/>
            <a:ext cx="73152" cy="73152"/>
          </a:xfrm>
          <a:prstGeom prst="ellipse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272784" y="4288536"/>
            <a:ext cx="234086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Publish benchmark reports for credibility</a:t>
            </a:r>
          </a:p>
        </p:txBody>
      </p:sp>
      <p:sp>
        <p:nvSpPr>
          <p:cNvPr id="55" name="Oval 54"/>
          <p:cNvSpPr/>
          <p:nvPr/>
        </p:nvSpPr>
        <p:spPr>
          <a:xfrm>
            <a:off x="6144768" y="4745736"/>
            <a:ext cx="73152" cy="73152"/>
          </a:xfrm>
          <a:prstGeom prst="ellipse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272784" y="4690872"/>
            <a:ext cx="234086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Speaking at transformation conferences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869680" y="3154679"/>
            <a:ext cx="2651760" cy="2103120"/>
          </a:xfrm>
          <a:prstGeom prst="rect">
            <a:avLst/>
          </a:prstGeom>
          <a:solidFill>
            <a:srgbClr val="F1F5F9"/>
          </a:solidFill>
          <a:ln w="1016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8869680" y="3154679"/>
            <a:ext cx="2651760" cy="27432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961120" y="3191256"/>
            <a:ext cx="2468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Thought Leadership / Content</a:t>
            </a:r>
          </a:p>
        </p:txBody>
      </p:sp>
      <p:sp>
        <p:nvSpPr>
          <p:cNvPr id="60" name="Oval 59"/>
          <p:cNvSpPr/>
          <p:nvPr/>
        </p:nvSpPr>
        <p:spPr>
          <a:xfrm>
            <a:off x="8979408" y="3538728"/>
            <a:ext cx="73152" cy="73152"/>
          </a:xfrm>
          <a:prstGeom prst="ellipse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107424" y="3483864"/>
            <a:ext cx="234086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'State of Digital Transformation Accuracy' annual report</a:t>
            </a:r>
          </a:p>
        </p:txBody>
      </p:sp>
      <p:sp>
        <p:nvSpPr>
          <p:cNvPr id="62" name="Oval 61"/>
          <p:cNvSpPr/>
          <p:nvPr/>
        </p:nvSpPr>
        <p:spPr>
          <a:xfrm>
            <a:off x="8979408" y="3941064"/>
            <a:ext cx="73152" cy="73152"/>
          </a:xfrm>
          <a:prstGeom prst="ellipse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107424" y="3886200"/>
            <a:ext cx="234086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Open benchmark database by industry</a:t>
            </a:r>
          </a:p>
        </p:txBody>
      </p:sp>
      <p:sp>
        <p:nvSpPr>
          <p:cNvPr id="64" name="Oval 63"/>
          <p:cNvSpPr/>
          <p:nvPr/>
        </p:nvSpPr>
        <p:spPr>
          <a:xfrm>
            <a:off x="8979408" y="4343400"/>
            <a:ext cx="73152" cy="73152"/>
          </a:xfrm>
          <a:prstGeom prst="ellipse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107424" y="4288536"/>
            <a:ext cx="234086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LinkedIn/GitHub open-source tools</a:t>
            </a:r>
          </a:p>
        </p:txBody>
      </p:sp>
      <p:sp>
        <p:nvSpPr>
          <p:cNvPr id="66" name="Oval 65"/>
          <p:cNvSpPr/>
          <p:nvPr/>
        </p:nvSpPr>
        <p:spPr>
          <a:xfrm>
            <a:off x="8979408" y="4745736"/>
            <a:ext cx="73152" cy="73152"/>
          </a:xfrm>
          <a:prstGeom prst="ellipse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107424" y="4690872"/>
            <a:ext cx="234086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Analyst briefings (Gartner, Forrester)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0C1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28016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F172A"/>
                </a:solidFill>
              </a:rPr>
              <a:t>Industry-Specific Value Propositions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75569"/>
                </a:solidFill>
              </a:rPr>
              <a:t>Tailored messaging and use cases for the five highest-value target verticals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88952" cy="2743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611112"/>
            <a:ext cx="11521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</a:rPr>
              <a:t>TransformHub · AI-Powered Digital Transformation Intelligence  ·  Consulting Service Offering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051560"/>
            <a:ext cx="3675887" cy="1883664"/>
          </a:xfrm>
          <a:prstGeom prst="rect">
            <a:avLst/>
          </a:prstGeom>
          <a:solidFill>
            <a:srgbClr val="F1F5F9"/>
          </a:solidFill>
          <a:ln w="1016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051560"/>
            <a:ext cx="3675887" cy="32918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" y="1106424"/>
            <a:ext cx="3493007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🏦 Banking &amp; Financial Services</a:t>
            </a:r>
          </a:p>
        </p:txBody>
      </p:sp>
      <p:sp>
        <p:nvSpPr>
          <p:cNvPr id="10" name="Oval 9"/>
          <p:cNvSpPr/>
          <p:nvPr/>
        </p:nvSpPr>
        <p:spPr>
          <a:xfrm>
            <a:off x="493776" y="1490472"/>
            <a:ext cx="73152" cy="7315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" y="1435607"/>
            <a:ext cx="331012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SOX, FDIC, GLBA, PCI-DSS compliance mapping built-in</a:t>
            </a:r>
          </a:p>
        </p:txBody>
      </p:sp>
      <p:sp>
        <p:nvSpPr>
          <p:cNvPr id="12" name="Oval 11"/>
          <p:cNvSpPr/>
          <p:nvPr/>
        </p:nvSpPr>
        <p:spPr>
          <a:xfrm>
            <a:off x="493776" y="1783080"/>
            <a:ext cx="73152" cy="7315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" y="1728216"/>
            <a:ext cx="331012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Digital banking capability gap analysis</a:t>
            </a:r>
          </a:p>
        </p:txBody>
      </p:sp>
      <p:sp>
        <p:nvSpPr>
          <p:cNvPr id="14" name="Oval 13"/>
          <p:cNvSpPr/>
          <p:nvPr/>
        </p:nvSpPr>
        <p:spPr>
          <a:xfrm>
            <a:off x="493776" y="2075688"/>
            <a:ext cx="73152" cy="7315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" y="2020824"/>
            <a:ext cx="331012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Payments transformation value stream</a:t>
            </a:r>
          </a:p>
        </p:txBody>
      </p:sp>
      <p:sp>
        <p:nvSpPr>
          <p:cNvPr id="16" name="Oval 15"/>
          <p:cNvSpPr/>
          <p:nvPr/>
        </p:nvSpPr>
        <p:spPr>
          <a:xfrm>
            <a:off x="493776" y="2368296"/>
            <a:ext cx="73152" cy="7315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" y="2313432"/>
            <a:ext cx="331012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Core banking modernisation roadmap</a:t>
            </a:r>
          </a:p>
        </p:txBody>
      </p:sp>
      <p:sp>
        <p:nvSpPr>
          <p:cNvPr id="18" name="Oval 17"/>
          <p:cNvSpPr/>
          <p:nvPr/>
        </p:nvSpPr>
        <p:spPr>
          <a:xfrm>
            <a:off x="493776" y="2660904"/>
            <a:ext cx="73152" cy="7315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1792" y="2606039"/>
            <a:ext cx="331012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DORA Article 11 digital resilience compliance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3776" y="2697480"/>
            <a:ext cx="349300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1">
                <a:solidFill>
                  <a:srgbClr val="2563EB"/>
                </a:solidFill>
              </a:rPr>
              <a:t>Typical Deal Size: $350K–$600K  ·  Time-to-value: 4 weeks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24528" y="1051560"/>
            <a:ext cx="3675887" cy="1883664"/>
          </a:xfrm>
          <a:prstGeom prst="rect">
            <a:avLst/>
          </a:prstGeom>
          <a:solidFill>
            <a:srgbClr val="F1F5F9"/>
          </a:solidFill>
          <a:ln w="1016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224528" y="1051560"/>
            <a:ext cx="3675887" cy="329184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34256" y="1106424"/>
            <a:ext cx="3493007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🏥 Healthcare &amp; Life Sciences</a:t>
            </a:r>
          </a:p>
        </p:txBody>
      </p:sp>
      <p:sp>
        <p:nvSpPr>
          <p:cNvPr id="24" name="Oval 23"/>
          <p:cNvSpPr/>
          <p:nvPr/>
        </p:nvSpPr>
        <p:spPr>
          <a:xfrm>
            <a:off x="4352544" y="1490472"/>
            <a:ext cx="73152" cy="73152"/>
          </a:xfrm>
          <a:prstGeom prst="ellipse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80560" y="1435607"/>
            <a:ext cx="331012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HIPAA compliance framework pre-configured</a:t>
            </a:r>
          </a:p>
        </p:txBody>
      </p:sp>
      <p:sp>
        <p:nvSpPr>
          <p:cNvPr id="26" name="Oval 25"/>
          <p:cNvSpPr/>
          <p:nvPr/>
        </p:nvSpPr>
        <p:spPr>
          <a:xfrm>
            <a:off x="4352544" y="1783080"/>
            <a:ext cx="73152" cy="73152"/>
          </a:xfrm>
          <a:prstGeom prst="ellipse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80560" y="1728216"/>
            <a:ext cx="331012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EHR/EMR integration capability mapping</a:t>
            </a:r>
          </a:p>
        </p:txBody>
      </p:sp>
      <p:sp>
        <p:nvSpPr>
          <p:cNvPr id="28" name="Oval 27"/>
          <p:cNvSpPr/>
          <p:nvPr/>
        </p:nvSpPr>
        <p:spPr>
          <a:xfrm>
            <a:off x="4352544" y="2075688"/>
            <a:ext cx="73152" cy="73152"/>
          </a:xfrm>
          <a:prstGeom prst="ellipse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480560" y="2020824"/>
            <a:ext cx="331012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Clinical workflow value stream analysis</a:t>
            </a:r>
          </a:p>
        </p:txBody>
      </p:sp>
      <p:sp>
        <p:nvSpPr>
          <p:cNvPr id="30" name="Oval 29"/>
          <p:cNvSpPr/>
          <p:nvPr/>
        </p:nvSpPr>
        <p:spPr>
          <a:xfrm>
            <a:off x="4352544" y="2368296"/>
            <a:ext cx="73152" cy="73152"/>
          </a:xfrm>
          <a:prstGeom prst="ellipse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480560" y="2313432"/>
            <a:ext cx="331012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Patient journey digitisation roadmap</a:t>
            </a:r>
          </a:p>
        </p:txBody>
      </p:sp>
      <p:sp>
        <p:nvSpPr>
          <p:cNvPr id="32" name="Oval 31"/>
          <p:cNvSpPr/>
          <p:nvPr/>
        </p:nvSpPr>
        <p:spPr>
          <a:xfrm>
            <a:off x="4352544" y="2660904"/>
            <a:ext cx="73152" cy="73152"/>
          </a:xfrm>
          <a:prstGeom prst="ellipse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480560" y="2606039"/>
            <a:ext cx="331012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FHIR API discovery and mapping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52544" y="2697480"/>
            <a:ext cx="349300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1">
                <a:solidFill>
                  <a:srgbClr val="60A5FA"/>
                </a:solidFill>
              </a:rPr>
              <a:t>Typical Deal Size: $280K–$500K  ·  Time-to-value: 6 weeks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083296" y="1051560"/>
            <a:ext cx="3675887" cy="1883664"/>
          </a:xfrm>
          <a:prstGeom prst="rect">
            <a:avLst/>
          </a:prstGeom>
          <a:solidFill>
            <a:srgbClr val="F1F5F9"/>
          </a:solidFill>
          <a:ln w="1016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083296" y="1051560"/>
            <a:ext cx="3675887" cy="32918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193023" y="1106424"/>
            <a:ext cx="3493007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🛡️ Insurance</a:t>
            </a:r>
          </a:p>
        </p:txBody>
      </p:sp>
      <p:sp>
        <p:nvSpPr>
          <p:cNvPr id="38" name="Oval 37"/>
          <p:cNvSpPr/>
          <p:nvPr/>
        </p:nvSpPr>
        <p:spPr>
          <a:xfrm>
            <a:off x="8211312" y="1490472"/>
            <a:ext cx="73152" cy="73152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339327" y="1435607"/>
            <a:ext cx="331012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Claims processing VSM and bottleneck identification</a:t>
            </a:r>
          </a:p>
        </p:txBody>
      </p:sp>
      <p:sp>
        <p:nvSpPr>
          <p:cNvPr id="40" name="Oval 39"/>
          <p:cNvSpPr/>
          <p:nvPr/>
        </p:nvSpPr>
        <p:spPr>
          <a:xfrm>
            <a:off x="8211312" y="1783080"/>
            <a:ext cx="73152" cy="73152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339327" y="1728216"/>
            <a:ext cx="331012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Underwriting AI readiness assessment</a:t>
            </a:r>
          </a:p>
        </p:txBody>
      </p:sp>
      <p:sp>
        <p:nvSpPr>
          <p:cNvPr id="42" name="Oval 41"/>
          <p:cNvSpPr/>
          <p:nvPr/>
        </p:nvSpPr>
        <p:spPr>
          <a:xfrm>
            <a:off x="8211312" y="2075688"/>
            <a:ext cx="73152" cy="73152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339327" y="2020824"/>
            <a:ext cx="331012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APRA CPS 230 operational resilience mapping</a:t>
            </a:r>
          </a:p>
        </p:txBody>
      </p:sp>
      <p:sp>
        <p:nvSpPr>
          <p:cNvPr id="44" name="Oval 43"/>
          <p:cNvSpPr/>
          <p:nvPr/>
        </p:nvSpPr>
        <p:spPr>
          <a:xfrm>
            <a:off x="8211312" y="2368296"/>
            <a:ext cx="73152" cy="73152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339327" y="2313432"/>
            <a:ext cx="331012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Distribution channel capability inventory</a:t>
            </a:r>
          </a:p>
        </p:txBody>
      </p:sp>
      <p:sp>
        <p:nvSpPr>
          <p:cNvPr id="46" name="Oval 45"/>
          <p:cNvSpPr/>
          <p:nvPr/>
        </p:nvSpPr>
        <p:spPr>
          <a:xfrm>
            <a:off x="8211312" y="2660904"/>
            <a:ext cx="73152" cy="73152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339327" y="2606039"/>
            <a:ext cx="331012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RegTech compliance framework mapping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11312" y="2697480"/>
            <a:ext cx="349300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1">
                <a:solidFill>
                  <a:srgbClr val="3B82F6"/>
                </a:solidFill>
              </a:rPr>
              <a:t>Typical Deal Size: $250K–$450K  ·  Time-to-value: 5 weeks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65760" y="3008376"/>
            <a:ext cx="5650992" cy="2194560"/>
          </a:xfrm>
          <a:prstGeom prst="rect">
            <a:avLst/>
          </a:prstGeom>
          <a:solidFill>
            <a:srgbClr val="F1F5F9"/>
          </a:solidFill>
          <a:ln w="1016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365760" y="3008376"/>
            <a:ext cx="5650992" cy="329184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75488" y="3063240"/>
            <a:ext cx="546811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🛒 Retail &amp; eCommerce</a:t>
            </a:r>
          </a:p>
        </p:txBody>
      </p:sp>
      <p:sp>
        <p:nvSpPr>
          <p:cNvPr id="52" name="Oval 51"/>
          <p:cNvSpPr/>
          <p:nvPr/>
        </p:nvSpPr>
        <p:spPr>
          <a:xfrm>
            <a:off x="493776" y="3447288"/>
            <a:ext cx="73152" cy="73152"/>
          </a:xfrm>
          <a:prstGeom prst="ellipse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21792" y="3392424"/>
            <a:ext cx="5285231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Omnichannel value stream gap analysis</a:t>
            </a:r>
          </a:p>
        </p:txBody>
      </p:sp>
      <p:sp>
        <p:nvSpPr>
          <p:cNvPr id="54" name="Oval 53"/>
          <p:cNvSpPr/>
          <p:nvPr/>
        </p:nvSpPr>
        <p:spPr>
          <a:xfrm>
            <a:off x="493776" y="3739896"/>
            <a:ext cx="73152" cy="73152"/>
          </a:xfrm>
          <a:prstGeom prst="ellipse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21792" y="3685032"/>
            <a:ext cx="5285231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Supply chain digital capability mapping</a:t>
            </a:r>
          </a:p>
        </p:txBody>
      </p:sp>
      <p:sp>
        <p:nvSpPr>
          <p:cNvPr id="56" name="Oval 55"/>
          <p:cNvSpPr/>
          <p:nvPr/>
        </p:nvSpPr>
        <p:spPr>
          <a:xfrm>
            <a:off x="493776" y="4032504"/>
            <a:ext cx="73152" cy="73152"/>
          </a:xfrm>
          <a:prstGeom prst="ellipse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21792" y="3977639"/>
            <a:ext cx="5285231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Customer experience transformation roadmap</a:t>
            </a:r>
          </a:p>
        </p:txBody>
      </p:sp>
      <p:sp>
        <p:nvSpPr>
          <p:cNvPr id="58" name="Oval 57"/>
          <p:cNvSpPr/>
          <p:nvPr/>
        </p:nvSpPr>
        <p:spPr>
          <a:xfrm>
            <a:off x="493776" y="4325112"/>
            <a:ext cx="73152" cy="73152"/>
          </a:xfrm>
          <a:prstGeom prst="ellipse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21792" y="4270248"/>
            <a:ext cx="5285231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Loyalty platform capability discovery</a:t>
            </a:r>
          </a:p>
        </p:txBody>
      </p:sp>
      <p:sp>
        <p:nvSpPr>
          <p:cNvPr id="60" name="Oval 59"/>
          <p:cNvSpPr/>
          <p:nvPr/>
        </p:nvSpPr>
        <p:spPr>
          <a:xfrm>
            <a:off x="493776" y="4617720"/>
            <a:ext cx="73152" cy="73152"/>
          </a:xfrm>
          <a:prstGeom prst="ellipse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21792" y="4562856"/>
            <a:ext cx="5285231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GDPR data flow and compliance mapping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93776" y="4965192"/>
            <a:ext cx="54681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1">
                <a:solidFill>
                  <a:srgbClr val="1D4ED8"/>
                </a:solidFill>
              </a:rPr>
              <a:t>Typical Deal Size: $200K–$380K  ·  Time-to-value: 4 weeks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199632" y="3008376"/>
            <a:ext cx="5650992" cy="2194560"/>
          </a:xfrm>
          <a:prstGeom prst="rect">
            <a:avLst/>
          </a:prstGeom>
          <a:solidFill>
            <a:srgbClr val="F1F5F9"/>
          </a:solidFill>
          <a:ln w="1016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6199632" y="3008376"/>
            <a:ext cx="5650992" cy="329184"/>
          </a:xfrm>
          <a:prstGeom prst="rect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309360" y="3063240"/>
            <a:ext cx="546811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📡 Telco &amp; Media</a:t>
            </a:r>
          </a:p>
        </p:txBody>
      </p:sp>
      <p:sp>
        <p:nvSpPr>
          <p:cNvPr id="66" name="Oval 65"/>
          <p:cNvSpPr/>
          <p:nvPr/>
        </p:nvSpPr>
        <p:spPr>
          <a:xfrm>
            <a:off x="6327648" y="3447288"/>
            <a:ext cx="73152" cy="73152"/>
          </a:xfrm>
          <a:prstGeom prst="ellipse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455664" y="3392424"/>
            <a:ext cx="5285231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BSS/OSS capability inventory and modernisation</a:t>
            </a:r>
          </a:p>
        </p:txBody>
      </p:sp>
      <p:sp>
        <p:nvSpPr>
          <p:cNvPr id="68" name="Oval 67"/>
          <p:cNvSpPr/>
          <p:nvPr/>
        </p:nvSpPr>
        <p:spPr>
          <a:xfrm>
            <a:off x="6327648" y="3739896"/>
            <a:ext cx="73152" cy="73152"/>
          </a:xfrm>
          <a:prstGeom prst="ellipse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55664" y="3685032"/>
            <a:ext cx="5285231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5G product portfolio value stream mapping</a:t>
            </a:r>
          </a:p>
        </p:txBody>
      </p:sp>
      <p:sp>
        <p:nvSpPr>
          <p:cNvPr id="70" name="Oval 69"/>
          <p:cNvSpPr/>
          <p:nvPr/>
        </p:nvSpPr>
        <p:spPr>
          <a:xfrm>
            <a:off x="6327648" y="4032504"/>
            <a:ext cx="73152" cy="73152"/>
          </a:xfrm>
          <a:prstGeom prst="ellipse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455664" y="3977639"/>
            <a:ext cx="5285231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Network API capability discovery</a:t>
            </a:r>
          </a:p>
        </p:txBody>
      </p:sp>
      <p:sp>
        <p:nvSpPr>
          <p:cNvPr id="72" name="Oval 71"/>
          <p:cNvSpPr/>
          <p:nvPr/>
        </p:nvSpPr>
        <p:spPr>
          <a:xfrm>
            <a:off x="6327648" y="4325112"/>
            <a:ext cx="73152" cy="73152"/>
          </a:xfrm>
          <a:prstGeom prst="ellipse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455664" y="4270248"/>
            <a:ext cx="5285231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Content platform transformation roadmap</a:t>
            </a:r>
          </a:p>
        </p:txBody>
      </p:sp>
      <p:sp>
        <p:nvSpPr>
          <p:cNvPr id="74" name="Oval 73"/>
          <p:cNvSpPr/>
          <p:nvPr/>
        </p:nvSpPr>
        <p:spPr>
          <a:xfrm>
            <a:off x="6327648" y="4617720"/>
            <a:ext cx="73152" cy="73152"/>
          </a:xfrm>
          <a:prstGeom prst="ellipse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455664" y="4562856"/>
            <a:ext cx="5285231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OSS/BSS consolidation business case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327648" y="4965192"/>
            <a:ext cx="54681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1">
                <a:solidFill>
                  <a:srgbClr val="93C5FD"/>
                </a:solidFill>
              </a:rPr>
              <a:t>Typical Deal Size: $300K–$550K  ·  Time-to-value: 5 weeks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0C1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28016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F172A"/>
                </a:solidFill>
              </a:rPr>
              <a:t>Consultant Training Programme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75569"/>
                </a:solidFill>
              </a:rPr>
              <a:t>Upskilling existing technology consultants to deliver the TransformHub Intelligence Service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88952" cy="2743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611112"/>
            <a:ext cx="11521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</a:rPr>
              <a:t>TransformHub · AI-Powered Digital Transformation Intelligence  ·  Consulting Service Offering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051560"/>
            <a:ext cx="114574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C1C3A"/>
                </a:solidFill>
              </a:rPr>
              <a:t>Training Duration: 7 days total  ·  Format: Blended (3 days instructor-led, 4 days hands-on platform lab)  ·  Certification: TransformHub Certified Practitioner (TCP)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380743"/>
            <a:ext cx="2176272" cy="420624"/>
          </a:xfrm>
          <a:prstGeom prst="rect">
            <a:avLst/>
          </a:prstGeom>
          <a:solidFill>
            <a:srgbClr val="0C1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417319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Module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1417319"/>
            <a:ext cx="640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</a:rPr>
              <a:t>2 days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856231"/>
            <a:ext cx="19933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C1C3A"/>
                </a:solidFill>
              </a:rPr>
              <a:t>Platform Operations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1819655"/>
            <a:ext cx="2176272" cy="2798064"/>
          </a:xfrm>
          <a:prstGeom prst="rect">
            <a:avLst/>
          </a:prstGeom>
          <a:solidFill>
            <a:srgbClr val="F1F5F9"/>
          </a:solidFill>
          <a:ln w="6350">
            <a:solidFill>
              <a:srgbClr val="0C1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75488" y="2075688"/>
            <a:ext cx="73152" cy="73152"/>
          </a:xfrm>
          <a:prstGeom prst="ellipse">
            <a:avLst/>
          </a:prstGeom>
          <a:solidFill>
            <a:srgbClr val="0C1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3504" y="2020824"/>
            <a:ext cx="187451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Navigate all 8 modules as a power user</a:t>
            </a:r>
          </a:p>
        </p:txBody>
      </p:sp>
      <p:sp>
        <p:nvSpPr>
          <p:cNvPr id="15" name="Oval 14"/>
          <p:cNvSpPr/>
          <p:nvPr/>
        </p:nvSpPr>
        <p:spPr>
          <a:xfrm>
            <a:off x="475488" y="2551176"/>
            <a:ext cx="73152" cy="73152"/>
          </a:xfrm>
          <a:prstGeom prst="ellipse">
            <a:avLst/>
          </a:prstGeom>
          <a:solidFill>
            <a:srgbClr val="0C1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3504" y="2496312"/>
            <a:ext cx="187451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Configure organizations and segments</a:t>
            </a:r>
          </a:p>
        </p:txBody>
      </p:sp>
      <p:sp>
        <p:nvSpPr>
          <p:cNvPr id="17" name="Oval 16"/>
          <p:cNvSpPr/>
          <p:nvPr/>
        </p:nvSpPr>
        <p:spPr>
          <a:xfrm>
            <a:off x="475488" y="3026664"/>
            <a:ext cx="73152" cy="73152"/>
          </a:xfrm>
          <a:prstGeom prst="ellipse">
            <a:avLst/>
          </a:prstGeom>
          <a:solidFill>
            <a:srgbClr val="0C1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3504" y="2971800"/>
            <a:ext cx="187451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Run all 18 AI agents end-to-end</a:t>
            </a:r>
          </a:p>
        </p:txBody>
      </p:sp>
      <p:sp>
        <p:nvSpPr>
          <p:cNvPr id="19" name="Oval 18"/>
          <p:cNvSpPr/>
          <p:nvPr/>
        </p:nvSpPr>
        <p:spPr>
          <a:xfrm>
            <a:off x="475488" y="3502152"/>
            <a:ext cx="73152" cy="73152"/>
          </a:xfrm>
          <a:prstGeom prst="ellipse">
            <a:avLst/>
          </a:prstGeom>
          <a:solidFill>
            <a:srgbClr val="0C1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3504" y="3447288"/>
            <a:ext cx="187451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Interpret accuracy scores and module outputs</a:t>
            </a:r>
          </a:p>
        </p:txBody>
      </p:sp>
      <p:sp>
        <p:nvSpPr>
          <p:cNvPr id="21" name="Oval 20"/>
          <p:cNvSpPr/>
          <p:nvPr/>
        </p:nvSpPr>
        <p:spPr>
          <a:xfrm>
            <a:off x="475488" y="3977639"/>
            <a:ext cx="73152" cy="73152"/>
          </a:xfrm>
          <a:prstGeom prst="ellipse">
            <a:avLst/>
          </a:prstGeom>
          <a:solidFill>
            <a:srgbClr val="0C1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3504" y="3922776"/>
            <a:ext cx="187451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Seed and manage Context Hub documents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670048" y="1380743"/>
            <a:ext cx="2176272" cy="42062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61488" y="1417319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Module 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33087" y="1417319"/>
            <a:ext cx="640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</a:rPr>
              <a:t>1 day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61488" y="1856231"/>
            <a:ext cx="19933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563EB"/>
                </a:solidFill>
              </a:rPr>
              <a:t>AI Agent Configuration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670048" y="1819655"/>
            <a:ext cx="2176272" cy="2798064"/>
          </a:xfrm>
          <a:prstGeom prst="rect">
            <a:avLst/>
          </a:prstGeom>
          <a:solidFill>
            <a:srgbClr val="F1F5F9"/>
          </a:solidFill>
          <a:ln w="63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2779776" y="2075688"/>
            <a:ext cx="73152" cy="7315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907791" y="2020824"/>
            <a:ext cx="187451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Understand LangGraph agent architecture</a:t>
            </a:r>
          </a:p>
        </p:txBody>
      </p:sp>
      <p:sp>
        <p:nvSpPr>
          <p:cNvPr id="30" name="Oval 29"/>
          <p:cNvSpPr/>
          <p:nvPr/>
        </p:nvSpPr>
        <p:spPr>
          <a:xfrm>
            <a:off x="2779776" y="2551176"/>
            <a:ext cx="73152" cy="7315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907791" y="2496312"/>
            <a:ext cx="187451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Configure RAG pipeline and document categories</a:t>
            </a:r>
          </a:p>
        </p:txBody>
      </p:sp>
      <p:sp>
        <p:nvSpPr>
          <p:cNvPr id="32" name="Oval 31"/>
          <p:cNvSpPr/>
          <p:nvPr/>
        </p:nvSpPr>
        <p:spPr>
          <a:xfrm>
            <a:off x="2779776" y="3026664"/>
            <a:ext cx="73152" cy="7315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907791" y="2971800"/>
            <a:ext cx="187451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Tune agent parameters for industry contexts</a:t>
            </a:r>
          </a:p>
        </p:txBody>
      </p:sp>
      <p:sp>
        <p:nvSpPr>
          <p:cNvPr id="34" name="Oval 33"/>
          <p:cNvSpPr/>
          <p:nvPr/>
        </p:nvSpPr>
        <p:spPr>
          <a:xfrm>
            <a:off x="2779776" y="3502152"/>
            <a:ext cx="73152" cy="7315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907791" y="3447288"/>
            <a:ext cx="187451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Diagnose and resolve agent output quality issues</a:t>
            </a:r>
          </a:p>
        </p:txBody>
      </p:sp>
      <p:sp>
        <p:nvSpPr>
          <p:cNvPr id="36" name="Oval 35"/>
          <p:cNvSpPr/>
          <p:nvPr/>
        </p:nvSpPr>
        <p:spPr>
          <a:xfrm>
            <a:off x="2779776" y="3977639"/>
            <a:ext cx="73152" cy="7315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907791" y="3922776"/>
            <a:ext cx="187451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Run BM25 and vector hybrid search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974336" y="1380743"/>
            <a:ext cx="2176272" cy="420624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065776" y="1417319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Module 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37376" y="1417319"/>
            <a:ext cx="640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</a:rPr>
              <a:t>2 days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65776" y="1856231"/>
            <a:ext cx="19933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0A5FA"/>
                </a:solidFill>
              </a:rPr>
              <a:t>Discovery Methodology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974336" y="1819655"/>
            <a:ext cx="2176272" cy="2798064"/>
          </a:xfrm>
          <a:prstGeom prst="rect">
            <a:avLst/>
          </a:prstGeom>
          <a:solidFill>
            <a:srgbClr val="F1F5F9"/>
          </a:solidFill>
          <a:ln w="635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5084064" y="2075688"/>
            <a:ext cx="73152" cy="73152"/>
          </a:xfrm>
          <a:prstGeom prst="ellipse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212080" y="2020824"/>
            <a:ext cx="187451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Conduct stakeholder interviews alongside AI</a:t>
            </a:r>
          </a:p>
        </p:txBody>
      </p:sp>
      <p:sp>
        <p:nvSpPr>
          <p:cNvPr id="45" name="Oval 44"/>
          <p:cNvSpPr/>
          <p:nvPr/>
        </p:nvSpPr>
        <p:spPr>
          <a:xfrm>
            <a:off x="5084064" y="2551176"/>
            <a:ext cx="73152" cy="73152"/>
          </a:xfrm>
          <a:prstGeom prst="ellipse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212080" y="2496312"/>
            <a:ext cx="187451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Validate AI-discovered products and capabilities</a:t>
            </a:r>
          </a:p>
        </p:txBody>
      </p:sp>
      <p:sp>
        <p:nvSpPr>
          <p:cNvPr id="47" name="Oval 46"/>
          <p:cNvSpPr/>
          <p:nvPr/>
        </p:nvSpPr>
        <p:spPr>
          <a:xfrm>
            <a:off x="5084064" y="3026664"/>
            <a:ext cx="73152" cy="73152"/>
          </a:xfrm>
          <a:prstGeom prst="ellipse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212080" y="2971800"/>
            <a:ext cx="187451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Facilitate human-in-the-loop review gates</a:t>
            </a:r>
          </a:p>
        </p:txBody>
      </p:sp>
      <p:sp>
        <p:nvSpPr>
          <p:cNvPr id="49" name="Oval 48"/>
          <p:cNvSpPr/>
          <p:nvPr/>
        </p:nvSpPr>
        <p:spPr>
          <a:xfrm>
            <a:off x="5084064" y="3502152"/>
            <a:ext cx="73152" cy="73152"/>
          </a:xfrm>
          <a:prstGeom prst="ellipse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212080" y="3447288"/>
            <a:ext cx="187451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Apply source triangulation principles</a:t>
            </a:r>
          </a:p>
        </p:txBody>
      </p:sp>
      <p:sp>
        <p:nvSpPr>
          <p:cNvPr id="51" name="Oval 50"/>
          <p:cNvSpPr/>
          <p:nvPr/>
        </p:nvSpPr>
        <p:spPr>
          <a:xfrm>
            <a:off x="5084064" y="3977639"/>
            <a:ext cx="73152" cy="73152"/>
          </a:xfrm>
          <a:prstGeom prst="ellipse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212080" y="3922776"/>
            <a:ext cx="187451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Write the D1.6 Executive Summary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278624" y="1380743"/>
            <a:ext cx="2176272" cy="420624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370064" y="1417319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Module 4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741664" y="1417319"/>
            <a:ext cx="640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</a:rPr>
              <a:t>1 day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370064" y="1856231"/>
            <a:ext cx="19933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D4ED8"/>
                </a:solidFill>
              </a:rPr>
              <a:t>VSM Facilitation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278624" y="1819655"/>
            <a:ext cx="2176272" cy="2798064"/>
          </a:xfrm>
          <a:prstGeom prst="rect">
            <a:avLst/>
          </a:prstGeom>
          <a:solidFill>
            <a:srgbClr val="F1F5F9"/>
          </a:solidFill>
          <a:ln w="635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7388352" y="2075688"/>
            <a:ext cx="73152" cy="73152"/>
          </a:xfrm>
          <a:prstGeom prst="ellipse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516368" y="2020824"/>
            <a:ext cx="187451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Interpret L1/L2/L3 VSM outputs</a:t>
            </a:r>
          </a:p>
        </p:txBody>
      </p:sp>
      <p:sp>
        <p:nvSpPr>
          <p:cNvPr id="60" name="Oval 59"/>
          <p:cNvSpPr/>
          <p:nvPr/>
        </p:nvSpPr>
        <p:spPr>
          <a:xfrm>
            <a:off x="7388352" y="2551176"/>
            <a:ext cx="73152" cy="73152"/>
          </a:xfrm>
          <a:prstGeom prst="ellipse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516368" y="2496312"/>
            <a:ext cx="187451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Facilitate bottleneck workshops using AI data</a:t>
            </a:r>
          </a:p>
        </p:txBody>
      </p:sp>
      <p:sp>
        <p:nvSpPr>
          <p:cNvPr id="62" name="Oval 61"/>
          <p:cNvSpPr/>
          <p:nvPr/>
        </p:nvSpPr>
        <p:spPr>
          <a:xfrm>
            <a:off x="7388352" y="3026664"/>
            <a:ext cx="73152" cy="73152"/>
          </a:xfrm>
          <a:prstGeom prst="ellipse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516368" y="2971800"/>
            <a:ext cx="187451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Read Mermaid diagrams for executive audiences</a:t>
            </a:r>
          </a:p>
        </p:txBody>
      </p:sp>
      <p:sp>
        <p:nvSpPr>
          <p:cNvPr id="64" name="Oval 63"/>
          <p:cNvSpPr/>
          <p:nvPr/>
        </p:nvSpPr>
        <p:spPr>
          <a:xfrm>
            <a:off x="7388352" y="3502152"/>
            <a:ext cx="73152" cy="73152"/>
          </a:xfrm>
          <a:prstGeom prst="ellipse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516368" y="3447288"/>
            <a:ext cx="187451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Benchmark current-state FE% against industry data</a:t>
            </a:r>
          </a:p>
        </p:txBody>
      </p:sp>
      <p:sp>
        <p:nvSpPr>
          <p:cNvPr id="66" name="Oval 65"/>
          <p:cNvSpPr/>
          <p:nvPr/>
        </p:nvSpPr>
        <p:spPr>
          <a:xfrm>
            <a:off x="7388352" y="3977639"/>
            <a:ext cx="73152" cy="73152"/>
          </a:xfrm>
          <a:prstGeom prst="ellipse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516368" y="3922776"/>
            <a:ext cx="187451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Present VSM insights to non-technical stakeholders</a:t>
            </a:r>
          </a:p>
        </p:txBody>
      </p:sp>
      <p:sp>
        <p:nvSpPr>
          <p:cNvPr id="68" name="Rectangle 67"/>
          <p:cNvSpPr/>
          <p:nvPr/>
        </p:nvSpPr>
        <p:spPr>
          <a:xfrm>
            <a:off x="9582912" y="1380743"/>
            <a:ext cx="2176272" cy="42062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9674352" y="1417319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Module 5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1045952" y="1417319"/>
            <a:ext cx="640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</a:rPr>
              <a:t>1 day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674352" y="1856231"/>
            <a:ext cx="19933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B82F6"/>
                </a:solidFill>
              </a:rPr>
              <a:t>Executive Storytelling</a:t>
            </a:r>
          </a:p>
        </p:txBody>
      </p:sp>
      <p:sp>
        <p:nvSpPr>
          <p:cNvPr id="72" name="Rectangle 71"/>
          <p:cNvSpPr/>
          <p:nvPr/>
        </p:nvSpPr>
        <p:spPr>
          <a:xfrm>
            <a:off x="9582912" y="1819655"/>
            <a:ext cx="2176272" cy="2798064"/>
          </a:xfrm>
          <a:prstGeom prst="rect">
            <a:avLst/>
          </a:prstGeom>
          <a:solidFill>
            <a:srgbClr val="F1F5F9"/>
          </a:solidFill>
          <a:ln w="63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9692640" y="2075688"/>
            <a:ext cx="73152" cy="73152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9820656" y="2020824"/>
            <a:ext cx="187451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Structure the 5-phase engagement narrative</a:t>
            </a:r>
          </a:p>
        </p:txBody>
      </p:sp>
      <p:sp>
        <p:nvSpPr>
          <p:cNvPr id="75" name="Oval 74"/>
          <p:cNvSpPr/>
          <p:nvPr/>
        </p:nvSpPr>
        <p:spPr>
          <a:xfrm>
            <a:off x="9692640" y="2551176"/>
            <a:ext cx="73152" cy="73152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9820656" y="2496312"/>
            <a:ext cx="187451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Build board-ready presentations from AI outputs</a:t>
            </a:r>
          </a:p>
        </p:txBody>
      </p:sp>
      <p:sp>
        <p:nvSpPr>
          <p:cNvPr id="77" name="Oval 76"/>
          <p:cNvSpPr/>
          <p:nvPr/>
        </p:nvSpPr>
        <p:spPr>
          <a:xfrm>
            <a:off x="9692640" y="3026664"/>
            <a:ext cx="73152" cy="73152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9820656" y="2971800"/>
            <a:ext cx="187451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Handle 'black-box AI' objections with confidence</a:t>
            </a:r>
          </a:p>
        </p:txBody>
      </p:sp>
      <p:sp>
        <p:nvSpPr>
          <p:cNvPr id="79" name="Oval 78"/>
          <p:cNvSpPr/>
          <p:nvPr/>
        </p:nvSpPr>
        <p:spPr>
          <a:xfrm>
            <a:off x="9692640" y="3502152"/>
            <a:ext cx="73152" cy="73152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9820656" y="3447288"/>
            <a:ext cx="187451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Translate accuracy scores into business language</a:t>
            </a:r>
          </a:p>
        </p:txBody>
      </p:sp>
      <p:sp>
        <p:nvSpPr>
          <p:cNvPr id="81" name="Oval 80"/>
          <p:cNvSpPr/>
          <p:nvPr/>
        </p:nvSpPr>
        <p:spPr>
          <a:xfrm>
            <a:off x="9692640" y="3977639"/>
            <a:ext cx="73152" cy="73152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9820656" y="3922776"/>
            <a:ext cx="187451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Conduct a mock CXO debrief and Q&amp;A</a:t>
            </a:r>
          </a:p>
        </p:txBody>
      </p:sp>
      <p:sp>
        <p:nvSpPr>
          <p:cNvPr id="83" name="Rectangle 82"/>
          <p:cNvSpPr/>
          <p:nvPr/>
        </p:nvSpPr>
        <p:spPr>
          <a:xfrm>
            <a:off x="365760" y="4690872"/>
            <a:ext cx="11457432" cy="548640"/>
          </a:xfrm>
          <a:prstGeom prst="rect">
            <a:avLst/>
          </a:prstGeom>
          <a:solidFill>
            <a:srgbClr val="0C1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548640" y="4800600"/>
            <a:ext cx="11064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📜  CERTIFICATION PATH:  Associate (after Module 1–3)  →  Practitioner (all 5 modules)  →  Lead (2 completed engagements)  →  Master Trainer (train others)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0C1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28016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F172A"/>
                </a:solidFill>
              </a:rPr>
              <a:t>Team Composition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75569"/>
                </a:solidFill>
              </a:rPr>
              <a:t>Recommended team structure for a standard 8-week engagement — scalable up or down by scope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88952" cy="2743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611112"/>
            <a:ext cx="11521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</a:rPr>
              <a:t>TransformHub · AI-Powered Digital Transformation Intelligence  ·  Consulting Service Offering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051560"/>
            <a:ext cx="3675887" cy="1609344"/>
          </a:xfrm>
          <a:prstGeom prst="rect">
            <a:avLst/>
          </a:prstGeom>
          <a:solidFill>
            <a:srgbClr val="F1F5F9"/>
          </a:solidFill>
          <a:ln w="10160">
            <a:solidFill>
              <a:srgbClr val="0C1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051560"/>
            <a:ext cx="3675887" cy="329184"/>
          </a:xfrm>
          <a:prstGeom prst="rect">
            <a:avLst/>
          </a:prstGeom>
          <a:solidFill>
            <a:srgbClr val="0C1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" y="1106424"/>
            <a:ext cx="23774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Engagement Manager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52928" y="1143000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</a:rPr>
              <a:t>1 person · 25% · $250/hr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" y="1435607"/>
            <a:ext cx="34564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C1C3A"/>
                </a:solidFill>
              </a:rPr>
              <a:t>$10,000 est.</a:t>
            </a:r>
          </a:p>
        </p:txBody>
      </p:sp>
      <p:sp>
        <p:nvSpPr>
          <p:cNvPr id="12" name="Oval 11"/>
          <p:cNvSpPr/>
          <p:nvPr/>
        </p:nvSpPr>
        <p:spPr>
          <a:xfrm>
            <a:off x="475488" y="1709928"/>
            <a:ext cx="64008" cy="64008"/>
          </a:xfrm>
          <a:prstGeom prst="ellipse">
            <a:avLst/>
          </a:prstGeom>
          <a:solidFill>
            <a:srgbClr val="0C1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1655064"/>
            <a:ext cx="33467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Manages client relationship and gate reviews</a:t>
            </a:r>
          </a:p>
        </p:txBody>
      </p:sp>
      <p:sp>
        <p:nvSpPr>
          <p:cNvPr id="14" name="Oval 13"/>
          <p:cNvSpPr/>
          <p:nvPr/>
        </p:nvSpPr>
        <p:spPr>
          <a:xfrm>
            <a:off x="475488" y="2020824"/>
            <a:ext cx="64008" cy="64008"/>
          </a:xfrm>
          <a:prstGeom prst="ellipse">
            <a:avLst/>
          </a:prstGeom>
          <a:solidFill>
            <a:srgbClr val="0C1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1965960"/>
            <a:ext cx="33467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Ensures delivery quality and timeline</a:t>
            </a:r>
          </a:p>
        </p:txBody>
      </p:sp>
      <p:sp>
        <p:nvSpPr>
          <p:cNvPr id="16" name="Oval 15"/>
          <p:cNvSpPr/>
          <p:nvPr/>
        </p:nvSpPr>
        <p:spPr>
          <a:xfrm>
            <a:off x="475488" y="2331720"/>
            <a:ext cx="64008" cy="64008"/>
          </a:xfrm>
          <a:prstGeom prst="ellipse">
            <a:avLst/>
          </a:prstGeom>
          <a:solidFill>
            <a:srgbClr val="0C1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2276856"/>
            <a:ext cx="33467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Escalation point for access/scope issues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24528" y="1051560"/>
            <a:ext cx="3675887" cy="1609344"/>
          </a:xfrm>
          <a:prstGeom prst="rect">
            <a:avLst/>
          </a:prstGeom>
          <a:solidFill>
            <a:srgbClr val="F1F5F9"/>
          </a:solidFill>
          <a:ln w="1016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224528" y="1051560"/>
            <a:ext cx="3675887" cy="32918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34256" y="1106424"/>
            <a:ext cx="23774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Sr. DT Consultant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11696" y="1143000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</a:rPr>
              <a:t>1 person · 100% · $200/hr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34256" y="1435607"/>
            <a:ext cx="34564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563EB"/>
                </a:solidFill>
              </a:rPr>
              <a:t>$64,000 est.</a:t>
            </a:r>
          </a:p>
        </p:txBody>
      </p:sp>
      <p:sp>
        <p:nvSpPr>
          <p:cNvPr id="23" name="Oval 22"/>
          <p:cNvSpPr/>
          <p:nvPr/>
        </p:nvSpPr>
        <p:spPr>
          <a:xfrm>
            <a:off x="4334256" y="1709928"/>
            <a:ext cx="64008" cy="6400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53128" y="1655064"/>
            <a:ext cx="33467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Leads all 5 phases end-to-end</a:t>
            </a:r>
          </a:p>
        </p:txBody>
      </p:sp>
      <p:sp>
        <p:nvSpPr>
          <p:cNvPr id="25" name="Oval 24"/>
          <p:cNvSpPr/>
          <p:nvPr/>
        </p:nvSpPr>
        <p:spPr>
          <a:xfrm>
            <a:off x="4334256" y="2020824"/>
            <a:ext cx="64008" cy="6400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53128" y="1965960"/>
            <a:ext cx="33467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Interprets AI output for business context</a:t>
            </a:r>
          </a:p>
        </p:txBody>
      </p:sp>
      <p:sp>
        <p:nvSpPr>
          <p:cNvPr id="27" name="Oval 26"/>
          <p:cNvSpPr/>
          <p:nvPr/>
        </p:nvSpPr>
        <p:spPr>
          <a:xfrm>
            <a:off x="4334256" y="2331720"/>
            <a:ext cx="64008" cy="6400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53128" y="2276856"/>
            <a:ext cx="33467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Writes executive deliverables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83296" y="1051560"/>
            <a:ext cx="3675887" cy="1609344"/>
          </a:xfrm>
          <a:prstGeom prst="rect">
            <a:avLst/>
          </a:prstGeom>
          <a:solidFill>
            <a:srgbClr val="F1F5F9"/>
          </a:solidFill>
          <a:ln w="1016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083296" y="1051560"/>
            <a:ext cx="3675887" cy="329184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193023" y="1106424"/>
            <a:ext cx="23774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AI/ML Specialist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70464" y="1143000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</a:rPr>
              <a:t>1 person · 50% · $220/hr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93023" y="1435607"/>
            <a:ext cx="34564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0A5FA"/>
                </a:solidFill>
              </a:rPr>
              <a:t>$35,200 est.</a:t>
            </a:r>
          </a:p>
        </p:txBody>
      </p:sp>
      <p:sp>
        <p:nvSpPr>
          <p:cNvPr id="34" name="Oval 33"/>
          <p:cNvSpPr/>
          <p:nvPr/>
        </p:nvSpPr>
        <p:spPr>
          <a:xfrm>
            <a:off x="8193023" y="1709928"/>
            <a:ext cx="64008" cy="64008"/>
          </a:xfrm>
          <a:prstGeom prst="ellipse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311896" y="1655064"/>
            <a:ext cx="33467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Configures AI agents and RAG pipeline</a:t>
            </a:r>
          </a:p>
        </p:txBody>
      </p:sp>
      <p:sp>
        <p:nvSpPr>
          <p:cNvPr id="36" name="Oval 35"/>
          <p:cNvSpPr/>
          <p:nvPr/>
        </p:nvSpPr>
        <p:spPr>
          <a:xfrm>
            <a:off x="8193023" y="2020824"/>
            <a:ext cx="64008" cy="64008"/>
          </a:xfrm>
          <a:prstGeom prst="ellipse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311896" y="1965960"/>
            <a:ext cx="33467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Ensures accuracy scoring is calibrated</a:t>
            </a:r>
          </a:p>
        </p:txBody>
      </p:sp>
      <p:sp>
        <p:nvSpPr>
          <p:cNvPr id="38" name="Oval 37"/>
          <p:cNvSpPr/>
          <p:nvPr/>
        </p:nvSpPr>
        <p:spPr>
          <a:xfrm>
            <a:off x="8193023" y="2331720"/>
            <a:ext cx="64008" cy="64008"/>
          </a:xfrm>
          <a:prstGeom prst="ellipse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311896" y="2276856"/>
            <a:ext cx="33467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Diagnoses agent output quality issues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2752344"/>
            <a:ext cx="3675887" cy="1609344"/>
          </a:xfrm>
          <a:prstGeom prst="rect">
            <a:avLst/>
          </a:prstGeom>
          <a:solidFill>
            <a:srgbClr val="F1F5F9"/>
          </a:solidFill>
          <a:ln w="1016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65760" y="2752344"/>
            <a:ext cx="3675887" cy="329184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75488" y="2807208"/>
            <a:ext cx="23774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Business Analyst (×2)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852928" y="2843784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</a:rPr>
              <a:t>2 people · 100% · $150/hr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75488" y="3136391"/>
            <a:ext cx="34564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D4ED8"/>
                </a:solidFill>
              </a:rPr>
              <a:t>$96,000 est.</a:t>
            </a:r>
          </a:p>
        </p:txBody>
      </p:sp>
      <p:sp>
        <p:nvSpPr>
          <p:cNvPr id="45" name="Oval 44"/>
          <p:cNvSpPr/>
          <p:nvPr/>
        </p:nvSpPr>
        <p:spPr>
          <a:xfrm>
            <a:off x="475488" y="3410711"/>
            <a:ext cx="64008" cy="64008"/>
          </a:xfrm>
          <a:prstGeom prst="ellipse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94360" y="3355848"/>
            <a:ext cx="33467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Conducts stakeholder interviews</a:t>
            </a:r>
          </a:p>
        </p:txBody>
      </p:sp>
      <p:sp>
        <p:nvSpPr>
          <p:cNvPr id="47" name="Oval 46"/>
          <p:cNvSpPr/>
          <p:nvPr/>
        </p:nvSpPr>
        <p:spPr>
          <a:xfrm>
            <a:off x="475488" y="3721607"/>
            <a:ext cx="64008" cy="64008"/>
          </a:xfrm>
          <a:prstGeom prst="ellipse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94360" y="3666744"/>
            <a:ext cx="33467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Documents and validates AI discoveries</a:t>
            </a:r>
          </a:p>
        </p:txBody>
      </p:sp>
      <p:sp>
        <p:nvSpPr>
          <p:cNvPr id="49" name="Oval 48"/>
          <p:cNvSpPr/>
          <p:nvPr/>
        </p:nvSpPr>
        <p:spPr>
          <a:xfrm>
            <a:off x="475488" y="4032503"/>
            <a:ext cx="64008" cy="64008"/>
          </a:xfrm>
          <a:prstGeom prst="ellipse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94360" y="3977639"/>
            <a:ext cx="33467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Builds deliverable artefacts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224528" y="2752344"/>
            <a:ext cx="3675887" cy="1609344"/>
          </a:xfrm>
          <a:prstGeom prst="rect">
            <a:avLst/>
          </a:prstGeom>
          <a:solidFill>
            <a:srgbClr val="F1F5F9"/>
          </a:solidFill>
          <a:ln w="1016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4224528" y="2752344"/>
            <a:ext cx="3675887" cy="32918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334256" y="2807208"/>
            <a:ext cx="23774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Solution Architect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711696" y="2843784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</a:rPr>
              <a:t>1 person · 50% · $220/hr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334256" y="3136391"/>
            <a:ext cx="34564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B82F6"/>
                </a:solidFill>
              </a:rPr>
              <a:t>$35,200 est.</a:t>
            </a:r>
          </a:p>
        </p:txBody>
      </p:sp>
      <p:sp>
        <p:nvSpPr>
          <p:cNvPr id="56" name="Oval 55"/>
          <p:cNvSpPr/>
          <p:nvPr/>
        </p:nvSpPr>
        <p:spPr>
          <a:xfrm>
            <a:off x="4334256" y="3410711"/>
            <a:ext cx="64008" cy="64008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453128" y="3355848"/>
            <a:ext cx="33467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Designs future state architecture</a:t>
            </a:r>
          </a:p>
        </p:txBody>
      </p:sp>
      <p:sp>
        <p:nvSpPr>
          <p:cNvPr id="58" name="Oval 57"/>
          <p:cNvSpPr/>
          <p:nvPr/>
        </p:nvSpPr>
        <p:spPr>
          <a:xfrm>
            <a:off x="4334256" y="3721607"/>
            <a:ext cx="64008" cy="64008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453128" y="3666744"/>
            <a:ext cx="33467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Validates technical feasibility of roadmap</a:t>
            </a:r>
          </a:p>
        </p:txBody>
      </p:sp>
      <p:sp>
        <p:nvSpPr>
          <p:cNvPr id="60" name="Oval 59"/>
          <p:cNvSpPr/>
          <p:nvPr/>
        </p:nvSpPr>
        <p:spPr>
          <a:xfrm>
            <a:off x="4334256" y="4032503"/>
            <a:ext cx="64008" cy="64008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453128" y="3977639"/>
            <a:ext cx="33467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Reviews AI-generated tech stack recommendations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083296" y="2752344"/>
            <a:ext cx="3675887" cy="1609344"/>
          </a:xfrm>
          <a:prstGeom prst="rect">
            <a:avLst/>
          </a:prstGeom>
          <a:solidFill>
            <a:srgbClr val="F1F5F9"/>
          </a:solidFill>
          <a:ln w="1016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8083296" y="2752344"/>
            <a:ext cx="3675887" cy="329184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193023" y="2807208"/>
            <a:ext cx="23774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Change Manager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570464" y="2843784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</a:rPr>
              <a:t>1 person · 25% · $180/hr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193023" y="3136391"/>
            <a:ext cx="34564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E3A8A"/>
                </a:solidFill>
              </a:rPr>
              <a:t>$14,400 est.</a:t>
            </a:r>
          </a:p>
        </p:txBody>
      </p:sp>
      <p:sp>
        <p:nvSpPr>
          <p:cNvPr id="67" name="Oval 66"/>
          <p:cNvSpPr/>
          <p:nvPr/>
        </p:nvSpPr>
        <p:spPr>
          <a:xfrm>
            <a:off x="8193023" y="3410711"/>
            <a:ext cx="64008" cy="64008"/>
          </a:xfrm>
          <a:prstGeom prst="ellipse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311896" y="3355848"/>
            <a:ext cx="33467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Stakeholder impact assessment</a:t>
            </a:r>
          </a:p>
        </p:txBody>
      </p:sp>
      <p:sp>
        <p:nvSpPr>
          <p:cNvPr id="69" name="Oval 68"/>
          <p:cNvSpPr/>
          <p:nvPr/>
        </p:nvSpPr>
        <p:spPr>
          <a:xfrm>
            <a:off x="8193023" y="3721607"/>
            <a:ext cx="64008" cy="64008"/>
          </a:xfrm>
          <a:prstGeom prst="ellipse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8311896" y="3666744"/>
            <a:ext cx="33467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Change readiness evaluation</a:t>
            </a:r>
          </a:p>
        </p:txBody>
      </p:sp>
      <p:sp>
        <p:nvSpPr>
          <p:cNvPr id="71" name="Oval 70"/>
          <p:cNvSpPr/>
          <p:nvPr/>
        </p:nvSpPr>
        <p:spPr>
          <a:xfrm>
            <a:off x="8193023" y="4032503"/>
            <a:ext cx="64008" cy="64008"/>
          </a:xfrm>
          <a:prstGeom prst="ellipse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8311896" y="3977639"/>
            <a:ext cx="33467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Communications plan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65760" y="4507992"/>
            <a:ext cx="11457432" cy="548640"/>
          </a:xfrm>
          <a:prstGeom prst="rect">
            <a:avLst/>
          </a:prstGeom>
          <a:solidFill>
            <a:srgbClr val="0C1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502920" y="4636008"/>
            <a:ext cx="11064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TOTAL:  4.5 FTE equivalent  ·  Est. consulting fees: $254,800  ·  Overhead &amp; margin (35%): +$89,200  ·  TOTAL ENGAGEMENT: ~$344,000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0C1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28016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F172A"/>
                </a:solidFill>
              </a:rPr>
              <a:t>Implementation 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75569"/>
                </a:solidFill>
              </a:rPr>
              <a:t>Standard 8-week engagement schedule — with POC (2-week) and Extended (12-week) variants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88952" cy="2743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611112"/>
            <a:ext cx="11521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</a:rPr>
              <a:t>TransformHub · AI-Powered Digital Transformation Intelligence  ·  Consulting Service Offering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051560"/>
            <a:ext cx="2743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C1C3A"/>
                </a:solidFill>
              </a:rPr>
              <a:t>STANDARD 8-WEEK ENGAGEMENT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0" y="1051560"/>
            <a:ext cx="3959352" cy="237744"/>
          </a:xfrm>
          <a:prstGeom prst="rect">
            <a:avLst/>
          </a:prstGeom>
          <a:solidFill>
            <a:srgbClr val="EFF6FF"/>
          </a:solidFill>
          <a:ln w="63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21040" y="1088136"/>
            <a:ext cx="3749039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E3A8A"/>
                </a:solidFill>
              </a:rPr>
              <a:t>⚡ POC Variant: Weeks 1–2 only ($45K)  ·  Extended: Add 4 weeks for complex enterprise ($180K+)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344168"/>
            <a:ext cx="1371600" cy="329184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" y="1380743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Week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" y="1581912"/>
            <a:ext cx="1225296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 i="0">
                <a:solidFill>
                  <a:srgbClr val="FFFFFF"/>
                </a:solidFill>
              </a:rPr>
              <a:t>DISCOVER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1691639"/>
            <a:ext cx="1371600" cy="3529584"/>
          </a:xfrm>
          <a:prstGeom prst="rect">
            <a:avLst/>
          </a:prstGeom>
          <a:solidFill>
            <a:srgbClr val="F1F5F9"/>
          </a:solidFill>
          <a:ln w="508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7200" y="1819655"/>
            <a:ext cx="73152" cy="73152"/>
          </a:xfrm>
          <a:prstGeom prst="ellipse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5216" y="1764792"/>
            <a:ext cx="107899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80" b="0" i="0">
                <a:solidFill>
                  <a:srgbClr val="0F172A"/>
                </a:solidFill>
              </a:rPr>
              <a:t>Org onboarding + system access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17904" y="1819655"/>
            <a:ext cx="2011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563EB"/>
                </a:solidFill>
              </a:rPr>
              <a:t>✓</a:t>
            </a:r>
          </a:p>
        </p:txBody>
      </p:sp>
      <p:sp>
        <p:nvSpPr>
          <p:cNvPr id="17" name="Oval 16"/>
          <p:cNvSpPr/>
          <p:nvPr/>
        </p:nvSpPr>
        <p:spPr>
          <a:xfrm>
            <a:off x="457200" y="2569463"/>
            <a:ext cx="73152" cy="73152"/>
          </a:xfrm>
          <a:prstGeom prst="ellipse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85216" y="2514600"/>
            <a:ext cx="107899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80" b="0" i="0">
                <a:solidFill>
                  <a:srgbClr val="0F172A"/>
                </a:solidFill>
              </a:rPr>
              <a:t>AI Pass 1 — product discovery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17904" y="2569463"/>
            <a:ext cx="2011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563EB"/>
                </a:solidFill>
              </a:rPr>
              <a:t>✓</a:t>
            </a:r>
          </a:p>
        </p:txBody>
      </p:sp>
      <p:sp>
        <p:nvSpPr>
          <p:cNvPr id="20" name="Oval 19"/>
          <p:cNvSpPr/>
          <p:nvPr/>
        </p:nvSpPr>
        <p:spPr>
          <a:xfrm>
            <a:off x="457200" y="3319272"/>
            <a:ext cx="73152" cy="73152"/>
          </a:xfrm>
          <a:prstGeom prst="ellipse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85216" y="3264408"/>
            <a:ext cx="107899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80" b="0" i="0">
                <a:solidFill>
                  <a:srgbClr val="0F172A"/>
                </a:solidFill>
              </a:rPr>
              <a:t>Stakeholder interviews (Day 3)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17904" y="3319272"/>
            <a:ext cx="2011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563EB"/>
                </a:solidFill>
              </a:rPr>
              <a:t>✓</a:t>
            </a:r>
          </a:p>
        </p:txBody>
      </p:sp>
      <p:sp>
        <p:nvSpPr>
          <p:cNvPr id="23" name="Oval 22"/>
          <p:cNvSpPr/>
          <p:nvPr/>
        </p:nvSpPr>
        <p:spPr>
          <a:xfrm>
            <a:off x="457200" y="4069079"/>
            <a:ext cx="73152" cy="73152"/>
          </a:xfrm>
          <a:prstGeom prst="ellipse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5216" y="4014215"/>
            <a:ext cx="107899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80" b="0" i="0">
                <a:solidFill>
                  <a:srgbClr val="0F172A"/>
                </a:solidFill>
              </a:rPr>
              <a:t>Gate 1 review — product approval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17904" y="4069079"/>
            <a:ext cx="2011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563EB"/>
                </a:solidFill>
              </a:rPr>
              <a:t>✓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828800" y="1344168"/>
            <a:ext cx="1371600" cy="329184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901952" y="1380743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Week 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901952" y="1581912"/>
            <a:ext cx="1225296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 i="0">
                <a:solidFill>
                  <a:srgbClr val="FFFFFF"/>
                </a:solidFill>
              </a:rPr>
              <a:t>DISCOVER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828800" y="1691639"/>
            <a:ext cx="1371600" cy="3529584"/>
          </a:xfrm>
          <a:prstGeom prst="rect">
            <a:avLst/>
          </a:prstGeom>
          <a:solidFill>
            <a:srgbClr val="F1F5F9"/>
          </a:solidFill>
          <a:ln w="508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920240" y="1819655"/>
            <a:ext cx="73152" cy="73152"/>
          </a:xfrm>
          <a:prstGeom prst="ellipse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048256" y="1764792"/>
            <a:ext cx="107899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80" b="0" i="0">
                <a:solidFill>
                  <a:srgbClr val="0F172A"/>
                </a:solidFill>
              </a:rPr>
              <a:t>AI Pass 2 — capability mapping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80944" y="1819655"/>
            <a:ext cx="2011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563EB"/>
                </a:solidFill>
              </a:rPr>
              <a:t>✓</a:t>
            </a:r>
          </a:p>
        </p:txBody>
      </p:sp>
      <p:sp>
        <p:nvSpPr>
          <p:cNvPr id="33" name="Oval 32"/>
          <p:cNvSpPr/>
          <p:nvPr/>
        </p:nvSpPr>
        <p:spPr>
          <a:xfrm>
            <a:off x="1920240" y="2569463"/>
            <a:ext cx="73152" cy="73152"/>
          </a:xfrm>
          <a:prstGeom prst="ellipse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048256" y="2514600"/>
            <a:ext cx="107899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80" b="0" i="0">
                <a:solidFill>
                  <a:srgbClr val="0F172A"/>
                </a:solidFill>
              </a:rPr>
              <a:t>AI Pass 3 — functionality extraction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980944" y="2569463"/>
            <a:ext cx="2011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563EB"/>
                </a:solidFill>
              </a:rPr>
              <a:t>✓</a:t>
            </a:r>
          </a:p>
        </p:txBody>
      </p:sp>
      <p:sp>
        <p:nvSpPr>
          <p:cNvPr id="36" name="Oval 35"/>
          <p:cNvSpPr/>
          <p:nvPr/>
        </p:nvSpPr>
        <p:spPr>
          <a:xfrm>
            <a:off x="1920240" y="3319272"/>
            <a:ext cx="73152" cy="73152"/>
          </a:xfrm>
          <a:prstGeom prst="ellipse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048256" y="3264408"/>
            <a:ext cx="107899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80" b="0" i="0">
                <a:solidFill>
                  <a:srgbClr val="0F172A"/>
                </a:solidFill>
              </a:rPr>
              <a:t>Source attribution report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980944" y="3319272"/>
            <a:ext cx="2011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563EB"/>
                </a:solidFill>
              </a:rPr>
              <a:t>✓</a:t>
            </a:r>
          </a:p>
        </p:txBody>
      </p:sp>
      <p:sp>
        <p:nvSpPr>
          <p:cNvPr id="39" name="Oval 38"/>
          <p:cNvSpPr/>
          <p:nvPr/>
        </p:nvSpPr>
        <p:spPr>
          <a:xfrm>
            <a:off x="1920240" y="4069079"/>
            <a:ext cx="73152" cy="73152"/>
          </a:xfrm>
          <a:prstGeom prst="ellipse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048256" y="4014215"/>
            <a:ext cx="107899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80" b="0" i="0">
                <a:solidFill>
                  <a:srgbClr val="0F172A"/>
                </a:solidFill>
              </a:rPr>
              <a:t>D1.1–D1.6 Discovery package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980944" y="4069079"/>
            <a:ext cx="2011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563EB"/>
                </a:solidFill>
              </a:rPr>
              <a:t>✓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291840" y="1344168"/>
            <a:ext cx="1371600" cy="329184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364992" y="1380743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Week 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64992" y="1581912"/>
            <a:ext cx="1225296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 i="0">
                <a:solidFill>
                  <a:srgbClr val="FFFFFF"/>
                </a:solidFill>
              </a:rPr>
              <a:t>MAP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291840" y="1691639"/>
            <a:ext cx="1371600" cy="3529584"/>
          </a:xfrm>
          <a:prstGeom prst="rect">
            <a:avLst/>
          </a:prstGeom>
          <a:solidFill>
            <a:srgbClr val="F1F5F9"/>
          </a:solidFill>
          <a:ln w="508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3383280" y="1819655"/>
            <a:ext cx="73152" cy="73152"/>
          </a:xfrm>
          <a:prstGeom prst="ellipse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511296" y="1764792"/>
            <a:ext cx="107899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80" b="0" i="0">
                <a:solidFill>
                  <a:srgbClr val="0F172A"/>
                </a:solidFill>
              </a:rPr>
              <a:t>L1 segment VSM analysis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443984" y="1819655"/>
            <a:ext cx="2011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563EB"/>
                </a:solidFill>
              </a:rPr>
              <a:t>✓</a:t>
            </a:r>
          </a:p>
        </p:txBody>
      </p:sp>
      <p:sp>
        <p:nvSpPr>
          <p:cNvPr id="49" name="Oval 48"/>
          <p:cNvSpPr/>
          <p:nvPr/>
        </p:nvSpPr>
        <p:spPr>
          <a:xfrm>
            <a:off x="3383280" y="2569463"/>
            <a:ext cx="73152" cy="73152"/>
          </a:xfrm>
          <a:prstGeom prst="ellipse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511296" y="2514600"/>
            <a:ext cx="107899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80" b="0" i="0">
                <a:solidFill>
                  <a:srgbClr val="0F172A"/>
                </a:solidFill>
              </a:rPr>
              <a:t>L2 product-level VSM per capability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443984" y="2569463"/>
            <a:ext cx="2011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563EB"/>
                </a:solidFill>
              </a:rPr>
              <a:t>✓</a:t>
            </a:r>
          </a:p>
        </p:txBody>
      </p:sp>
      <p:sp>
        <p:nvSpPr>
          <p:cNvPr id="52" name="Oval 51"/>
          <p:cNvSpPr/>
          <p:nvPr/>
        </p:nvSpPr>
        <p:spPr>
          <a:xfrm>
            <a:off x="3383280" y="3319272"/>
            <a:ext cx="73152" cy="73152"/>
          </a:xfrm>
          <a:prstGeom prst="ellipse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511296" y="3264408"/>
            <a:ext cx="107899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80" b="0" i="0">
                <a:solidFill>
                  <a:srgbClr val="0F172A"/>
                </a:solidFill>
              </a:rPr>
              <a:t>Mermaid diagram generation (all)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443984" y="3319272"/>
            <a:ext cx="2011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563EB"/>
                </a:solidFill>
              </a:rPr>
              <a:t>✓</a:t>
            </a:r>
          </a:p>
        </p:txBody>
      </p:sp>
      <p:sp>
        <p:nvSpPr>
          <p:cNvPr id="55" name="Oval 54"/>
          <p:cNvSpPr/>
          <p:nvPr/>
        </p:nvSpPr>
        <p:spPr>
          <a:xfrm>
            <a:off x="3383280" y="4069079"/>
            <a:ext cx="73152" cy="73152"/>
          </a:xfrm>
          <a:prstGeom prst="ellipse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511296" y="4014215"/>
            <a:ext cx="107899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80" b="0" i="0">
                <a:solidFill>
                  <a:srgbClr val="0F172A"/>
                </a:solidFill>
              </a:rPr>
              <a:t>Benchmark upload to Context Hub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443984" y="4069079"/>
            <a:ext cx="2011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563EB"/>
                </a:solidFill>
              </a:rPr>
              <a:t>✓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754880" y="1344168"/>
            <a:ext cx="1371600" cy="329184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828032" y="1380743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Week 4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828032" y="1581912"/>
            <a:ext cx="1225296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 i="0">
                <a:solidFill>
                  <a:srgbClr val="FFFFFF"/>
                </a:solidFill>
              </a:rPr>
              <a:t>MAP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754880" y="1691639"/>
            <a:ext cx="1371600" cy="3529584"/>
          </a:xfrm>
          <a:prstGeom prst="rect">
            <a:avLst/>
          </a:prstGeom>
          <a:solidFill>
            <a:srgbClr val="F1F5F9"/>
          </a:solidFill>
          <a:ln w="508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4846320" y="1819655"/>
            <a:ext cx="73152" cy="73152"/>
          </a:xfrm>
          <a:prstGeom prst="ellipse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974336" y="1764792"/>
            <a:ext cx="107899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80" b="0" i="0">
                <a:solidFill>
                  <a:srgbClr val="0F172A"/>
                </a:solidFill>
              </a:rPr>
              <a:t>L3 step classification analysis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907024" y="1819655"/>
            <a:ext cx="2011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563EB"/>
                </a:solidFill>
              </a:rPr>
              <a:t>✓</a:t>
            </a:r>
          </a:p>
        </p:txBody>
      </p:sp>
      <p:sp>
        <p:nvSpPr>
          <p:cNvPr id="65" name="Oval 64"/>
          <p:cNvSpPr/>
          <p:nvPr/>
        </p:nvSpPr>
        <p:spPr>
          <a:xfrm>
            <a:off x="4846320" y="2569463"/>
            <a:ext cx="73152" cy="73152"/>
          </a:xfrm>
          <a:prstGeom prst="ellipse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974336" y="2514600"/>
            <a:ext cx="107899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80" b="0" i="0">
                <a:solidFill>
                  <a:srgbClr val="0F172A"/>
                </a:solidFill>
              </a:rPr>
              <a:t>Bottleneck register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907024" y="2569463"/>
            <a:ext cx="2011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563EB"/>
                </a:solidFill>
              </a:rPr>
              <a:t>✓</a:t>
            </a:r>
          </a:p>
        </p:txBody>
      </p:sp>
      <p:sp>
        <p:nvSpPr>
          <p:cNvPr id="68" name="Oval 67"/>
          <p:cNvSpPr/>
          <p:nvPr/>
        </p:nvSpPr>
        <p:spPr>
          <a:xfrm>
            <a:off x="4846320" y="3319272"/>
            <a:ext cx="73152" cy="73152"/>
          </a:xfrm>
          <a:prstGeom prst="ellipse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974336" y="3264408"/>
            <a:ext cx="107899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80" b="0" i="0">
                <a:solidFill>
                  <a:srgbClr val="0F172A"/>
                </a:solidFill>
              </a:rPr>
              <a:t>Gate 2 review — VSM sign-off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907024" y="3319272"/>
            <a:ext cx="2011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563EB"/>
                </a:solidFill>
              </a:rPr>
              <a:t>✓</a:t>
            </a:r>
          </a:p>
        </p:txBody>
      </p:sp>
      <p:sp>
        <p:nvSpPr>
          <p:cNvPr id="71" name="Oval 70"/>
          <p:cNvSpPr/>
          <p:nvPr/>
        </p:nvSpPr>
        <p:spPr>
          <a:xfrm>
            <a:off x="4846320" y="4069079"/>
            <a:ext cx="73152" cy="73152"/>
          </a:xfrm>
          <a:prstGeom prst="ellipse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4974336" y="4014215"/>
            <a:ext cx="107899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80" b="0" i="0">
                <a:solidFill>
                  <a:srgbClr val="0F172A"/>
                </a:solidFill>
              </a:rPr>
              <a:t>D2.1–D2.6 VSM package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907024" y="4069079"/>
            <a:ext cx="2011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563EB"/>
                </a:solidFill>
              </a:rPr>
              <a:t>✓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217920" y="1344168"/>
            <a:ext cx="1371600" cy="32918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291072" y="1380743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Week 5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291072" y="1581912"/>
            <a:ext cx="1225296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 i="0">
                <a:solidFill>
                  <a:srgbClr val="FFFFFF"/>
                </a:solidFill>
              </a:rPr>
              <a:t>DESIGN</a:t>
            </a:r>
          </a:p>
        </p:txBody>
      </p:sp>
      <p:sp>
        <p:nvSpPr>
          <p:cNvPr id="77" name="Rectangle 76"/>
          <p:cNvSpPr/>
          <p:nvPr/>
        </p:nvSpPr>
        <p:spPr>
          <a:xfrm>
            <a:off x="6217920" y="1691639"/>
            <a:ext cx="1371600" cy="3529584"/>
          </a:xfrm>
          <a:prstGeom prst="rect">
            <a:avLst/>
          </a:prstGeom>
          <a:solidFill>
            <a:srgbClr val="F1F5F9"/>
          </a:solidFill>
          <a:ln w="508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6309360" y="1819655"/>
            <a:ext cx="73152" cy="7315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437376" y="1764792"/>
            <a:ext cx="107899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80" b="0" i="0">
                <a:solidFill>
                  <a:srgbClr val="0F172A"/>
                </a:solidFill>
              </a:rPr>
              <a:t>Future State Vision agent run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370064" y="1819655"/>
            <a:ext cx="2011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563EB"/>
                </a:solidFill>
              </a:rPr>
              <a:t>✓</a:t>
            </a:r>
          </a:p>
        </p:txBody>
      </p:sp>
      <p:sp>
        <p:nvSpPr>
          <p:cNvPr id="81" name="Oval 80"/>
          <p:cNvSpPr/>
          <p:nvPr/>
        </p:nvSpPr>
        <p:spPr>
          <a:xfrm>
            <a:off x="6309360" y="2569463"/>
            <a:ext cx="73152" cy="7315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6437376" y="2514600"/>
            <a:ext cx="107899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80" b="0" i="0">
                <a:solidFill>
                  <a:srgbClr val="0F172A"/>
                </a:solidFill>
              </a:rPr>
              <a:t>Automation mix analysis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7370064" y="2569463"/>
            <a:ext cx="2011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563EB"/>
                </a:solidFill>
              </a:rPr>
              <a:t>✓</a:t>
            </a:r>
          </a:p>
        </p:txBody>
      </p:sp>
      <p:sp>
        <p:nvSpPr>
          <p:cNvPr id="84" name="Oval 83"/>
          <p:cNvSpPr/>
          <p:nvPr/>
        </p:nvSpPr>
        <p:spPr>
          <a:xfrm>
            <a:off x="6309360" y="3319272"/>
            <a:ext cx="73152" cy="7315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6437376" y="3264408"/>
            <a:ext cx="107899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80" b="0" i="0">
                <a:solidFill>
                  <a:srgbClr val="0F172A"/>
                </a:solidFill>
              </a:rPr>
              <a:t>3-band projection modelling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370064" y="3319272"/>
            <a:ext cx="2011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563EB"/>
                </a:solidFill>
              </a:rPr>
              <a:t>✓</a:t>
            </a:r>
          </a:p>
        </p:txBody>
      </p:sp>
      <p:sp>
        <p:nvSpPr>
          <p:cNvPr id="87" name="Oval 86"/>
          <p:cNvSpPr/>
          <p:nvPr/>
        </p:nvSpPr>
        <p:spPr>
          <a:xfrm>
            <a:off x="6309360" y="4069079"/>
            <a:ext cx="73152" cy="7315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6437376" y="4014215"/>
            <a:ext cx="107899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80" b="0" i="0">
                <a:solidFill>
                  <a:srgbClr val="0F172A"/>
                </a:solidFill>
              </a:rPr>
              <a:t>RICE prioritisation scoring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7370064" y="4069079"/>
            <a:ext cx="2011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563EB"/>
                </a:solidFill>
              </a:rPr>
              <a:t>✓</a:t>
            </a:r>
          </a:p>
        </p:txBody>
      </p:sp>
      <p:sp>
        <p:nvSpPr>
          <p:cNvPr id="90" name="Rectangle 89"/>
          <p:cNvSpPr/>
          <p:nvPr/>
        </p:nvSpPr>
        <p:spPr>
          <a:xfrm>
            <a:off x="7680960" y="1344168"/>
            <a:ext cx="1371600" cy="32918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7754112" y="1380743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Week 6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754112" y="1581912"/>
            <a:ext cx="1225296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 i="0">
                <a:solidFill>
                  <a:srgbClr val="FFFFFF"/>
                </a:solidFill>
              </a:rPr>
              <a:t>DESIGN</a:t>
            </a:r>
          </a:p>
        </p:txBody>
      </p:sp>
      <p:sp>
        <p:nvSpPr>
          <p:cNvPr id="93" name="Rectangle 92"/>
          <p:cNvSpPr/>
          <p:nvPr/>
        </p:nvSpPr>
        <p:spPr>
          <a:xfrm>
            <a:off x="7680960" y="1691639"/>
            <a:ext cx="1371600" cy="3529584"/>
          </a:xfrm>
          <a:prstGeom prst="rect">
            <a:avLst/>
          </a:prstGeom>
          <a:solidFill>
            <a:srgbClr val="F1F5F9"/>
          </a:solidFill>
          <a:ln w="508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7772400" y="1819655"/>
            <a:ext cx="73152" cy="7315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7900416" y="1764792"/>
            <a:ext cx="107899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80" b="0" i="0">
                <a:solidFill>
                  <a:srgbClr val="0F172A"/>
                </a:solidFill>
              </a:rPr>
              <a:t>Architecture blueprint draft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8833104" y="1819655"/>
            <a:ext cx="2011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563EB"/>
                </a:solidFill>
              </a:rPr>
              <a:t>✓</a:t>
            </a:r>
          </a:p>
        </p:txBody>
      </p:sp>
      <p:sp>
        <p:nvSpPr>
          <p:cNvPr id="97" name="Oval 96"/>
          <p:cNvSpPr/>
          <p:nvPr/>
        </p:nvSpPr>
        <p:spPr>
          <a:xfrm>
            <a:off x="7772400" y="2569463"/>
            <a:ext cx="73152" cy="7315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7900416" y="2514600"/>
            <a:ext cx="107899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80" b="0" i="0">
                <a:solidFill>
                  <a:srgbClr val="0F172A"/>
                </a:solidFill>
              </a:rPr>
              <a:t>Gate 3 review — design sign-off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8833104" y="2569463"/>
            <a:ext cx="2011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563EB"/>
                </a:solidFill>
              </a:rPr>
              <a:t>✓</a:t>
            </a:r>
          </a:p>
        </p:txBody>
      </p:sp>
      <p:sp>
        <p:nvSpPr>
          <p:cNvPr id="100" name="Oval 99"/>
          <p:cNvSpPr/>
          <p:nvPr/>
        </p:nvSpPr>
        <p:spPr>
          <a:xfrm>
            <a:off x="7772400" y="3319272"/>
            <a:ext cx="73152" cy="7315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7900416" y="3264408"/>
            <a:ext cx="107899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80" b="0" i="0">
                <a:solidFill>
                  <a:srgbClr val="0F172A"/>
                </a:solidFill>
              </a:rPr>
              <a:t>D3.1–D3.6 Design package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8833104" y="3319272"/>
            <a:ext cx="2011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563EB"/>
                </a:solidFill>
              </a:rPr>
              <a:t>✓</a:t>
            </a:r>
          </a:p>
        </p:txBody>
      </p:sp>
      <p:sp>
        <p:nvSpPr>
          <p:cNvPr id="103" name="Oval 102"/>
          <p:cNvSpPr/>
          <p:nvPr/>
        </p:nvSpPr>
        <p:spPr>
          <a:xfrm>
            <a:off x="7772400" y="4069079"/>
            <a:ext cx="73152" cy="7315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7900416" y="4014215"/>
            <a:ext cx="107899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80" b="0" i="0">
                <a:solidFill>
                  <a:srgbClr val="0F172A"/>
                </a:solidFill>
              </a:rPr>
              <a:t>Exec presentation draft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8833104" y="4069079"/>
            <a:ext cx="2011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563EB"/>
                </a:solidFill>
              </a:rPr>
              <a:t>✓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9144000" y="1344168"/>
            <a:ext cx="1371600" cy="32918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9217152" y="1380743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Week 7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9217152" y="1581912"/>
            <a:ext cx="1225296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 i="0">
                <a:solidFill>
                  <a:srgbClr val="FFFFFF"/>
                </a:solidFill>
              </a:rPr>
              <a:t>GOVERN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9144000" y="1691639"/>
            <a:ext cx="1371600" cy="3529584"/>
          </a:xfrm>
          <a:prstGeom prst="rect">
            <a:avLst/>
          </a:prstGeom>
          <a:solidFill>
            <a:srgbClr val="F1F5F9"/>
          </a:solidFill>
          <a:ln w="508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Oval 109"/>
          <p:cNvSpPr/>
          <p:nvPr/>
        </p:nvSpPr>
        <p:spPr>
          <a:xfrm>
            <a:off x="9235440" y="1819655"/>
            <a:ext cx="73152" cy="73152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9363456" y="1764792"/>
            <a:ext cx="107899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80" b="0" i="0">
                <a:solidFill>
                  <a:srgbClr val="0F172A"/>
                </a:solidFill>
              </a:rPr>
              <a:t>Risk identification — AI-assisted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10296144" y="1819655"/>
            <a:ext cx="2011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563EB"/>
                </a:solidFill>
              </a:rPr>
              <a:t>✓</a:t>
            </a:r>
          </a:p>
        </p:txBody>
      </p:sp>
      <p:sp>
        <p:nvSpPr>
          <p:cNvPr id="113" name="Oval 112"/>
          <p:cNvSpPr/>
          <p:nvPr/>
        </p:nvSpPr>
        <p:spPr>
          <a:xfrm>
            <a:off x="9235440" y="2569463"/>
            <a:ext cx="73152" cy="73152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9363456" y="2514600"/>
            <a:ext cx="107899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80" b="0" i="0">
                <a:solidFill>
                  <a:srgbClr val="0F172A"/>
                </a:solidFill>
              </a:rPr>
              <a:t>Compliance framework mapping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10296144" y="2569463"/>
            <a:ext cx="2011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563EB"/>
                </a:solidFill>
              </a:rPr>
              <a:t>✓</a:t>
            </a:r>
          </a:p>
        </p:txBody>
      </p:sp>
      <p:sp>
        <p:nvSpPr>
          <p:cNvPr id="116" name="Oval 115"/>
          <p:cNvSpPr/>
          <p:nvPr/>
        </p:nvSpPr>
        <p:spPr>
          <a:xfrm>
            <a:off x="9235440" y="3319272"/>
            <a:ext cx="73152" cy="73152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9363456" y="3264408"/>
            <a:ext cx="107899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80" b="0" i="0">
                <a:solidFill>
                  <a:srgbClr val="0F172A"/>
                </a:solidFill>
              </a:rPr>
              <a:t>SHA-256 audit trail setup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10296144" y="3319272"/>
            <a:ext cx="2011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563EB"/>
                </a:solidFill>
              </a:rPr>
              <a:t>✓</a:t>
            </a:r>
          </a:p>
        </p:txBody>
      </p:sp>
      <p:sp>
        <p:nvSpPr>
          <p:cNvPr id="119" name="Oval 118"/>
          <p:cNvSpPr/>
          <p:nvPr/>
        </p:nvSpPr>
        <p:spPr>
          <a:xfrm>
            <a:off x="9235440" y="4069079"/>
            <a:ext cx="73152" cy="73152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9363456" y="4014215"/>
            <a:ext cx="107899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80" b="0" i="0">
                <a:solidFill>
                  <a:srgbClr val="0F172A"/>
                </a:solidFill>
              </a:rPr>
              <a:t>D4.1–D4.6 Governance package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10296144" y="4069079"/>
            <a:ext cx="2011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563EB"/>
                </a:solidFill>
              </a:rPr>
              <a:t>✓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10607040" y="1344168"/>
            <a:ext cx="1371600" cy="329184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10680192" y="1380743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Week 8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10680192" y="1581912"/>
            <a:ext cx="1225296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 i="0">
                <a:solidFill>
                  <a:srgbClr val="FFFFFF"/>
                </a:solidFill>
              </a:rPr>
              <a:t>EXECUTE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10607040" y="1691639"/>
            <a:ext cx="1371600" cy="3529584"/>
          </a:xfrm>
          <a:prstGeom prst="rect">
            <a:avLst/>
          </a:prstGeom>
          <a:solidFill>
            <a:srgbClr val="F1F5F9"/>
          </a:solidFill>
          <a:ln w="508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Oval 125"/>
          <p:cNvSpPr/>
          <p:nvPr/>
        </p:nvSpPr>
        <p:spPr>
          <a:xfrm>
            <a:off x="10698480" y="1819655"/>
            <a:ext cx="73152" cy="73152"/>
          </a:xfrm>
          <a:prstGeom prst="ellipse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10826496" y="1764792"/>
            <a:ext cx="107899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80" b="0" i="0">
                <a:solidFill>
                  <a:srgbClr val="0F172A"/>
                </a:solidFill>
              </a:rPr>
              <a:t>Transformation roadmap final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11759184" y="1819655"/>
            <a:ext cx="2011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563EB"/>
                </a:solidFill>
              </a:rPr>
              <a:t>✓</a:t>
            </a:r>
          </a:p>
        </p:txBody>
      </p:sp>
      <p:sp>
        <p:nvSpPr>
          <p:cNvPr id="129" name="Oval 128"/>
          <p:cNvSpPr/>
          <p:nvPr/>
        </p:nvSpPr>
        <p:spPr>
          <a:xfrm>
            <a:off x="10698480" y="2569463"/>
            <a:ext cx="73152" cy="73152"/>
          </a:xfrm>
          <a:prstGeom prst="ellipse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10826496" y="2514600"/>
            <a:ext cx="107899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80" b="0" i="0">
                <a:solidFill>
                  <a:srgbClr val="0F172A"/>
                </a:solidFill>
              </a:rPr>
              <a:t>Platform handover + training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11759184" y="2569463"/>
            <a:ext cx="2011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563EB"/>
                </a:solidFill>
              </a:rPr>
              <a:t>✓</a:t>
            </a:r>
          </a:p>
        </p:txBody>
      </p:sp>
      <p:sp>
        <p:nvSpPr>
          <p:cNvPr id="132" name="Oval 131"/>
          <p:cNvSpPr/>
          <p:nvPr/>
        </p:nvSpPr>
        <p:spPr>
          <a:xfrm>
            <a:off x="10698480" y="3319272"/>
            <a:ext cx="73152" cy="73152"/>
          </a:xfrm>
          <a:prstGeom prst="ellipse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10826496" y="3264408"/>
            <a:ext cx="107899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80" b="0" i="0">
                <a:solidFill>
                  <a:srgbClr val="0F172A"/>
                </a:solidFill>
              </a:rPr>
              <a:t>Executive presentation delivery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1759184" y="3319272"/>
            <a:ext cx="2011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563EB"/>
                </a:solidFill>
              </a:rPr>
              <a:t>✓</a:t>
            </a:r>
          </a:p>
        </p:txBody>
      </p:sp>
      <p:sp>
        <p:nvSpPr>
          <p:cNvPr id="135" name="Oval 134"/>
          <p:cNvSpPr/>
          <p:nvPr/>
        </p:nvSpPr>
        <p:spPr>
          <a:xfrm>
            <a:off x="10698480" y="4069079"/>
            <a:ext cx="73152" cy="73152"/>
          </a:xfrm>
          <a:prstGeom prst="ellipse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10826496" y="4014215"/>
            <a:ext cx="107899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80" b="0" i="0">
                <a:solidFill>
                  <a:srgbClr val="0F172A"/>
                </a:solidFill>
              </a:rPr>
              <a:t>D5.1–D5.6 Execution package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11759184" y="4069079"/>
            <a:ext cx="2011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563EB"/>
                </a:solidFill>
              </a:rPr>
              <a:t>✓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3200400" y="1783080"/>
            <a:ext cx="128016" cy="340156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3255264" y="26974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0C1C3A"/>
                </a:solidFill>
              </a:rPr>
              <a:t>Gate 1
Products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6126480" y="1783080"/>
            <a:ext cx="128016" cy="340156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6181344" y="26974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0C1C3A"/>
                </a:solidFill>
              </a:rPr>
              <a:t>Gate 2
VSM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9052560" y="1783080"/>
            <a:ext cx="128016" cy="340156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9107424" y="26974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0C1C3A"/>
                </a:solidFill>
              </a:rPr>
              <a:t>Gate 3
Design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10515600" y="1783080"/>
            <a:ext cx="128016" cy="340156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10570464" y="26974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0C1C3A"/>
                </a:solidFill>
              </a:rPr>
              <a:t>Gate 4
Risk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0C1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28016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F172A"/>
                </a:solidFill>
              </a:rPr>
              <a:t>Consulting Investment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75569"/>
                </a:solidFill>
              </a:rPr>
              <a:t>Transparent pricing structure — three engagement tiers from POC to enterprise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88952" cy="2743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611112"/>
            <a:ext cx="11521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</a:rPr>
              <a:t>TransformHub · AI-Powered Digital Transformation Intelligence  ·  Consulting Service Offering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051560"/>
            <a:ext cx="2743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C1C3A"/>
                </a:solidFill>
              </a:rPr>
              <a:t>ENGAGEMENT TIERS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325880"/>
            <a:ext cx="3675887" cy="43891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93776" y="1362456"/>
            <a:ext cx="341985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⚡  POC Sprint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764792"/>
            <a:ext cx="3675887" cy="2834640"/>
          </a:xfrm>
          <a:prstGeom prst="rect">
            <a:avLst/>
          </a:prstGeom>
          <a:solidFill>
            <a:srgbClr val="F1F5F9"/>
          </a:solidFill>
          <a:ln w="1016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801367"/>
            <a:ext cx="3675887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E3A8A"/>
                </a:solidFill>
              </a:rPr>
              <a:t>$38K – $52K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221991"/>
            <a:ext cx="3675887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75569"/>
                </a:solidFill>
              </a:rPr>
              <a:t>2 weeks  ·  2.5 FTE equivalent</a:t>
            </a:r>
          </a:p>
        </p:txBody>
      </p:sp>
      <p:sp>
        <p:nvSpPr>
          <p:cNvPr id="13" name="Oval 12"/>
          <p:cNvSpPr/>
          <p:nvPr/>
        </p:nvSpPr>
        <p:spPr>
          <a:xfrm>
            <a:off x="512064" y="2532888"/>
            <a:ext cx="73152" cy="73152"/>
          </a:xfrm>
          <a:prstGeom prst="ellipse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478024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1 business unit, 1 org segment</a:t>
            </a:r>
          </a:p>
        </p:txBody>
      </p:sp>
      <p:sp>
        <p:nvSpPr>
          <p:cNvPr id="15" name="Oval 14"/>
          <p:cNvSpPr/>
          <p:nvPr/>
        </p:nvSpPr>
        <p:spPr>
          <a:xfrm>
            <a:off x="512064" y="2935224"/>
            <a:ext cx="73152" cy="73152"/>
          </a:xfrm>
          <a:prstGeom prst="ellipse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288036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Discovery Phase only (D1.1–D1.6)</a:t>
            </a:r>
          </a:p>
        </p:txBody>
      </p:sp>
      <p:sp>
        <p:nvSpPr>
          <p:cNvPr id="17" name="Oval 16"/>
          <p:cNvSpPr/>
          <p:nvPr/>
        </p:nvSpPr>
        <p:spPr>
          <a:xfrm>
            <a:off x="512064" y="3337560"/>
            <a:ext cx="73152" cy="73152"/>
          </a:xfrm>
          <a:prstGeom prst="ellipse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282696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Proof-of-value executive readout</a:t>
            </a:r>
          </a:p>
        </p:txBody>
      </p:sp>
      <p:sp>
        <p:nvSpPr>
          <p:cNvPr id="19" name="Oval 18"/>
          <p:cNvSpPr/>
          <p:nvPr/>
        </p:nvSpPr>
        <p:spPr>
          <a:xfrm>
            <a:off x="512064" y="3739896"/>
            <a:ext cx="73152" cy="73152"/>
          </a:xfrm>
          <a:prstGeom prst="ellipse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3685032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Platform access for 30 days</a:t>
            </a:r>
          </a:p>
        </p:txBody>
      </p:sp>
      <p:sp>
        <p:nvSpPr>
          <p:cNvPr id="21" name="Oval 20"/>
          <p:cNvSpPr/>
          <p:nvPr/>
        </p:nvSpPr>
        <p:spPr>
          <a:xfrm>
            <a:off x="512064" y="4142232"/>
            <a:ext cx="73152" cy="73152"/>
          </a:xfrm>
          <a:prstGeom prst="ellipse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4087368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Go/no-go decision support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24528" y="1325880"/>
            <a:ext cx="3675887" cy="43891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52544" y="1362456"/>
            <a:ext cx="341985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⭐  Standard Engagement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24528" y="1764792"/>
            <a:ext cx="3675887" cy="2834640"/>
          </a:xfrm>
          <a:prstGeom prst="rect">
            <a:avLst/>
          </a:prstGeom>
          <a:solidFill>
            <a:srgbClr val="F1F5F9"/>
          </a:solidFill>
          <a:ln w="1016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24528" y="1801367"/>
            <a:ext cx="3675887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2563EB"/>
                </a:solidFill>
              </a:rPr>
              <a:t>$280K – $360K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24528" y="2221991"/>
            <a:ext cx="3675887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75569"/>
                </a:solidFill>
              </a:rPr>
              <a:t>8 weeks  ·  4.5 FTE equivalent</a:t>
            </a:r>
          </a:p>
        </p:txBody>
      </p:sp>
      <p:sp>
        <p:nvSpPr>
          <p:cNvPr id="28" name="Oval 27"/>
          <p:cNvSpPr/>
          <p:nvPr/>
        </p:nvSpPr>
        <p:spPr>
          <a:xfrm>
            <a:off x="4370832" y="2532888"/>
            <a:ext cx="73152" cy="7315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498848" y="2478024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All 5 phases, all deliverables</a:t>
            </a:r>
          </a:p>
        </p:txBody>
      </p:sp>
      <p:sp>
        <p:nvSpPr>
          <p:cNvPr id="30" name="Oval 29"/>
          <p:cNvSpPr/>
          <p:nvPr/>
        </p:nvSpPr>
        <p:spPr>
          <a:xfrm>
            <a:off x="4370832" y="2935224"/>
            <a:ext cx="73152" cy="7315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498848" y="288036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Full org discovery (all segments)</a:t>
            </a:r>
          </a:p>
        </p:txBody>
      </p:sp>
      <p:sp>
        <p:nvSpPr>
          <p:cNvPr id="32" name="Oval 31"/>
          <p:cNvSpPr/>
          <p:nvPr/>
        </p:nvSpPr>
        <p:spPr>
          <a:xfrm>
            <a:off x="4370832" y="3337560"/>
            <a:ext cx="73152" cy="7315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498848" y="3282696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Risk &amp; compliance mapping included</a:t>
            </a:r>
          </a:p>
        </p:txBody>
      </p:sp>
      <p:sp>
        <p:nvSpPr>
          <p:cNvPr id="34" name="Oval 33"/>
          <p:cNvSpPr/>
          <p:nvPr/>
        </p:nvSpPr>
        <p:spPr>
          <a:xfrm>
            <a:off x="4370832" y="3739896"/>
            <a:ext cx="73152" cy="7315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498848" y="3685032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Platform licence (12 months)</a:t>
            </a:r>
          </a:p>
        </p:txBody>
      </p:sp>
      <p:sp>
        <p:nvSpPr>
          <p:cNvPr id="36" name="Oval 35"/>
          <p:cNvSpPr/>
          <p:nvPr/>
        </p:nvSpPr>
        <p:spPr>
          <a:xfrm>
            <a:off x="4370832" y="4142232"/>
            <a:ext cx="73152" cy="7315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498848" y="4087368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2-day client team training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083296" y="1325880"/>
            <a:ext cx="3675887" cy="438912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211312" y="1362456"/>
            <a:ext cx="341985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🏢  Enterprise Programme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083296" y="1764792"/>
            <a:ext cx="3675887" cy="2834640"/>
          </a:xfrm>
          <a:prstGeom prst="rect">
            <a:avLst/>
          </a:prstGeom>
          <a:solidFill>
            <a:srgbClr val="F1F5F9"/>
          </a:solidFill>
          <a:ln w="1016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083296" y="1801367"/>
            <a:ext cx="3675887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60A5FA"/>
                </a:solidFill>
              </a:rPr>
              <a:t>$480K – $650K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083296" y="2221991"/>
            <a:ext cx="3675887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75569"/>
                </a:solidFill>
              </a:rPr>
              <a:t>12–16 weeks  ·  6 FTE equivalent</a:t>
            </a:r>
          </a:p>
        </p:txBody>
      </p:sp>
      <p:sp>
        <p:nvSpPr>
          <p:cNvPr id="43" name="Oval 42"/>
          <p:cNvSpPr/>
          <p:nvPr/>
        </p:nvSpPr>
        <p:spPr>
          <a:xfrm>
            <a:off x="8229600" y="2532888"/>
            <a:ext cx="73152" cy="73152"/>
          </a:xfrm>
          <a:prstGeom prst="ellipse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357616" y="2478024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3–5 business units or orgs</a:t>
            </a:r>
          </a:p>
        </p:txBody>
      </p:sp>
      <p:sp>
        <p:nvSpPr>
          <p:cNvPr id="45" name="Oval 44"/>
          <p:cNvSpPr/>
          <p:nvPr/>
        </p:nvSpPr>
        <p:spPr>
          <a:xfrm>
            <a:off x="8229600" y="2935224"/>
            <a:ext cx="73152" cy="73152"/>
          </a:xfrm>
          <a:prstGeom prst="ellipse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357616" y="288036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Custom compliance framework</a:t>
            </a:r>
          </a:p>
        </p:txBody>
      </p:sp>
      <p:sp>
        <p:nvSpPr>
          <p:cNvPr id="47" name="Oval 46"/>
          <p:cNvSpPr/>
          <p:nvPr/>
        </p:nvSpPr>
        <p:spPr>
          <a:xfrm>
            <a:off x="8229600" y="3337560"/>
            <a:ext cx="73152" cy="73152"/>
          </a:xfrm>
          <a:prstGeom prst="ellipse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357616" y="3282696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Architecture review board sessions</a:t>
            </a:r>
          </a:p>
        </p:txBody>
      </p:sp>
      <p:sp>
        <p:nvSpPr>
          <p:cNvPr id="49" name="Oval 48"/>
          <p:cNvSpPr/>
          <p:nvPr/>
        </p:nvSpPr>
        <p:spPr>
          <a:xfrm>
            <a:off x="8229600" y="3739896"/>
            <a:ext cx="73152" cy="73152"/>
          </a:xfrm>
          <a:prstGeom prst="ellipse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357616" y="3685032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Ongoing AI agent monitoring</a:t>
            </a:r>
          </a:p>
        </p:txBody>
      </p:sp>
      <p:sp>
        <p:nvSpPr>
          <p:cNvPr id="51" name="Oval 50"/>
          <p:cNvSpPr/>
          <p:nvPr/>
        </p:nvSpPr>
        <p:spPr>
          <a:xfrm>
            <a:off x="8229600" y="4142232"/>
            <a:ext cx="73152" cy="73152"/>
          </a:xfrm>
          <a:prstGeom prst="ellipse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357616" y="4087368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Quarterly accuracy reviews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65760" y="4690872"/>
            <a:ext cx="7315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C1C3A"/>
                </a:solidFill>
              </a:rPr>
              <a:t>INDICATIVE COST BREAKDOWN — STANDARD ENGAGEMENT ($320K mid-point)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4946904"/>
            <a:ext cx="11457432" cy="329184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57200" y="4983479"/>
            <a:ext cx="1463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C1C3A"/>
                </a:solidFill>
              </a:rPr>
              <a:t>$10K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57200" y="5148072"/>
            <a:ext cx="146304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75569"/>
                </a:solidFill>
              </a:rPr>
              <a:t>3.1%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084832" y="4983479"/>
            <a:ext cx="1463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2563EB"/>
                </a:solidFill>
              </a:rPr>
              <a:t>$64K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084832" y="5148072"/>
            <a:ext cx="146304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75569"/>
                </a:solidFill>
              </a:rPr>
              <a:t>20.0%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712464" y="4983479"/>
            <a:ext cx="1463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60A5FA"/>
                </a:solidFill>
              </a:rPr>
              <a:t>$35K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712464" y="5148072"/>
            <a:ext cx="146304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75569"/>
                </a:solidFill>
              </a:rPr>
              <a:t>10.9%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340096" y="4983479"/>
            <a:ext cx="1463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D4ED8"/>
                </a:solidFill>
              </a:rPr>
              <a:t>$96K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340096" y="5148072"/>
            <a:ext cx="146304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75569"/>
                </a:solidFill>
              </a:rPr>
              <a:t>30.0%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967728" y="4983479"/>
            <a:ext cx="1463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3B82F6"/>
                </a:solidFill>
              </a:rPr>
              <a:t>$35K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967728" y="5148072"/>
            <a:ext cx="146304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75569"/>
                </a:solidFill>
              </a:rPr>
              <a:t>10.9%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595360" y="4983479"/>
            <a:ext cx="1463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E3A8A"/>
                </a:solidFill>
              </a:rPr>
              <a:t>$14K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595360" y="5148072"/>
            <a:ext cx="146304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75569"/>
                </a:solidFill>
              </a:rPr>
              <a:t>4.4%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222992" y="4983479"/>
            <a:ext cx="1463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475569"/>
                </a:solidFill>
              </a:rPr>
              <a:t>$66K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222992" y="5148072"/>
            <a:ext cx="146304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75569"/>
                </a:solidFill>
              </a:rPr>
              <a:t>20.6%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0C1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28016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F172A"/>
                </a:solidFill>
              </a:rPr>
              <a:t>Client Technology Investment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75569"/>
                </a:solidFill>
              </a:rPr>
              <a:t>Full cost picture for the client — platform, licences, infrastructure and internal resources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88952" cy="2743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611112"/>
            <a:ext cx="11521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</a:rPr>
              <a:t>TransformHub · AI-Powered Digital Transformation Intelligence  ·  Consulting Service Offering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051560"/>
            <a:ext cx="4572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C1C3A"/>
                </a:solidFill>
              </a:rPr>
              <a:t>TECHNOLOGY &amp; PLATFORM COSTS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325880"/>
            <a:ext cx="11457432" cy="548640"/>
          </a:xfrm>
          <a:prstGeom prst="rect">
            <a:avLst/>
          </a:prstGeom>
          <a:solidFill>
            <a:srgbClr val="F1F5F9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490472"/>
            <a:ext cx="4389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172A"/>
                </a:solidFill>
              </a:rPr>
              <a:t>TransformHub Platform Licence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1490472"/>
            <a:ext cx="1280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75569"/>
                </a:solidFill>
              </a:rPr>
              <a:t>Annual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472184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2563EB"/>
                </a:solidFill>
              </a:rPr>
              <a:t>$80K – $150K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1490472"/>
            <a:ext cx="3291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75569"/>
                </a:solidFill>
              </a:rPr>
              <a:t>Per-org licence including all 18 AI agents, unlimited users, full feature set. Volume discounts for 3+ orgs.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1911095"/>
            <a:ext cx="11457432" cy="548640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2075688"/>
            <a:ext cx="4389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172A"/>
                </a:solidFill>
              </a:rPr>
              <a:t>OpenAI API (GPT-4o)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2075688"/>
            <a:ext cx="1280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75569"/>
                </a:solidFill>
              </a:rPr>
              <a:t>Per engmt.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057400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60A5FA"/>
                </a:solidFill>
              </a:rPr>
              <a:t>$2K – $8K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0" y="2075688"/>
            <a:ext cx="3291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75569"/>
                </a:solidFill>
              </a:rPr>
              <a:t>Varies by number of orgs, runs and context doc volume. ~$2K for a standard 8-week engagement.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496312"/>
            <a:ext cx="11457432" cy="548640"/>
          </a:xfrm>
          <a:prstGeom prst="rect">
            <a:avLst/>
          </a:prstGeom>
          <a:solidFill>
            <a:srgbClr val="F1F5F9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2660904"/>
            <a:ext cx="4389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172A"/>
                </a:solidFill>
              </a:rPr>
              <a:t>Cloud Hosting (AWS/Azure/GCP)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0" y="2660904"/>
            <a:ext cx="1280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75569"/>
                </a:solidFill>
              </a:rPr>
              <a:t>Monthly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2642616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2563EB"/>
                </a:solidFill>
              </a:rPr>
              <a:t>$500 – $2,000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0" y="2660904"/>
            <a:ext cx="3291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75569"/>
                </a:solidFill>
              </a:rPr>
              <a:t>Next.js on Vercel/App Service + FastAPI on Fargate/Container Apps + PostgreSQL managed DB.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3081528"/>
            <a:ext cx="11457432" cy="548640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3246120"/>
            <a:ext cx="4389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172A"/>
                </a:solidFill>
              </a:rPr>
              <a:t>PostgreSQL + pgvector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0" y="3246120"/>
            <a:ext cx="1280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75569"/>
                </a:solidFill>
              </a:rPr>
              <a:t>Included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3227832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60A5FA"/>
                </a:solidFill>
              </a:rPr>
              <a:t>$0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3246120"/>
            <a:ext cx="3291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75569"/>
                </a:solidFill>
              </a:rPr>
              <a:t>Open-source database — included in cloud hosting estimate above. No additional licence required.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3666744"/>
            <a:ext cx="11457432" cy="548640"/>
          </a:xfrm>
          <a:prstGeom prst="rect">
            <a:avLst/>
          </a:prstGeom>
          <a:solidFill>
            <a:srgbClr val="F1F5F9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2920" y="3831335"/>
            <a:ext cx="4389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172A"/>
                </a:solidFill>
              </a:rPr>
              <a:t>Prisma ORM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0" y="3831335"/>
            <a:ext cx="1280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75569"/>
                </a:solidFill>
              </a:rPr>
              <a:t>Included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3813048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60A5FA"/>
                </a:solidFill>
              </a:rPr>
              <a:t>$0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03920" y="3831335"/>
            <a:ext cx="3291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75569"/>
                </a:solidFill>
              </a:rPr>
              <a:t>MIT licence — no cost. Enterprise support available at $5K/year if required.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5760" y="4306824"/>
            <a:ext cx="4572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C1C3A"/>
                </a:solidFill>
              </a:rPr>
              <a:t>CLIENT INTERNAL COSTS (Indicative)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5760" y="4562856"/>
            <a:ext cx="11457432" cy="29260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2920" y="4617720"/>
            <a:ext cx="6858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Stakeholder time (10 ppl × 3hrs/week × 8 weeks)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98079" y="4617720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D4ED8"/>
                </a:solidFill>
              </a:rPr>
              <a:t>$30K – $50K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01200" y="4617720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75569"/>
                </a:solidFill>
              </a:rPr>
              <a:t>Based on avg $125/hr fully loaded internal cost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65760" y="4892040"/>
            <a:ext cx="11457432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02920" y="4946904"/>
            <a:ext cx="6858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IT environment setup (VPN, access, CI/CD)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498079" y="4946904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D4ED8"/>
                </a:solidFill>
              </a:rPr>
              <a:t>$10K – $20K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601200" y="4946904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75569"/>
                </a:solidFill>
              </a:rPr>
              <a:t>One-off infrastructure preparation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65760" y="5221224"/>
            <a:ext cx="11457432" cy="29260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02920" y="5276088"/>
            <a:ext cx="6858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Internal training (client team, 5 people)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498079" y="5276088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D4ED8"/>
                </a:solidFill>
              </a:rPr>
              <a:t>$5K – $15K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601200" y="5276088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75569"/>
                </a:solidFill>
              </a:rPr>
              <a:t>4 hours each + internal facilitation time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65760" y="5568696"/>
            <a:ext cx="11457432" cy="493776"/>
          </a:xfrm>
          <a:prstGeom prst="rect">
            <a:avLst/>
          </a:prstGeom>
          <a:solidFill>
            <a:srgbClr val="0C1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02920" y="5696712"/>
            <a:ext cx="11064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TOTAL CLIENT INVESTMENT (Standard Engagement):  Technology ~$100K–$180K  ·  Internal ~$45K–$85K  ·  Consulting ~$320K  ·  TOTAL: ~$465K–$585K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0C1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28016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F172A"/>
                </a:solidFill>
              </a:rPr>
              <a:t>Client Business Case &amp; ROI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75569"/>
                </a:solidFill>
              </a:rPr>
              <a:t>Typical value delivered in 18 months — based on pilot engagements and industry benchmarks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88952" cy="2743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611112"/>
            <a:ext cx="11521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</a:rPr>
              <a:t>TransformHub · AI-Powered Digital Transformation Intelligence  ·  Consulting Service Offering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051560"/>
            <a:ext cx="2743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563EB"/>
                </a:solidFill>
              </a:rPr>
              <a:t>VALUE DELIVERED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325880"/>
            <a:ext cx="11457432" cy="310896"/>
          </a:xfrm>
          <a:prstGeom prst="rect">
            <a:avLst/>
          </a:prstGeom>
          <a:solidFill>
            <a:srgbClr val="0C1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380743"/>
            <a:ext cx="4114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Value Driver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1380743"/>
            <a:ext cx="2194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Estimated Value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0" y="1380743"/>
            <a:ext cx="4389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Basis of Estimate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1655064"/>
            <a:ext cx="11457432" cy="457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1783080"/>
            <a:ext cx="4114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172A"/>
                </a:solidFill>
              </a:rPr>
              <a:t>Reduced Discovery Cost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1764792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60A5FA"/>
                </a:solidFill>
              </a:rPr>
              <a:t>$250K – $400K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0" y="1783080"/>
            <a:ext cx="4297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75569"/>
                </a:solidFill>
              </a:rPr>
              <a:t>vs traditional 12-week consulting workshop approach at $500K+ typical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2130552"/>
            <a:ext cx="11457432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2258568"/>
            <a:ext cx="4114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172A"/>
                </a:solidFill>
              </a:rPr>
              <a:t>Faster Time-to-Market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80" y="2240280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60A5FA"/>
                </a:solidFill>
              </a:rPr>
              <a:t>$500K – $2M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0" y="2258568"/>
            <a:ext cx="4297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75569"/>
                </a:solidFill>
              </a:rPr>
              <a:t>6 months earlier delivery × $83K–$333K/month digital revenue per product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2606040"/>
            <a:ext cx="11457432" cy="457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2734056"/>
            <a:ext cx="4114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172A"/>
                </a:solidFill>
              </a:rPr>
              <a:t>Risk Avoidance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54880" y="2715768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60A5FA"/>
                </a:solidFill>
              </a:rPr>
              <a:t>$500K – $5M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0" y="2734056"/>
            <a:ext cx="4297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75569"/>
                </a:solidFill>
              </a:rPr>
              <a:t>2 CRITICAL risks mitigated pre-transformation × $250K–$2.5M remediation cost each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3081528"/>
            <a:ext cx="11457432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3209544"/>
            <a:ext cx="4114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172A"/>
                </a:solidFill>
              </a:rPr>
              <a:t>Tool Consolidation Savings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54880" y="3191256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60A5FA"/>
                </a:solidFill>
              </a:rPr>
              <a:t>$200K – $400K/yr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32320" y="3209544"/>
            <a:ext cx="4297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75569"/>
                </a:solidFill>
              </a:rPr>
              <a:t>6 tools × $33–67K/year replaced by one platform (ongoing annual saving)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3557016"/>
            <a:ext cx="11457432" cy="457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2920" y="3685032"/>
            <a:ext cx="4114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172A"/>
                </a:solidFill>
              </a:rPr>
              <a:t>Analyst Productivity Gain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54880" y="3666744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60A5FA"/>
                </a:solidFill>
              </a:rPr>
              <a:t>$150K – $300K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32320" y="3685032"/>
            <a:ext cx="4297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75569"/>
                </a:solidFill>
              </a:rPr>
              <a:t>8× productivity improvement × 2 analysts × $75K–$150K/year fully-loaded cost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4087368"/>
            <a:ext cx="5394960" cy="1152144"/>
          </a:xfrm>
          <a:prstGeom prst="rect">
            <a:avLst/>
          </a:prstGeom>
          <a:solidFill>
            <a:srgbClr val="F0F7FF"/>
          </a:solidFill>
          <a:ln w="1524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48640" y="4160520"/>
            <a:ext cx="5029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563EB"/>
                </a:solidFill>
              </a:rPr>
              <a:t>TOTAL 18-MONTH VALUE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4416552"/>
            <a:ext cx="50292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2563EB"/>
                </a:solidFill>
              </a:rPr>
              <a:t>$1.6M – $8.1M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4928616"/>
            <a:ext cx="5029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475569"/>
                </a:solidFill>
              </a:rPr>
              <a:t>Conservative scenario shown. Expected: $5.2M  ·  Optimistic: $8.1M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989320" y="4087368"/>
            <a:ext cx="2633472" cy="1152144"/>
          </a:xfrm>
          <a:prstGeom prst="rect">
            <a:avLst/>
          </a:prstGeom>
          <a:solidFill>
            <a:srgbClr val="EFF6FF"/>
          </a:solidFill>
          <a:ln w="1524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26480" y="4160520"/>
            <a:ext cx="23774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E3A8A"/>
                </a:solidFill>
              </a:rPr>
              <a:t>TOTAL INVESTMENT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126480" y="4416552"/>
            <a:ext cx="2377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1E3A8A"/>
                </a:solidFill>
              </a:rPr>
              <a:t>~$500K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126480" y="4928616"/>
            <a:ext cx="23774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475569"/>
                </a:solidFill>
              </a:rPr>
              <a:t>Consulting + Tech + Internal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778240" y="4087368"/>
            <a:ext cx="3044952" cy="1152144"/>
          </a:xfrm>
          <a:prstGeom prst="rect">
            <a:avLst/>
          </a:prstGeom>
          <a:solidFill>
            <a:srgbClr val="DBEAFE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942832" y="4160520"/>
            <a:ext cx="270662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563EB"/>
                </a:solidFill>
              </a:rPr>
              <a:t>ROI  (18 months)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942832" y="4416552"/>
            <a:ext cx="2706624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2563EB"/>
                </a:solidFill>
              </a:rPr>
              <a:t>3× – 15×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942832" y="4928616"/>
            <a:ext cx="270662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475569"/>
                </a:solidFill>
              </a:rPr>
              <a:t>Payback period: 4–7 months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200400"/>
          </a:xfrm>
          <a:prstGeom prst="rect">
            <a:avLst/>
          </a:prstGeom>
          <a:solidFill>
            <a:srgbClr val="0C1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0"/>
            <a:ext cx="12188952" cy="7315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090879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</a:rPr>
              <a:t>Ready to Transform with Intelligence?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188720"/>
            <a:ext cx="1036015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BFDBFE"/>
                </a:solidFill>
              </a:rPr>
              <a:t>Three ways to get started — choose the right entry point for your client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3401568"/>
            <a:ext cx="3584448" cy="2999232"/>
          </a:xfrm>
          <a:prstGeom prst="rect">
            <a:avLst/>
          </a:prstGeom>
          <a:solidFill>
            <a:srgbClr val="F1F5F9"/>
          </a:solidFill>
          <a:ln w="1524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3401568"/>
            <a:ext cx="3584448" cy="402336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0936" y="3438144"/>
            <a:ext cx="332841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⚡  2-Week POC Sprint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822191"/>
            <a:ext cx="35844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E3A8A"/>
                </a:solidFill>
              </a:rPr>
              <a:t>$38K – $52K</a:t>
            </a:r>
          </a:p>
        </p:txBody>
      </p:sp>
      <p:sp>
        <p:nvSpPr>
          <p:cNvPr id="10" name="Oval 9"/>
          <p:cNvSpPr/>
          <p:nvPr/>
        </p:nvSpPr>
        <p:spPr>
          <a:xfrm>
            <a:off x="649224" y="4261104"/>
            <a:ext cx="73152" cy="73152"/>
          </a:xfrm>
          <a:prstGeom prst="ellipse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4206240"/>
            <a:ext cx="32186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1 business unit, 1 segment</a:t>
            </a:r>
          </a:p>
        </p:txBody>
      </p:sp>
      <p:sp>
        <p:nvSpPr>
          <p:cNvPr id="12" name="Oval 11"/>
          <p:cNvSpPr/>
          <p:nvPr/>
        </p:nvSpPr>
        <p:spPr>
          <a:xfrm>
            <a:off x="649224" y="4681728"/>
            <a:ext cx="73152" cy="73152"/>
          </a:xfrm>
          <a:prstGeom prst="ellipse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626864"/>
            <a:ext cx="32186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Full discovery + D1 package</a:t>
            </a:r>
          </a:p>
        </p:txBody>
      </p:sp>
      <p:sp>
        <p:nvSpPr>
          <p:cNvPr id="14" name="Oval 13"/>
          <p:cNvSpPr/>
          <p:nvPr/>
        </p:nvSpPr>
        <p:spPr>
          <a:xfrm>
            <a:off x="649224" y="5102352"/>
            <a:ext cx="73152" cy="73152"/>
          </a:xfrm>
          <a:prstGeom prst="ellipse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5047488"/>
            <a:ext cx="32186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Executive readout + demo</a:t>
            </a:r>
          </a:p>
        </p:txBody>
      </p:sp>
      <p:sp>
        <p:nvSpPr>
          <p:cNvPr id="16" name="Oval 15"/>
          <p:cNvSpPr/>
          <p:nvPr/>
        </p:nvSpPr>
        <p:spPr>
          <a:xfrm>
            <a:off x="649224" y="5522976"/>
            <a:ext cx="73152" cy="73152"/>
          </a:xfrm>
          <a:prstGeom prst="ellipse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5468112"/>
            <a:ext cx="32186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Platform access 30 days</a:t>
            </a:r>
          </a:p>
        </p:txBody>
      </p:sp>
      <p:sp>
        <p:nvSpPr>
          <p:cNvPr id="18" name="Oval 17"/>
          <p:cNvSpPr/>
          <p:nvPr/>
        </p:nvSpPr>
        <p:spPr>
          <a:xfrm>
            <a:off x="649224" y="5943600"/>
            <a:ext cx="73152" cy="73152"/>
          </a:xfrm>
          <a:prstGeom prst="ellipse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5888736"/>
            <a:ext cx="32186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Go/no-go recommendation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70248" y="3401568"/>
            <a:ext cx="3584448" cy="2999232"/>
          </a:xfrm>
          <a:prstGeom prst="rect">
            <a:avLst/>
          </a:prstGeom>
          <a:solidFill>
            <a:srgbClr val="F1F5F9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270248" y="3401568"/>
            <a:ext cx="3584448" cy="40233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98264" y="3438144"/>
            <a:ext cx="332841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⭐  8-Week Full Engagement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70248" y="3822191"/>
            <a:ext cx="35844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2563EB"/>
                </a:solidFill>
              </a:rPr>
              <a:t>$280K – $360K</a:t>
            </a:r>
          </a:p>
        </p:txBody>
      </p:sp>
      <p:sp>
        <p:nvSpPr>
          <p:cNvPr id="24" name="Oval 23"/>
          <p:cNvSpPr/>
          <p:nvPr/>
        </p:nvSpPr>
        <p:spPr>
          <a:xfrm>
            <a:off x="4416552" y="4261104"/>
            <a:ext cx="73152" cy="7315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44568" y="4206240"/>
            <a:ext cx="32186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All 5 phases, 25+ deliverables</a:t>
            </a:r>
          </a:p>
        </p:txBody>
      </p:sp>
      <p:sp>
        <p:nvSpPr>
          <p:cNvPr id="26" name="Oval 25"/>
          <p:cNvSpPr/>
          <p:nvPr/>
        </p:nvSpPr>
        <p:spPr>
          <a:xfrm>
            <a:off x="4416552" y="4681728"/>
            <a:ext cx="73152" cy="7315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44568" y="4626864"/>
            <a:ext cx="32186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Full org + compliance mapping</a:t>
            </a:r>
          </a:p>
        </p:txBody>
      </p:sp>
      <p:sp>
        <p:nvSpPr>
          <p:cNvPr id="28" name="Oval 27"/>
          <p:cNvSpPr/>
          <p:nvPr/>
        </p:nvSpPr>
        <p:spPr>
          <a:xfrm>
            <a:off x="4416552" y="5102352"/>
            <a:ext cx="73152" cy="7315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44568" y="5047488"/>
            <a:ext cx="32186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Board-ready executive deck</a:t>
            </a:r>
          </a:p>
        </p:txBody>
      </p:sp>
      <p:sp>
        <p:nvSpPr>
          <p:cNvPr id="30" name="Oval 29"/>
          <p:cNvSpPr/>
          <p:nvPr/>
        </p:nvSpPr>
        <p:spPr>
          <a:xfrm>
            <a:off x="4416552" y="5522976"/>
            <a:ext cx="73152" cy="7315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44568" y="5468112"/>
            <a:ext cx="32186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12-month platform licence</a:t>
            </a:r>
          </a:p>
        </p:txBody>
      </p:sp>
      <p:sp>
        <p:nvSpPr>
          <p:cNvPr id="32" name="Oval 31"/>
          <p:cNvSpPr/>
          <p:nvPr/>
        </p:nvSpPr>
        <p:spPr>
          <a:xfrm>
            <a:off x="4416552" y="5943600"/>
            <a:ext cx="73152" cy="7315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44568" y="5888736"/>
            <a:ext cx="32186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Team training included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037576" y="3401568"/>
            <a:ext cx="3584448" cy="2999232"/>
          </a:xfrm>
          <a:prstGeom prst="rect">
            <a:avLst/>
          </a:prstGeom>
          <a:solidFill>
            <a:srgbClr val="F1F5F9"/>
          </a:solidFill>
          <a:ln w="1524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037576" y="3401568"/>
            <a:ext cx="3584448" cy="402336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165592" y="3438144"/>
            <a:ext cx="332841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🏢  Enterprise Programme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37576" y="3822191"/>
            <a:ext cx="35844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60A5FA"/>
                </a:solidFill>
              </a:rPr>
              <a:t>$480K – $650K</a:t>
            </a:r>
          </a:p>
        </p:txBody>
      </p:sp>
      <p:sp>
        <p:nvSpPr>
          <p:cNvPr id="38" name="Oval 37"/>
          <p:cNvSpPr/>
          <p:nvPr/>
        </p:nvSpPr>
        <p:spPr>
          <a:xfrm>
            <a:off x="8183880" y="4261104"/>
            <a:ext cx="73152" cy="73152"/>
          </a:xfrm>
          <a:prstGeom prst="ellipse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311896" y="4206240"/>
            <a:ext cx="32186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3–5 orgs or business units</a:t>
            </a:r>
          </a:p>
        </p:txBody>
      </p:sp>
      <p:sp>
        <p:nvSpPr>
          <p:cNvPr id="40" name="Oval 39"/>
          <p:cNvSpPr/>
          <p:nvPr/>
        </p:nvSpPr>
        <p:spPr>
          <a:xfrm>
            <a:off x="8183880" y="4681728"/>
            <a:ext cx="73152" cy="73152"/>
          </a:xfrm>
          <a:prstGeom prst="ellipse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311896" y="4626864"/>
            <a:ext cx="32186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Custom compliance frameworks</a:t>
            </a:r>
          </a:p>
        </p:txBody>
      </p:sp>
      <p:sp>
        <p:nvSpPr>
          <p:cNvPr id="42" name="Oval 41"/>
          <p:cNvSpPr/>
          <p:nvPr/>
        </p:nvSpPr>
        <p:spPr>
          <a:xfrm>
            <a:off x="8183880" y="5102352"/>
            <a:ext cx="73152" cy="73152"/>
          </a:xfrm>
          <a:prstGeom prst="ellipse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311896" y="5047488"/>
            <a:ext cx="32186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Architecture review sessions</a:t>
            </a:r>
          </a:p>
        </p:txBody>
      </p:sp>
      <p:sp>
        <p:nvSpPr>
          <p:cNvPr id="44" name="Oval 43"/>
          <p:cNvSpPr/>
          <p:nvPr/>
        </p:nvSpPr>
        <p:spPr>
          <a:xfrm>
            <a:off x="8183880" y="5522976"/>
            <a:ext cx="73152" cy="73152"/>
          </a:xfrm>
          <a:prstGeom prst="ellipse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311896" y="5468112"/>
            <a:ext cx="32186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Ongoing AI monitoring</a:t>
            </a:r>
          </a:p>
        </p:txBody>
      </p:sp>
      <p:sp>
        <p:nvSpPr>
          <p:cNvPr id="46" name="Oval 45"/>
          <p:cNvSpPr/>
          <p:nvPr/>
        </p:nvSpPr>
        <p:spPr>
          <a:xfrm>
            <a:off x="8183880" y="5943600"/>
            <a:ext cx="73152" cy="73152"/>
          </a:xfrm>
          <a:prstGeom prst="ellipse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311896" y="5888736"/>
            <a:ext cx="32186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Quarterly accuracy reviews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0" y="6565392"/>
            <a:ext cx="12188952" cy="2743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20040" y="6611112"/>
            <a:ext cx="11521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</a:rPr>
              <a:t>TransformHub Intelligence Service  ·  AI-Powered Digital Transformation  ·  transformhub.ai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